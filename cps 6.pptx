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329" r:id="rId2"/>
    <p:sldId id="331" r:id="rId3"/>
    <p:sldId id="330" r:id="rId4"/>
    <p:sldId id="332" r:id="rId5"/>
    <p:sldId id="318" r:id="rId6"/>
    <p:sldId id="290" r:id="rId7"/>
    <p:sldId id="333" r:id="rId8"/>
    <p:sldId id="319" r:id="rId9"/>
    <p:sldId id="258" r:id="rId10"/>
    <p:sldId id="344" r:id="rId11"/>
    <p:sldId id="359" r:id="rId12"/>
    <p:sldId id="360" r:id="rId13"/>
    <p:sldId id="262" r:id="rId14"/>
    <p:sldId id="361" r:id="rId15"/>
    <p:sldId id="304" r:id="rId16"/>
    <p:sldId id="362" r:id="rId17"/>
    <p:sldId id="363" r:id="rId18"/>
    <p:sldId id="300" r:id="rId19"/>
    <p:sldId id="365" r:id="rId20"/>
    <p:sldId id="366" r:id="rId21"/>
    <p:sldId id="325" r:id="rId22"/>
    <p:sldId id="367" r:id="rId23"/>
    <p:sldId id="368" r:id="rId24"/>
    <p:sldId id="328" r:id="rId25"/>
    <p:sldId id="369" r:id="rId26"/>
    <p:sldId id="370" r:id="rId27"/>
    <p:sldId id="371" r:id="rId28"/>
    <p:sldId id="316" r:id="rId29"/>
    <p:sldId id="301" r:id="rId30"/>
    <p:sldId id="292" r:id="rId31"/>
    <p:sldId id="342" r:id="rId32"/>
    <p:sldId id="320" r:id="rId33"/>
    <p:sldId id="339" r:id="rId34"/>
    <p:sldId id="341" r:id="rId35"/>
    <p:sldId id="340" r:id="rId36"/>
    <p:sldId id="294" r:id="rId37"/>
    <p:sldId id="281" r:id="rId38"/>
    <p:sldId id="256" r:id="rId39"/>
    <p:sldId id="263" r:id="rId40"/>
    <p:sldId id="295" r:id="rId41"/>
    <p:sldId id="264" r:id="rId42"/>
    <p:sldId id="265" r:id="rId43"/>
    <p:sldId id="266" r:id="rId44"/>
    <p:sldId id="268" r:id="rId45"/>
    <p:sldId id="269" r:id="rId46"/>
    <p:sldId id="296" r:id="rId47"/>
    <p:sldId id="282" r:id="rId48"/>
    <p:sldId id="284" r:id="rId49"/>
    <p:sldId id="286" r:id="rId50"/>
    <p:sldId id="315" r:id="rId51"/>
    <p:sldId id="302" r:id="rId52"/>
    <p:sldId id="314" r:id="rId53"/>
    <p:sldId id="347" r:id="rId54"/>
    <p:sldId id="355" r:id="rId55"/>
    <p:sldId id="267" r:id="rId56"/>
    <p:sldId id="283" r:id="rId57"/>
    <p:sldId id="321" r:id="rId58"/>
    <p:sldId id="345" r:id="rId59"/>
    <p:sldId id="297" r:id="rId60"/>
    <p:sldId id="287" r:id="rId61"/>
    <p:sldId id="288" r:id="rId62"/>
    <p:sldId id="298" r:id="rId63"/>
    <p:sldId id="326" r:id="rId64"/>
    <p:sldId id="317" r:id="rId65"/>
    <p:sldId id="327" r:id="rId66"/>
    <p:sldId id="312" r:id="rId67"/>
    <p:sldId id="357" r:id="rId68"/>
    <p:sldId id="356" r:id="rId69"/>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72" autoAdjust="0"/>
    <p:restoredTop sz="94660"/>
  </p:normalViewPr>
  <p:slideViewPr>
    <p:cSldViewPr snapToGrid="0">
      <p:cViewPr varScale="1">
        <p:scale>
          <a:sx n="82" d="100"/>
          <a:sy n="82" d="100"/>
        </p:scale>
        <p:origin x="108" y="18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3550"/>
          </a:xfrm>
          <a:prstGeom prst="rect">
            <a:avLst/>
          </a:prstGeom>
        </p:spPr>
        <p:txBody>
          <a:bodyPr vert="horz" lIns="91440" tIns="45720" rIns="91440" bIns="45720" rtlCol="0"/>
          <a:lstStyle>
            <a:lvl1pPr algn="r">
              <a:defRPr sz="1200"/>
            </a:lvl1pPr>
          </a:lstStyle>
          <a:p>
            <a:fld id="{DC22958B-7ED9-409D-A6E5-CF96F27FDC7A}" type="datetimeFigureOut">
              <a:rPr lang="en-US" smtClean="0"/>
              <a:t>3/22/2026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45000"/>
            <a:ext cx="5607050" cy="36369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525"/>
            <a:ext cx="3038475"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772525"/>
            <a:ext cx="3038475" cy="463550"/>
          </a:xfrm>
          <a:prstGeom prst="rect">
            <a:avLst/>
          </a:prstGeom>
        </p:spPr>
        <p:txBody>
          <a:bodyPr vert="horz" lIns="91440" tIns="45720" rIns="91440" bIns="45720" rtlCol="0" anchor="b"/>
          <a:lstStyle>
            <a:lvl1pPr algn="r">
              <a:defRPr sz="1200"/>
            </a:lvl1pPr>
          </a:lstStyle>
          <a:p>
            <a:fld id="{1495044F-AD16-4900-9C9C-810CDF6C69D2}" type="slidenum">
              <a:rPr lang="en-US" smtClean="0"/>
              <a:t>‹#›</a:t>
            </a:fld>
            <a:endParaRPr lang="en-US"/>
          </a:p>
        </p:txBody>
      </p:sp>
    </p:spTree>
    <p:extLst>
      <p:ext uri="{BB962C8B-B14F-4D97-AF65-F5344CB8AC3E}">
        <p14:creationId xmlns:p14="http://schemas.microsoft.com/office/powerpoint/2010/main" val="3581088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EDF2B4-9BB3-4F8B-BA83-432D0D436F92}" type="slidenum">
              <a:rPr lang="en-US" smtClean="0"/>
              <a:t>67</a:t>
            </a:fld>
            <a:endParaRPr lang="en-US"/>
          </a:p>
        </p:txBody>
      </p:sp>
    </p:spTree>
    <p:extLst>
      <p:ext uri="{BB962C8B-B14F-4D97-AF65-F5344CB8AC3E}">
        <p14:creationId xmlns:p14="http://schemas.microsoft.com/office/powerpoint/2010/main" val="2675815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36096-E891-417C-92FB-E966760FA4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72585B-4746-43FE-BCC3-B7400131FF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52DE6D-1E57-497A-9223-964BF7BA4B00}"/>
              </a:ext>
            </a:extLst>
          </p:cNvPr>
          <p:cNvSpPr>
            <a:spLocks noGrp="1"/>
          </p:cNvSpPr>
          <p:nvPr>
            <p:ph type="dt" sz="half" idx="10"/>
          </p:nvPr>
        </p:nvSpPr>
        <p:spPr/>
        <p:txBody>
          <a:bodyPr/>
          <a:lstStyle/>
          <a:p>
            <a:fld id="{08BD58A5-AA0F-4344-898F-CFAC882E56BE}" type="datetimeFigureOut">
              <a:rPr lang="en-US" smtClean="0"/>
              <a:t>3/22/2026</a:t>
            </a:fld>
            <a:endParaRPr lang="en-US"/>
          </a:p>
        </p:txBody>
      </p:sp>
      <p:sp>
        <p:nvSpPr>
          <p:cNvPr id="5" name="Footer Placeholder 4">
            <a:extLst>
              <a:ext uri="{FF2B5EF4-FFF2-40B4-BE49-F238E27FC236}">
                <a16:creationId xmlns:a16="http://schemas.microsoft.com/office/drawing/2014/main" id="{FB6284EF-DD16-4DB4-A03E-66CA023C8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E48A0F-AFFD-49A7-B13F-5C90CC7595DE}"/>
              </a:ext>
            </a:extLst>
          </p:cNvPr>
          <p:cNvSpPr>
            <a:spLocks noGrp="1"/>
          </p:cNvSpPr>
          <p:nvPr>
            <p:ph type="sldNum" sz="quarter" idx="12"/>
          </p:nvPr>
        </p:nvSpPr>
        <p:spPr/>
        <p:txBody>
          <a:bodyPr/>
          <a:lstStyle/>
          <a:p>
            <a:fld id="{F4BFD86B-6253-4CE5-B8D2-D7D9ED526AB4}" type="slidenum">
              <a:rPr lang="en-US" smtClean="0"/>
              <a:t>‹#›</a:t>
            </a:fld>
            <a:endParaRPr lang="en-US"/>
          </a:p>
        </p:txBody>
      </p:sp>
    </p:spTree>
    <p:extLst>
      <p:ext uri="{BB962C8B-B14F-4D97-AF65-F5344CB8AC3E}">
        <p14:creationId xmlns:p14="http://schemas.microsoft.com/office/powerpoint/2010/main" val="668815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08F9D-623B-44A6-8DA5-FC54A01C0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D5D289-7AEB-4334-9B0E-07130879CF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A17E56-D573-41FD-AC0C-75C22BEC77FD}"/>
              </a:ext>
            </a:extLst>
          </p:cNvPr>
          <p:cNvSpPr>
            <a:spLocks noGrp="1"/>
          </p:cNvSpPr>
          <p:nvPr>
            <p:ph type="dt" sz="half" idx="10"/>
          </p:nvPr>
        </p:nvSpPr>
        <p:spPr/>
        <p:txBody>
          <a:bodyPr/>
          <a:lstStyle/>
          <a:p>
            <a:fld id="{08BD58A5-AA0F-4344-898F-CFAC882E56BE}" type="datetimeFigureOut">
              <a:rPr lang="en-US" smtClean="0"/>
              <a:t>3/22/2026</a:t>
            </a:fld>
            <a:endParaRPr lang="en-US"/>
          </a:p>
        </p:txBody>
      </p:sp>
      <p:sp>
        <p:nvSpPr>
          <p:cNvPr id="5" name="Footer Placeholder 4">
            <a:extLst>
              <a:ext uri="{FF2B5EF4-FFF2-40B4-BE49-F238E27FC236}">
                <a16:creationId xmlns:a16="http://schemas.microsoft.com/office/drawing/2014/main" id="{53FA569D-B57E-4AC4-9135-48E9D43DD1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A702CD-E969-4B8A-B714-F80230932231}"/>
              </a:ext>
            </a:extLst>
          </p:cNvPr>
          <p:cNvSpPr>
            <a:spLocks noGrp="1"/>
          </p:cNvSpPr>
          <p:nvPr>
            <p:ph type="sldNum" sz="quarter" idx="12"/>
          </p:nvPr>
        </p:nvSpPr>
        <p:spPr/>
        <p:txBody>
          <a:bodyPr/>
          <a:lstStyle/>
          <a:p>
            <a:fld id="{F4BFD86B-6253-4CE5-B8D2-D7D9ED526AB4}" type="slidenum">
              <a:rPr lang="en-US" smtClean="0"/>
              <a:t>‹#›</a:t>
            </a:fld>
            <a:endParaRPr lang="en-US"/>
          </a:p>
        </p:txBody>
      </p:sp>
    </p:spTree>
    <p:extLst>
      <p:ext uri="{BB962C8B-B14F-4D97-AF65-F5344CB8AC3E}">
        <p14:creationId xmlns:p14="http://schemas.microsoft.com/office/powerpoint/2010/main" val="1869546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C1816-F111-46F3-83FC-BB377CA820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3D3F94-9215-4785-9542-8F1FE5B384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D66653-6473-4B73-97B3-C6C9A1D6A9C0}"/>
              </a:ext>
            </a:extLst>
          </p:cNvPr>
          <p:cNvSpPr>
            <a:spLocks noGrp="1"/>
          </p:cNvSpPr>
          <p:nvPr>
            <p:ph type="dt" sz="half" idx="10"/>
          </p:nvPr>
        </p:nvSpPr>
        <p:spPr/>
        <p:txBody>
          <a:bodyPr/>
          <a:lstStyle/>
          <a:p>
            <a:fld id="{08BD58A5-AA0F-4344-898F-CFAC882E56BE}" type="datetimeFigureOut">
              <a:rPr lang="en-US" smtClean="0"/>
              <a:t>3/22/2026</a:t>
            </a:fld>
            <a:endParaRPr lang="en-US"/>
          </a:p>
        </p:txBody>
      </p:sp>
      <p:sp>
        <p:nvSpPr>
          <p:cNvPr id="5" name="Footer Placeholder 4">
            <a:extLst>
              <a:ext uri="{FF2B5EF4-FFF2-40B4-BE49-F238E27FC236}">
                <a16:creationId xmlns:a16="http://schemas.microsoft.com/office/drawing/2014/main" id="{5D26C3B9-3B16-4498-954B-AEBF7802C1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C4FCF6-3510-4BA2-B1EB-79DF8387F878}"/>
              </a:ext>
            </a:extLst>
          </p:cNvPr>
          <p:cNvSpPr>
            <a:spLocks noGrp="1"/>
          </p:cNvSpPr>
          <p:nvPr>
            <p:ph type="sldNum" sz="quarter" idx="12"/>
          </p:nvPr>
        </p:nvSpPr>
        <p:spPr/>
        <p:txBody>
          <a:bodyPr/>
          <a:lstStyle/>
          <a:p>
            <a:fld id="{F4BFD86B-6253-4CE5-B8D2-D7D9ED526AB4}" type="slidenum">
              <a:rPr lang="en-US" smtClean="0"/>
              <a:t>‹#›</a:t>
            </a:fld>
            <a:endParaRPr lang="en-US"/>
          </a:p>
        </p:txBody>
      </p:sp>
    </p:spTree>
    <p:extLst>
      <p:ext uri="{BB962C8B-B14F-4D97-AF65-F5344CB8AC3E}">
        <p14:creationId xmlns:p14="http://schemas.microsoft.com/office/powerpoint/2010/main" val="1734913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1941C-A22C-438A-B9CD-5DA55047D8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C61A68-1E57-4DA7-9146-A767E3043D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A4859F-3773-4D25-A1F3-875E467C5F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0A0970-8655-4461-BC84-6E8DE82188D5}"/>
              </a:ext>
            </a:extLst>
          </p:cNvPr>
          <p:cNvSpPr>
            <a:spLocks noGrp="1"/>
          </p:cNvSpPr>
          <p:nvPr>
            <p:ph type="dt" sz="half" idx="10"/>
          </p:nvPr>
        </p:nvSpPr>
        <p:spPr/>
        <p:txBody>
          <a:bodyPr/>
          <a:lstStyle/>
          <a:p>
            <a:fld id="{08BD58A5-AA0F-4344-898F-CFAC882E56BE}" type="datetimeFigureOut">
              <a:rPr lang="en-US" smtClean="0"/>
              <a:t>3/22/2026</a:t>
            </a:fld>
            <a:endParaRPr lang="en-US"/>
          </a:p>
        </p:txBody>
      </p:sp>
      <p:sp>
        <p:nvSpPr>
          <p:cNvPr id="6" name="Footer Placeholder 5">
            <a:extLst>
              <a:ext uri="{FF2B5EF4-FFF2-40B4-BE49-F238E27FC236}">
                <a16:creationId xmlns:a16="http://schemas.microsoft.com/office/drawing/2014/main" id="{13261D5C-FA65-4A1F-ACAC-90BFD97712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58EEE0-D238-4372-A489-10FE4A5E5A63}"/>
              </a:ext>
            </a:extLst>
          </p:cNvPr>
          <p:cNvSpPr>
            <a:spLocks noGrp="1"/>
          </p:cNvSpPr>
          <p:nvPr>
            <p:ph type="sldNum" sz="quarter" idx="12"/>
          </p:nvPr>
        </p:nvSpPr>
        <p:spPr/>
        <p:txBody>
          <a:bodyPr/>
          <a:lstStyle/>
          <a:p>
            <a:fld id="{F4BFD86B-6253-4CE5-B8D2-D7D9ED526AB4}" type="slidenum">
              <a:rPr lang="en-US" smtClean="0"/>
              <a:t>‹#›</a:t>
            </a:fld>
            <a:endParaRPr lang="en-US"/>
          </a:p>
        </p:txBody>
      </p:sp>
    </p:spTree>
    <p:extLst>
      <p:ext uri="{BB962C8B-B14F-4D97-AF65-F5344CB8AC3E}">
        <p14:creationId xmlns:p14="http://schemas.microsoft.com/office/powerpoint/2010/main" val="3713520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915F5-3156-47B5-B57E-2E2D496420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4BBD01-4BD4-472C-A0BD-E412EF8D75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EE6091-86D0-40B1-AB88-F55BF65156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40F3E3-ED72-456A-9BB6-35986AFE21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C9EC2D-1922-42A3-93B8-2C20A231D9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94C2FA-07ED-4383-ABD7-60623B155E6D}"/>
              </a:ext>
            </a:extLst>
          </p:cNvPr>
          <p:cNvSpPr>
            <a:spLocks noGrp="1"/>
          </p:cNvSpPr>
          <p:nvPr>
            <p:ph type="dt" sz="half" idx="10"/>
          </p:nvPr>
        </p:nvSpPr>
        <p:spPr/>
        <p:txBody>
          <a:bodyPr/>
          <a:lstStyle/>
          <a:p>
            <a:fld id="{08BD58A5-AA0F-4344-898F-CFAC882E56BE}" type="datetimeFigureOut">
              <a:rPr lang="en-US" smtClean="0"/>
              <a:t>3/22/2026</a:t>
            </a:fld>
            <a:endParaRPr lang="en-US"/>
          </a:p>
        </p:txBody>
      </p:sp>
      <p:sp>
        <p:nvSpPr>
          <p:cNvPr id="8" name="Footer Placeholder 7">
            <a:extLst>
              <a:ext uri="{FF2B5EF4-FFF2-40B4-BE49-F238E27FC236}">
                <a16:creationId xmlns:a16="http://schemas.microsoft.com/office/drawing/2014/main" id="{EEA33EAD-D27C-43C0-89C9-E432DA88F4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E349D3-168D-4DD8-A78A-5FCFDA44F993}"/>
              </a:ext>
            </a:extLst>
          </p:cNvPr>
          <p:cNvSpPr>
            <a:spLocks noGrp="1"/>
          </p:cNvSpPr>
          <p:nvPr>
            <p:ph type="sldNum" sz="quarter" idx="12"/>
          </p:nvPr>
        </p:nvSpPr>
        <p:spPr/>
        <p:txBody>
          <a:bodyPr/>
          <a:lstStyle/>
          <a:p>
            <a:fld id="{F4BFD86B-6253-4CE5-B8D2-D7D9ED526AB4}" type="slidenum">
              <a:rPr lang="en-US" smtClean="0"/>
              <a:t>‹#›</a:t>
            </a:fld>
            <a:endParaRPr lang="en-US"/>
          </a:p>
        </p:txBody>
      </p:sp>
    </p:spTree>
    <p:extLst>
      <p:ext uri="{BB962C8B-B14F-4D97-AF65-F5344CB8AC3E}">
        <p14:creationId xmlns:p14="http://schemas.microsoft.com/office/powerpoint/2010/main" val="1162919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BCB2E-67E5-4B3E-9C8A-FAB0A2A57E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BD9195-00B2-4CFE-B929-B8F64D52E1B0}"/>
              </a:ext>
            </a:extLst>
          </p:cNvPr>
          <p:cNvSpPr>
            <a:spLocks noGrp="1"/>
          </p:cNvSpPr>
          <p:nvPr>
            <p:ph type="dt" sz="half" idx="10"/>
          </p:nvPr>
        </p:nvSpPr>
        <p:spPr/>
        <p:txBody>
          <a:bodyPr/>
          <a:lstStyle/>
          <a:p>
            <a:fld id="{08BD58A5-AA0F-4344-898F-CFAC882E56BE}" type="datetimeFigureOut">
              <a:rPr lang="en-US" smtClean="0"/>
              <a:t>3/22/2026</a:t>
            </a:fld>
            <a:endParaRPr lang="en-US"/>
          </a:p>
        </p:txBody>
      </p:sp>
      <p:sp>
        <p:nvSpPr>
          <p:cNvPr id="4" name="Footer Placeholder 3">
            <a:extLst>
              <a:ext uri="{FF2B5EF4-FFF2-40B4-BE49-F238E27FC236}">
                <a16:creationId xmlns:a16="http://schemas.microsoft.com/office/drawing/2014/main" id="{366EB186-7E69-46C6-BE36-91647A4FDF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6CEC99-8A17-418F-B8CD-5E0078C7F3E0}"/>
              </a:ext>
            </a:extLst>
          </p:cNvPr>
          <p:cNvSpPr>
            <a:spLocks noGrp="1"/>
          </p:cNvSpPr>
          <p:nvPr>
            <p:ph type="sldNum" sz="quarter" idx="12"/>
          </p:nvPr>
        </p:nvSpPr>
        <p:spPr/>
        <p:txBody>
          <a:bodyPr/>
          <a:lstStyle/>
          <a:p>
            <a:fld id="{F4BFD86B-6253-4CE5-B8D2-D7D9ED526AB4}" type="slidenum">
              <a:rPr lang="en-US" smtClean="0"/>
              <a:t>‹#›</a:t>
            </a:fld>
            <a:endParaRPr lang="en-US"/>
          </a:p>
        </p:txBody>
      </p:sp>
    </p:spTree>
    <p:extLst>
      <p:ext uri="{BB962C8B-B14F-4D97-AF65-F5344CB8AC3E}">
        <p14:creationId xmlns:p14="http://schemas.microsoft.com/office/powerpoint/2010/main" val="263545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5D1F7D-46DF-4518-878C-0F00389F08D6}"/>
              </a:ext>
            </a:extLst>
          </p:cNvPr>
          <p:cNvSpPr>
            <a:spLocks noGrp="1"/>
          </p:cNvSpPr>
          <p:nvPr>
            <p:ph type="dt" sz="half" idx="10"/>
          </p:nvPr>
        </p:nvSpPr>
        <p:spPr/>
        <p:txBody>
          <a:bodyPr/>
          <a:lstStyle/>
          <a:p>
            <a:fld id="{08BD58A5-AA0F-4344-898F-CFAC882E56BE}" type="datetimeFigureOut">
              <a:rPr lang="en-US" smtClean="0"/>
              <a:t>3/22/2026</a:t>
            </a:fld>
            <a:endParaRPr lang="en-US"/>
          </a:p>
        </p:txBody>
      </p:sp>
      <p:sp>
        <p:nvSpPr>
          <p:cNvPr id="3" name="Footer Placeholder 2">
            <a:extLst>
              <a:ext uri="{FF2B5EF4-FFF2-40B4-BE49-F238E27FC236}">
                <a16:creationId xmlns:a16="http://schemas.microsoft.com/office/drawing/2014/main" id="{71E1D634-1360-47F3-AB20-0EEB12A295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B723BF-B51B-41EB-9046-A835D4F38BD5}"/>
              </a:ext>
            </a:extLst>
          </p:cNvPr>
          <p:cNvSpPr>
            <a:spLocks noGrp="1"/>
          </p:cNvSpPr>
          <p:nvPr>
            <p:ph type="sldNum" sz="quarter" idx="12"/>
          </p:nvPr>
        </p:nvSpPr>
        <p:spPr/>
        <p:txBody>
          <a:bodyPr/>
          <a:lstStyle/>
          <a:p>
            <a:fld id="{F4BFD86B-6253-4CE5-B8D2-D7D9ED526AB4}" type="slidenum">
              <a:rPr lang="en-US" smtClean="0"/>
              <a:t>‹#›</a:t>
            </a:fld>
            <a:endParaRPr lang="en-US"/>
          </a:p>
        </p:txBody>
      </p:sp>
    </p:spTree>
    <p:extLst>
      <p:ext uri="{BB962C8B-B14F-4D97-AF65-F5344CB8AC3E}">
        <p14:creationId xmlns:p14="http://schemas.microsoft.com/office/powerpoint/2010/main" val="2687171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BE25-C000-45FE-B26E-9C78F82B82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93E3A2-49B7-4FB6-932F-FAECF4BFBD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230CBD-8711-4E08-A46D-ECE0D97A00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1F458D-4C92-40EF-B33C-DB31ECE8D19C}"/>
              </a:ext>
            </a:extLst>
          </p:cNvPr>
          <p:cNvSpPr>
            <a:spLocks noGrp="1"/>
          </p:cNvSpPr>
          <p:nvPr>
            <p:ph type="dt" sz="half" idx="10"/>
          </p:nvPr>
        </p:nvSpPr>
        <p:spPr/>
        <p:txBody>
          <a:bodyPr/>
          <a:lstStyle/>
          <a:p>
            <a:fld id="{08BD58A5-AA0F-4344-898F-CFAC882E56BE}" type="datetimeFigureOut">
              <a:rPr lang="en-US" smtClean="0"/>
              <a:t>3/22/2026</a:t>
            </a:fld>
            <a:endParaRPr lang="en-US"/>
          </a:p>
        </p:txBody>
      </p:sp>
      <p:sp>
        <p:nvSpPr>
          <p:cNvPr id="6" name="Footer Placeholder 5">
            <a:extLst>
              <a:ext uri="{FF2B5EF4-FFF2-40B4-BE49-F238E27FC236}">
                <a16:creationId xmlns:a16="http://schemas.microsoft.com/office/drawing/2014/main" id="{A54A444C-ABAD-43CE-8431-FB0FEE398A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C606AE-F786-43ED-8756-F04E772D7DAC}"/>
              </a:ext>
            </a:extLst>
          </p:cNvPr>
          <p:cNvSpPr>
            <a:spLocks noGrp="1"/>
          </p:cNvSpPr>
          <p:nvPr>
            <p:ph type="sldNum" sz="quarter" idx="12"/>
          </p:nvPr>
        </p:nvSpPr>
        <p:spPr/>
        <p:txBody>
          <a:bodyPr/>
          <a:lstStyle/>
          <a:p>
            <a:fld id="{F4BFD86B-6253-4CE5-B8D2-D7D9ED526AB4}" type="slidenum">
              <a:rPr lang="en-US" smtClean="0"/>
              <a:t>‹#›</a:t>
            </a:fld>
            <a:endParaRPr lang="en-US"/>
          </a:p>
        </p:txBody>
      </p:sp>
    </p:spTree>
    <p:extLst>
      <p:ext uri="{BB962C8B-B14F-4D97-AF65-F5344CB8AC3E}">
        <p14:creationId xmlns:p14="http://schemas.microsoft.com/office/powerpoint/2010/main" val="2694357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2DA8B-CD8D-4DF3-ACB1-6120C6450B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943C89-E61B-40EE-BD4E-AE6F3FD3C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001741-8D1F-4EE5-B833-5F8BB2456D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70DD0-5304-4047-9885-59C061C2CBB3}"/>
              </a:ext>
            </a:extLst>
          </p:cNvPr>
          <p:cNvSpPr>
            <a:spLocks noGrp="1"/>
          </p:cNvSpPr>
          <p:nvPr>
            <p:ph type="dt" sz="half" idx="10"/>
          </p:nvPr>
        </p:nvSpPr>
        <p:spPr/>
        <p:txBody>
          <a:bodyPr/>
          <a:lstStyle/>
          <a:p>
            <a:fld id="{08BD58A5-AA0F-4344-898F-CFAC882E56BE}" type="datetimeFigureOut">
              <a:rPr lang="en-US" smtClean="0"/>
              <a:t>3/22/2026</a:t>
            </a:fld>
            <a:endParaRPr lang="en-US"/>
          </a:p>
        </p:txBody>
      </p:sp>
      <p:sp>
        <p:nvSpPr>
          <p:cNvPr id="6" name="Footer Placeholder 5">
            <a:extLst>
              <a:ext uri="{FF2B5EF4-FFF2-40B4-BE49-F238E27FC236}">
                <a16:creationId xmlns:a16="http://schemas.microsoft.com/office/drawing/2014/main" id="{92CE5C7A-274E-4689-B972-C6C2644F47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A491B0-8334-40CD-A90D-85F006655084}"/>
              </a:ext>
            </a:extLst>
          </p:cNvPr>
          <p:cNvSpPr>
            <a:spLocks noGrp="1"/>
          </p:cNvSpPr>
          <p:nvPr>
            <p:ph type="sldNum" sz="quarter" idx="12"/>
          </p:nvPr>
        </p:nvSpPr>
        <p:spPr/>
        <p:txBody>
          <a:bodyPr/>
          <a:lstStyle/>
          <a:p>
            <a:fld id="{F4BFD86B-6253-4CE5-B8D2-D7D9ED526AB4}" type="slidenum">
              <a:rPr lang="en-US" smtClean="0"/>
              <a:t>‹#›</a:t>
            </a:fld>
            <a:endParaRPr lang="en-US"/>
          </a:p>
        </p:txBody>
      </p:sp>
    </p:spTree>
    <p:extLst>
      <p:ext uri="{BB962C8B-B14F-4D97-AF65-F5344CB8AC3E}">
        <p14:creationId xmlns:p14="http://schemas.microsoft.com/office/powerpoint/2010/main" val="2878427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1728A-FECD-46F2-93ED-2AAAEC8533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C7C1FA-4F15-4D74-9611-F65271EFF1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D39C7A-84D5-4A33-8807-27B1264C30A2}"/>
              </a:ext>
            </a:extLst>
          </p:cNvPr>
          <p:cNvSpPr>
            <a:spLocks noGrp="1"/>
          </p:cNvSpPr>
          <p:nvPr>
            <p:ph type="dt" sz="half" idx="10"/>
          </p:nvPr>
        </p:nvSpPr>
        <p:spPr/>
        <p:txBody>
          <a:bodyPr/>
          <a:lstStyle/>
          <a:p>
            <a:fld id="{08BD58A5-AA0F-4344-898F-CFAC882E56BE}" type="datetimeFigureOut">
              <a:rPr lang="en-US" smtClean="0"/>
              <a:t>3/22/2026</a:t>
            </a:fld>
            <a:endParaRPr lang="en-US"/>
          </a:p>
        </p:txBody>
      </p:sp>
      <p:sp>
        <p:nvSpPr>
          <p:cNvPr id="5" name="Footer Placeholder 4">
            <a:extLst>
              <a:ext uri="{FF2B5EF4-FFF2-40B4-BE49-F238E27FC236}">
                <a16:creationId xmlns:a16="http://schemas.microsoft.com/office/drawing/2014/main" id="{22BF35CD-04D2-44FB-ACFC-00A69E94E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446D5C-9CDD-4EE0-856F-8AB002FB6284}"/>
              </a:ext>
            </a:extLst>
          </p:cNvPr>
          <p:cNvSpPr>
            <a:spLocks noGrp="1"/>
          </p:cNvSpPr>
          <p:nvPr>
            <p:ph type="sldNum" sz="quarter" idx="12"/>
          </p:nvPr>
        </p:nvSpPr>
        <p:spPr/>
        <p:txBody>
          <a:bodyPr/>
          <a:lstStyle/>
          <a:p>
            <a:fld id="{F4BFD86B-6253-4CE5-B8D2-D7D9ED526AB4}" type="slidenum">
              <a:rPr lang="en-US" smtClean="0"/>
              <a:t>‹#›</a:t>
            </a:fld>
            <a:endParaRPr lang="en-US"/>
          </a:p>
        </p:txBody>
      </p:sp>
    </p:spTree>
    <p:extLst>
      <p:ext uri="{BB962C8B-B14F-4D97-AF65-F5344CB8AC3E}">
        <p14:creationId xmlns:p14="http://schemas.microsoft.com/office/powerpoint/2010/main" val="2850713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458E40-67AB-4997-A207-BBC8FB5E70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D80BC7-676F-4874-9F4E-CD675B2BC6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4F0CC6-5EDA-4B51-9934-65F7D1560CC0}"/>
              </a:ext>
            </a:extLst>
          </p:cNvPr>
          <p:cNvSpPr>
            <a:spLocks noGrp="1"/>
          </p:cNvSpPr>
          <p:nvPr>
            <p:ph type="dt" sz="half" idx="10"/>
          </p:nvPr>
        </p:nvSpPr>
        <p:spPr/>
        <p:txBody>
          <a:bodyPr/>
          <a:lstStyle/>
          <a:p>
            <a:fld id="{08BD58A5-AA0F-4344-898F-CFAC882E56BE}" type="datetimeFigureOut">
              <a:rPr lang="en-US" smtClean="0"/>
              <a:t>3/22/2026</a:t>
            </a:fld>
            <a:endParaRPr lang="en-US"/>
          </a:p>
        </p:txBody>
      </p:sp>
      <p:sp>
        <p:nvSpPr>
          <p:cNvPr id="5" name="Footer Placeholder 4">
            <a:extLst>
              <a:ext uri="{FF2B5EF4-FFF2-40B4-BE49-F238E27FC236}">
                <a16:creationId xmlns:a16="http://schemas.microsoft.com/office/drawing/2014/main" id="{0DC1B511-8C5B-4D33-A85D-A73253BB21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BD51CF-584F-492C-B49C-DBB65FCA9C08}"/>
              </a:ext>
            </a:extLst>
          </p:cNvPr>
          <p:cNvSpPr>
            <a:spLocks noGrp="1"/>
          </p:cNvSpPr>
          <p:nvPr>
            <p:ph type="sldNum" sz="quarter" idx="12"/>
          </p:nvPr>
        </p:nvSpPr>
        <p:spPr/>
        <p:txBody>
          <a:bodyPr/>
          <a:lstStyle/>
          <a:p>
            <a:fld id="{F4BFD86B-6253-4CE5-B8D2-D7D9ED526AB4}" type="slidenum">
              <a:rPr lang="en-US" smtClean="0"/>
              <a:t>‹#›</a:t>
            </a:fld>
            <a:endParaRPr lang="en-US"/>
          </a:p>
        </p:txBody>
      </p:sp>
    </p:spTree>
    <p:extLst>
      <p:ext uri="{BB962C8B-B14F-4D97-AF65-F5344CB8AC3E}">
        <p14:creationId xmlns:p14="http://schemas.microsoft.com/office/powerpoint/2010/main" val="2908997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DBF601-564B-4245-9FAD-DA3CC6B55F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86F461-C434-4EB2-9FEA-1E2F78B62F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FDF6B-7E3C-4827-962D-9030AF953E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BD58A5-AA0F-4344-898F-CFAC882E56BE}" type="datetimeFigureOut">
              <a:rPr lang="en-US" smtClean="0"/>
              <a:t>3/22/2026</a:t>
            </a:fld>
            <a:endParaRPr lang="en-US"/>
          </a:p>
        </p:txBody>
      </p:sp>
      <p:sp>
        <p:nvSpPr>
          <p:cNvPr id="5" name="Footer Placeholder 4">
            <a:extLst>
              <a:ext uri="{FF2B5EF4-FFF2-40B4-BE49-F238E27FC236}">
                <a16:creationId xmlns:a16="http://schemas.microsoft.com/office/drawing/2014/main" id="{95AB7028-07C6-4206-938C-84767DD82D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E34BB75-A65C-43ED-B59B-DC5873255E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BFD86B-6253-4CE5-B8D2-D7D9ED526AB4}" type="slidenum">
              <a:rPr lang="en-US" smtClean="0"/>
              <a:t>‹#›</a:t>
            </a:fld>
            <a:endParaRPr lang="en-US"/>
          </a:p>
        </p:txBody>
      </p:sp>
    </p:spTree>
    <p:extLst>
      <p:ext uri="{BB962C8B-B14F-4D97-AF65-F5344CB8AC3E}">
        <p14:creationId xmlns:p14="http://schemas.microsoft.com/office/powerpoint/2010/main" val="1576172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BFF28-413E-E4C6-E73B-AB2B0272B07A}"/>
              </a:ext>
            </a:extLst>
          </p:cNvPr>
          <p:cNvSpPr>
            <a:spLocks noGrp="1"/>
          </p:cNvSpPr>
          <p:nvPr>
            <p:ph type="title"/>
          </p:nvPr>
        </p:nvSpPr>
        <p:spPr/>
        <p:txBody>
          <a:bodyPr>
            <a:normAutofit/>
          </a:bodyPr>
          <a:lstStyle/>
          <a:p>
            <a:r>
              <a:rPr lang="en-US" sz="3600" b="1" dirty="0"/>
              <a:t>Two Player Game Playing through Adversarial Search</a:t>
            </a:r>
          </a:p>
        </p:txBody>
      </p:sp>
      <p:sp>
        <p:nvSpPr>
          <p:cNvPr id="3" name="Content Placeholder 2">
            <a:extLst>
              <a:ext uri="{FF2B5EF4-FFF2-40B4-BE49-F238E27FC236}">
                <a16:creationId xmlns:a16="http://schemas.microsoft.com/office/drawing/2014/main" id="{B5021016-9B89-A974-384A-E0BDBAAA77E6}"/>
              </a:ext>
            </a:extLst>
          </p:cNvPr>
          <p:cNvSpPr>
            <a:spLocks noGrp="1"/>
          </p:cNvSpPr>
          <p:nvPr>
            <p:ph idx="1"/>
          </p:nvPr>
        </p:nvSpPr>
        <p:spPr/>
        <p:txBody>
          <a:bodyPr/>
          <a:lstStyle/>
          <a:p>
            <a:pPr marL="0" indent="0">
              <a:buNone/>
            </a:pPr>
            <a:r>
              <a:rPr lang="en-US" dirty="0"/>
              <a:t>In this chapter we cover competitive environments, in which the agents’ goals are in conflict, giving rise to adversarial search problems—often known as games.</a:t>
            </a:r>
          </a:p>
          <a:p>
            <a:pPr marL="0" indent="0">
              <a:buNone/>
            </a:pPr>
            <a:r>
              <a:rPr lang="en-US" dirty="0"/>
              <a:t>We begin with a definition of the optimal move and an algorithm for finding it. We then look at techniques for choosing a good move when time is limited. Pruning allows us to ignore portions of the search tree that make no difference to the final choice, and heuristic evaluation functions allow us to approximate the true utility of a state without doing a complete search. </a:t>
            </a:r>
          </a:p>
        </p:txBody>
      </p:sp>
    </p:spTree>
    <p:extLst>
      <p:ext uri="{BB962C8B-B14F-4D97-AF65-F5344CB8AC3E}">
        <p14:creationId xmlns:p14="http://schemas.microsoft.com/office/powerpoint/2010/main" val="4227891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5A9C2-F0E3-96DD-DFF9-5F26E1C4399C}"/>
              </a:ext>
            </a:extLst>
          </p:cNvPr>
          <p:cNvSpPr>
            <a:spLocks noGrp="1"/>
          </p:cNvSpPr>
          <p:nvPr>
            <p:ph type="title"/>
          </p:nvPr>
        </p:nvSpPr>
        <p:spPr/>
        <p:txBody>
          <a:bodyPr/>
          <a:lstStyle/>
          <a:p>
            <a:r>
              <a:rPr lang="en-US" dirty="0"/>
              <a:t>				</a:t>
            </a:r>
            <a:r>
              <a:rPr lang="en-US" b="1" dirty="0"/>
              <a:t>GAME TREE	</a:t>
            </a:r>
          </a:p>
        </p:txBody>
      </p:sp>
      <p:sp>
        <p:nvSpPr>
          <p:cNvPr id="3" name="Content Placeholder 2">
            <a:extLst>
              <a:ext uri="{FF2B5EF4-FFF2-40B4-BE49-F238E27FC236}">
                <a16:creationId xmlns:a16="http://schemas.microsoft.com/office/drawing/2014/main" id="{9A8D1503-E5DE-8B44-1148-F9E5A9FB5B38}"/>
              </a:ext>
            </a:extLst>
          </p:cNvPr>
          <p:cNvSpPr>
            <a:spLocks noGrp="1"/>
          </p:cNvSpPr>
          <p:nvPr>
            <p:ph idx="1"/>
          </p:nvPr>
        </p:nvSpPr>
        <p:spPr/>
        <p:txBody>
          <a:bodyPr>
            <a:normAutofit fontScale="92500"/>
          </a:bodyPr>
          <a:lstStyle/>
          <a:p>
            <a:pPr marL="0" indent="0">
              <a:buNone/>
            </a:pPr>
            <a:r>
              <a:rPr lang="en-US" dirty="0"/>
              <a:t>The initial state, ACTIONS function, and RESULT function define the game tree for the game—a tree where the nodes are game states, and the edges are moves. Figure 5.1 shows part of the game tree for tic-tac-toe. </a:t>
            </a:r>
          </a:p>
          <a:p>
            <a:pPr marL="0" indent="0">
              <a:buNone/>
            </a:pPr>
            <a:r>
              <a:rPr lang="en-US" dirty="0"/>
              <a:t>From the initial state, MAX has nine possible moves. Play alternates between MAX’s placing an X and MIN’s placing an O until we reach leaf nodes corresponding to terminal states such that one player has three in a row, or all the squares are filled. </a:t>
            </a:r>
          </a:p>
          <a:p>
            <a:pPr marL="0" indent="0">
              <a:buNone/>
            </a:pPr>
            <a:r>
              <a:rPr lang="en-US" dirty="0"/>
              <a:t>The number on each leaf node indicates the utility value of the terminal state from the point of view of MAX; high values are assumed to be good for MAX and bad for MIN (which is how the players get their names).</a:t>
            </a:r>
          </a:p>
        </p:txBody>
      </p:sp>
    </p:spTree>
    <p:extLst>
      <p:ext uri="{BB962C8B-B14F-4D97-AF65-F5344CB8AC3E}">
        <p14:creationId xmlns:p14="http://schemas.microsoft.com/office/powerpoint/2010/main" val="2257805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Graphical user interface, text, application&#10;&#10;Description automatically generated">
            <a:extLst>
              <a:ext uri="{FF2B5EF4-FFF2-40B4-BE49-F238E27FC236}">
                <a16:creationId xmlns:a16="http://schemas.microsoft.com/office/drawing/2014/main" id="{500675E5-13E7-AC95-5F38-47A54EDD8C33}"/>
              </a:ext>
            </a:extLst>
          </p:cNvPr>
          <p:cNvPicPr>
            <a:picLocks noChangeAspect="1"/>
          </p:cNvPicPr>
          <p:nvPr/>
        </p:nvPicPr>
        <p:blipFill rotWithShape="1">
          <a:blip r:embed="rId2"/>
          <a:srcRect l="36294" t="38122" r="29898" b="16458"/>
          <a:stretch/>
        </p:blipFill>
        <p:spPr bwMode="auto">
          <a:xfrm>
            <a:off x="2044701" y="0"/>
            <a:ext cx="10693400" cy="7124700"/>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2748663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D9341-8215-0F6A-434C-81F52854325E}"/>
              </a:ext>
            </a:extLst>
          </p:cNvPr>
          <p:cNvSpPr>
            <a:spLocks noGrp="1"/>
          </p:cNvSpPr>
          <p:nvPr>
            <p:ph type="title"/>
          </p:nvPr>
        </p:nvSpPr>
        <p:spPr/>
        <p:txBody>
          <a:bodyPr/>
          <a:lstStyle/>
          <a:p>
            <a:r>
              <a:rPr lang="en-US" dirty="0"/>
              <a:t>			</a:t>
            </a:r>
            <a:r>
              <a:rPr lang="en-US" sz="6000" b="1" dirty="0"/>
              <a:t>Size of Game Tree</a:t>
            </a:r>
          </a:p>
        </p:txBody>
      </p:sp>
      <p:sp>
        <p:nvSpPr>
          <p:cNvPr id="3" name="Content Placeholder 2">
            <a:extLst>
              <a:ext uri="{FF2B5EF4-FFF2-40B4-BE49-F238E27FC236}">
                <a16:creationId xmlns:a16="http://schemas.microsoft.com/office/drawing/2014/main" id="{0C4A3E4D-048B-5826-E135-04776D47542B}"/>
              </a:ext>
            </a:extLst>
          </p:cNvPr>
          <p:cNvSpPr>
            <a:spLocks noGrp="1"/>
          </p:cNvSpPr>
          <p:nvPr>
            <p:ph idx="1"/>
          </p:nvPr>
        </p:nvSpPr>
        <p:spPr>
          <a:xfrm>
            <a:off x="185195" y="1825625"/>
            <a:ext cx="11852476" cy="4351338"/>
          </a:xfrm>
        </p:spPr>
        <p:txBody>
          <a:bodyPr>
            <a:normAutofit/>
          </a:bodyPr>
          <a:lstStyle/>
          <a:p>
            <a:pPr marL="0" indent="0">
              <a:buNone/>
            </a:pPr>
            <a:r>
              <a:rPr lang="en-US" sz="3600" dirty="0"/>
              <a:t>For tic-tac-toe, the game tree is relatively small—fewer than 9! = 362, 880 terminal nodes. But for chess there are over 10power40 nodes, so the game tree is best thought of as a theoretical construct that we cannot realize in the physical world. But regardless of the size of the game tree, it is Player’s job to search for a good move. </a:t>
            </a:r>
          </a:p>
        </p:txBody>
      </p:sp>
    </p:spTree>
    <p:extLst>
      <p:ext uri="{BB962C8B-B14F-4D97-AF65-F5344CB8AC3E}">
        <p14:creationId xmlns:p14="http://schemas.microsoft.com/office/powerpoint/2010/main" val="1893473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67622-3692-426A-AFCC-8C4DDDDDC85D}"/>
              </a:ext>
            </a:extLst>
          </p:cNvPr>
          <p:cNvSpPr txBox="1"/>
          <p:nvPr/>
        </p:nvSpPr>
        <p:spPr>
          <a:xfrm>
            <a:off x="590309" y="0"/>
            <a:ext cx="11341261" cy="6863417"/>
          </a:xfrm>
          <a:prstGeom prst="rect">
            <a:avLst/>
          </a:prstGeom>
          <a:noFill/>
        </p:spPr>
        <p:txBody>
          <a:bodyPr wrap="square">
            <a:spAutoFit/>
          </a:bodyPr>
          <a:lstStyle/>
          <a:p>
            <a:pPr algn="l"/>
            <a:r>
              <a:rPr lang="en-US" sz="2200" dirty="0">
                <a:latin typeface="Times New Roman" panose="02020603050405020304" pitchFamily="18" charset="0"/>
                <a:cs typeface="Times New Roman" panose="02020603050405020304" pitchFamily="18" charset="0"/>
              </a:rPr>
              <a:t>We begin with a definition of the optimal move and an algorithm for finding it. We PRUNING then look at techniques for choosing a good move when time is limited. Pruning allows us to ignore portions of the search tree that make no difference to the final choice, and heuristic evaluation functions allow us to approximate the true utility of a state without doing a complete search. </a:t>
            </a:r>
          </a:p>
          <a:p>
            <a:pPr algn="l"/>
            <a:r>
              <a:rPr lang="en-US" sz="2200" dirty="0">
                <a:latin typeface="Times New Roman" panose="02020603050405020304" pitchFamily="18" charset="0"/>
                <a:cs typeface="Times New Roman" panose="02020603050405020304" pitchFamily="18" charset="0"/>
              </a:rPr>
              <a:t>We first consider games with two players, whom we call MAX and MIN for reasons that will soon become obvious. MAX moves first, then they take turns until the game ends. At the end of the game, points are awarded to the winning player and penalties are given to the loser. </a:t>
            </a:r>
            <a:r>
              <a:rPr lang="en-US" sz="2200" dirty="0">
                <a:highlight>
                  <a:srgbClr val="FFFF00"/>
                </a:highlight>
                <a:latin typeface="Times New Roman" panose="02020603050405020304" pitchFamily="18" charset="0"/>
                <a:cs typeface="Times New Roman" panose="02020603050405020304" pitchFamily="18" charset="0"/>
              </a:rPr>
              <a:t>A game can be formally defined as a kind of search problem with the following elements:</a:t>
            </a:r>
            <a:endParaRPr lang="en-US" sz="2200" b="0" i="0" u="none" strike="noStrike" baseline="0" dirty="0">
              <a:highlight>
                <a:srgbClr val="FFFF00"/>
              </a:highlight>
              <a:latin typeface="Times New Roman" panose="02020603050405020304" pitchFamily="18" charset="0"/>
              <a:cs typeface="Times New Roman" panose="02020603050405020304" pitchFamily="18" charset="0"/>
            </a:endParaRPr>
          </a:p>
          <a:p>
            <a:pPr algn="l"/>
            <a:r>
              <a:rPr lang="en-US" sz="2200" b="1" i="0" u="none" strike="noStrike" baseline="0" dirty="0">
                <a:latin typeface="Times New Roman" panose="02020603050405020304" pitchFamily="18" charset="0"/>
                <a:cs typeface="Times New Roman" panose="02020603050405020304" pitchFamily="18" charset="0"/>
              </a:rPr>
              <a:t>S0: The initial state specifies how the game is set up at the start.</a:t>
            </a:r>
          </a:p>
          <a:p>
            <a:pPr algn="l"/>
            <a:r>
              <a:rPr lang="en-US" sz="2200" b="1" i="0" u="none" strike="noStrike" baseline="0" dirty="0">
                <a:latin typeface="Times New Roman" panose="02020603050405020304" pitchFamily="18" charset="0"/>
                <a:cs typeface="Times New Roman" panose="02020603050405020304" pitchFamily="18" charset="0"/>
              </a:rPr>
              <a:t>• PLAYER(s): Defines which player has the move in a state.</a:t>
            </a:r>
          </a:p>
          <a:p>
            <a:pPr algn="l"/>
            <a:r>
              <a:rPr lang="en-US" sz="2200" b="1" i="0" u="none" strike="noStrike" baseline="0" dirty="0">
                <a:latin typeface="Times New Roman" panose="02020603050405020304" pitchFamily="18" charset="0"/>
                <a:cs typeface="Times New Roman" panose="02020603050405020304" pitchFamily="18" charset="0"/>
              </a:rPr>
              <a:t>• ACTIONS(s): Returns the set of legal moves in a state.</a:t>
            </a:r>
          </a:p>
          <a:p>
            <a:pPr algn="l"/>
            <a:r>
              <a:rPr lang="en-US" sz="2200" b="1" i="0" u="none" strike="noStrike" baseline="0" dirty="0">
                <a:latin typeface="Times New Roman" panose="02020603050405020304" pitchFamily="18" charset="0"/>
                <a:cs typeface="Times New Roman" panose="02020603050405020304" pitchFamily="18" charset="0"/>
              </a:rPr>
              <a:t>• RESULT(s, a): The transition model defines the result of a move.</a:t>
            </a:r>
          </a:p>
          <a:p>
            <a:pPr algn="l"/>
            <a:r>
              <a:rPr lang="en-US" sz="2200" b="1" i="0" u="none" strike="noStrike" baseline="0" dirty="0">
                <a:latin typeface="Times New Roman" panose="02020603050405020304" pitchFamily="18" charset="0"/>
                <a:cs typeface="Times New Roman" panose="02020603050405020304" pitchFamily="18" charset="0"/>
              </a:rPr>
              <a:t>TERMINAL TEST • TERMINAL-TEST(s): A terminal test, which is true when the game is over and false otherwise.</a:t>
            </a:r>
          </a:p>
          <a:p>
            <a:pPr algn="l"/>
            <a:r>
              <a:rPr lang="en-US" sz="2200" b="1" i="0" u="none" strike="noStrike" baseline="0" dirty="0">
                <a:latin typeface="Times New Roman" panose="02020603050405020304" pitchFamily="18" charset="0"/>
                <a:cs typeface="Times New Roman" panose="02020603050405020304" pitchFamily="18" charset="0"/>
              </a:rPr>
              <a:t>TERMINAL STATES </a:t>
            </a:r>
            <a:r>
              <a:rPr lang="en-US" sz="2200" b="1" dirty="0">
                <a:latin typeface="Times New Roman" panose="02020603050405020304" pitchFamily="18" charset="0"/>
                <a:cs typeface="Times New Roman" panose="02020603050405020304" pitchFamily="18" charset="0"/>
              </a:rPr>
              <a:t>T</a:t>
            </a:r>
            <a:r>
              <a:rPr lang="en-US" sz="2200" b="1" i="0" u="none" strike="noStrike" baseline="0" dirty="0">
                <a:latin typeface="Times New Roman" panose="02020603050405020304" pitchFamily="18" charset="0"/>
                <a:cs typeface="Times New Roman" panose="02020603050405020304" pitchFamily="18" charset="0"/>
              </a:rPr>
              <a:t>he States where the game has ended are called terminal states.</a:t>
            </a:r>
          </a:p>
          <a:p>
            <a:pPr algn="l"/>
            <a:r>
              <a:rPr lang="en-US" sz="2200" b="1" i="0" u="none" strike="noStrike" baseline="0" dirty="0">
                <a:latin typeface="Times New Roman" panose="02020603050405020304" pitchFamily="18" charset="0"/>
                <a:cs typeface="Times New Roman" panose="02020603050405020304" pitchFamily="18" charset="0"/>
              </a:rPr>
              <a:t>• UTILITY(s, p): A utility function (also called an objective function or payoff function): It can be applied to the terminal state of the game,  and it gives the numerical value of the outcome of the game. </a:t>
            </a:r>
            <a:r>
              <a:rPr lang="en-US" sz="2200" b="1" dirty="0">
                <a:latin typeface="Times New Roman" panose="02020603050405020304" pitchFamily="18" charset="0"/>
                <a:cs typeface="Times New Roman" panose="02020603050405020304" pitchFamily="18" charset="0"/>
              </a:rPr>
              <a:t>T</a:t>
            </a:r>
            <a:r>
              <a:rPr lang="en-US" sz="2200" b="1" i="0" u="none" strike="noStrike" baseline="0" dirty="0">
                <a:latin typeface="Times New Roman" panose="02020603050405020304" pitchFamily="18" charset="0"/>
                <a:cs typeface="Times New Roman" panose="02020603050405020304" pitchFamily="18" charset="0"/>
              </a:rPr>
              <a:t>he final numeric value for a game that ends in terminal state s for a player p. It could be +1, 0, or -1 in games like  Tic-tac Toe, chess etc. It could be from 0 to +192 in the game of Backgammon</a:t>
            </a:r>
            <a:r>
              <a:rPr lang="en-US" sz="2000" b="1" i="0" u="none" strike="noStrike" baseline="0"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1074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B0FE3-4A55-48B0-82D5-B5FF80A2083A}"/>
              </a:ext>
            </a:extLst>
          </p:cNvPr>
          <p:cNvSpPr>
            <a:spLocks noGrp="1"/>
          </p:cNvSpPr>
          <p:nvPr>
            <p:ph type="ctrTitle"/>
          </p:nvPr>
        </p:nvSpPr>
        <p:spPr>
          <a:xfrm>
            <a:off x="1524000" y="211015"/>
            <a:ext cx="9144000" cy="2199043"/>
          </a:xfrm>
        </p:spPr>
        <p:txBody>
          <a:bodyPr>
            <a:normAutofit fontScale="90000"/>
          </a:bodyPr>
          <a:lstStyle/>
          <a:p>
            <a:r>
              <a:rPr lang="en-US" dirty="0"/>
              <a:t>Optimal Decisions in Games Very Early (First Version) Intelligent Systems</a:t>
            </a:r>
          </a:p>
        </p:txBody>
      </p:sp>
      <p:sp>
        <p:nvSpPr>
          <p:cNvPr id="3" name="Subtitle 2">
            <a:extLst>
              <a:ext uri="{FF2B5EF4-FFF2-40B4-BE49-F238E27FC236}">
                <a16:creationId xmlns:a16="http://schemas.microsoft.com/office/drawing/2014/main" id="{31AE2A07-2926-454D-9B81-BFAEEB598CA0}"/>
              </a:ext>
            </a:extLst>
          </p:cNvPr>
          <p:cNvSpPr>
            <a:spLocks noGrp="1"/>
          </p:cNvSpPr>
          <p:nvPr>
            <p:ph type="subTitle" idx="1"/>
          </p:nvPr>
        </p:nvSpPr>
        <p:spPr>
          <a:xfrm>
            <a:off x="775801" y="2687160"/>
            <a:ext cx="11007524" cy="5095776"/>
          </a:xfrm>
        </p:spPr>
        <p:txBody>
          <a:bodyPr>
            <a:noAutofit/>
          </a:bodyPr>
          <a:lstStyle/>
          <a:p>
            <a:r>
              <a:rPr lang="en-US" dirty="0">
                <a:latin typeface="Times New Roman" panose="02020603050405020304" pitchFamily="18" charset="0"/>
                <a:cs typeface="Times New Roman" panose="02020603050405020304" pitchFamily="18" charset="0"/>
              </a:rPr>
              <a:t>Even a simple game like tic-tac-toe is too complex for us to draw the entire game tree on one page, so we will switch to the trivial Hypothetical game in Figure 5.2. </a:t>
            </a:r>
          </a:p>
          <a:p>
            <a:r>
              <a:rPr lang="en-US" dirty="0">
                <a:latin typeface="Times New Roman" panose="02020603050405020304" pitchFamily="18" charset="0"/>
                <a:cs typeface="Times New Roman" panose="02020603050405020304" pitchFamily="18" charset="0"/>
              </a:rPr>
              <a:t>The possible moves for MAX at the root node are labeled a1, a2, and a3. The possible replies to a1 for MIN are b1, b2, b3, and so on. </a:t>
            </a:r>
          </a:p>
          <a:p>
            <a:r>
              <a:rPr lang="en-US" dirty="0">
                <a:latin typeface="Times New Roman" panose="02020603050405020304" pitchFamily="18" charset="0"/>
                <a:cs typeface="Times New Roman" panose="02020603050405020304" pitchFamily="18" charset="0"/>
              </a:rPr>
              <a:t>This particular game ends after one move each by MAX and MIN. (In game parlance, we say that this tree is one move deep, consisting of two half-moves, each of which is called a ply.) The utilities of the terminal states in this game range from 2 to 14</a:t>
            </a:r>
          </a:p>
          <a:p>
            <a:r>
              <a:rPr lang="en-US" b="1" dirty="0"/>
              <a:t>In this type of the game the depth of the tree is short enough to see the outcome of the game for a player in the amount of time the player has to make a move.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705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aphical user interface, application, Word&#10;&#10;Description automatically generated">
            <a:extLst>
              <a:ext uri="{FF2B5EF4-FFF2-40B4-BE49-F238E27FC236}">
                <a16:creationId xmlns:a16="http://schemas.microsoft.com/office/drawing/2014/main" id="{0FC8B6C7-E876-F2D3-9F69-08F772BAD6C8}"/>
              </a:ext>
            </a:extLst>
          </p:cNvPr>
          <p:cNvPicPr>
            <a:picLocks noChangeAspect="1"/>
          </p:cNvPicPr>
          <p:nvPr/>
        </p:nvPicPr>
        <p:blipFill rotWithShape="1">
          <a:blip r:embed="rId2"/>
          <a:srcRect l="35171" t="19920" r="30719" b="50034"/>
          <a:stretch/>
        </p:blipFill>
        <p:spPr bwMode="auto">
          <a:xfrm>
            <a:off x="0" y="-254833"/>
            <a:ext cx="12191999" cy="711283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53474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F26DF-AE65-44F8-ACB1-71F65FAA7631}"/>
              </a:ext>
            </a:extLst>
          </p:cNvPr>
          <p:cNvSpPr>
            <a:spLocks noGrp="1"/>
          </p:cNvSpPr>
          <p:nvPr>
            <p:ph type="title"/>
          </p:nvPr>
        </p:nvSpPr>
        <p:spPr/>
        <p:txBody>
          <a:bodyPr/>
          <a:lstStyle/>
          <a:p>
            <a:r>
              <a:rPr lang="en-US" b="1" dirty="0"/>
              <a:t>Finding Solution by MinMax Algorithm</a:t>
            </a:r>
          </a:p>
        </p:txBody>
      </p:sp>
      <p:sp>
        <p:nvSpPr>
          <p:cNvPr id="3" name="Content Placeholder 2">
            <a:extLst>
              <a:ext uri="{FF2B5EF4-FFF2-40B4-BE49-F238E27FC236}">
                <a16:creationId xmlns:a16="http://schemas.microsoft.com/office/drawing/2014/main" id="{8A0DA992-9A43-4946-A3C5-C29358C863E6}"/>
              </a:ext>
            </a:extLst>
          </p:cNvPr>
          <p:cNvSpPr>
            <a:spLocks noGrp="1"/>
          </p:cNvSpPr>
          <p:nvPr>
            <p:ph idx="1"/>
          </p:nvPr>
        </p:nvSpPr>
        <p:spPr>
          <a:xfrm>
            <a:off x="289367" y="1825625"/>
            <a:ext cx="11609408" cy="4351338"/>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MINMAX algorithm A Simple Descriptive Definition</a:t>
            </a:r>
          </a:p>
          <a:p>
            <a:pPr marL="0" indent="0" algn="l">
              <a:buNone/>
            </a:pPr>
            <a:r>
              <a:rPr lang="en-US" sz="2400" b="0" i="0" u="none" strike="noStrike" baseline="0" dirty="0">
                <a:latin typeface="Times New Roman" panose="02020603050405020304" pitchFamily="18" charset="0"/>
                <a:cs typeface="Times New Roman" panose="02020603050405020304" pitchFamily="18" charset="0"/>
              </a:rPr>
              <a:t>The minimax algorithm computes the minimax decision from the current state.</a:t>
            </a:r>
          </a:p>
          <a:p>
            <a:pPr marL="0" indent="0" algn="l">
              <a:buNone/>
            </a:pPr>
            <a:r>
              <a:rPr lang="en-US" sz="2400" b="0" i="0" u="none" strike="noStrike" baseline="0" dirty="0">
                <a:latin typeface="Times New Roman" panose="02020603050405020304" pitchFamily="18" charset="0"/>
                <a:cs typeface="Times New Roman" panose="02020603050405020304" pitchFamily="18" charset="0"/>
              </a:rPr>
              <a:t>It uses a simple recursive computation of the minimax values of each successor state, directly</a:t>
            </a:r>
          </a:p>
          <a:p>
            <a:pPr marL="0" indent="0" algn="l">
              <a:buNone/>
            </a:pPr>
            <a:r>
              <a:rPr lang="en-US" sz="2400" b="0" i="0" u="none" strike="noStrike" baseline="0" dirty="0">
                <a:latin typeface="Times New Roman" panose="02020603050405020304" pitchFamily="18" charset="0"/>
                <a:cs typeface="Times New Roman" panose="02020603050405020304" pitchFamily="18" charset="0"/>
              </a:rPr>
              <a:t>implementing the defining equations. The recursion proceeds all the way down to the leaves</a:t>
            </a:r>
          </a:p>
          <a:p>
            <a:pPr marL="0" indent="0" algn="l">
              <a:buNone/>
            </a:pPr>
            <a:r>
              <a:rPr lang="en-US" sz="2400" b="0" i="0" u="none" strike="noStrike" baseline="0" dirty="0">
                <a:latin typeface="Times New Roman" panose="02020603050405020304" pitchFamily="18" charset="0"/>
                <a:cs typeface="Times New Roman" panose="02020603050405020304" pitchFamily="18" charset="0"/>
              </a:rPr>
              <a:t>of the tree, and then the minimax values are backed up through the tree as the recursion</a:t>
            </a:r>
          </a:p>
          <a:p>
            <a:pPr marL="0" indent="0" algn="l">
              <a:buNone/>
            </a:pPr>
            <a:r>
              <a:rPr lang="en-US" sz="2400" b="0" i="0" u="none" strike="noStrike" baseline="0" dirty="0">
                <a:latin typeface="Times New Roman" panose="02020603050405020304" pitchFamily="18" charset="0"/>
                <a:cs typeface="Times New Roman" panose="02020603050405020304" pitchFamily="18" charset="0"/>
              </a:rPr>
              <a:t>unwinds. For example, in Figure 5.2, the algorithm first recurses down to the three bottom left nodes and uses the UTILITY function on them to discover that their values are 3, 12, and</a:t>
            </a:r>
          </a:p>
          <a:p>
            <a:pPr marL="0" indent="0" algn="l">
              <a:buNone/>
            </a:pPr>
            <a:r>
              <a:rPr lang="en-US" sz="2400" b="0" i="0" u="none" strike="noStrike" baseline="0" dirty="0">
                <a:latin typeface="Times New Roman" panose="02020603050405020304" pitchFamily="18" charset="0"/>
                <a:cs typeface="Times New Roman" panose="02020603050405020304" pitchFamily="18" charset="0"/>
              </a:rPr>
              <a:t>8, respectively. Then it takes the minimum of these values, 3, and returns it as the backed up value of node B. A similar process gives the backed-up values of 2 for C and 2 for D.</a:t>
            </a:r>
          </a:p>
          <a:p>
            <a:pPr marL="0" indent="0" algn="l">
              <a:buNone/>
            </a:pPr>
            <a:r>
              <a:rPr lang="en-US" sz="2400" b="0" i="0" u="none" strike="noStrike" baseline="0" dirty="0">
                <a:latin typeface="Times New Roman" panose="02020603050405020304" pitchFamily="18" charset="0"/>
                <a:cs typeface="Times New Roman" panose="02020603050405020304" pitchFamily="18" charset="0"/>
              </a:rPr>
              <a:t>Finally, we take the maximum of 3, 2, and 2 to get the backed-up value of 3 for the root node.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9365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B3EE5-F23A-67CE-0A05-AE93C3B3A80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7CA4CFB-5E48-9F02-0D20-88DCFEE818EE}"/>
              </a:ext>
            </a:extLst>
          </p:cNvPr>
          <p:cNvSpPr>
            <a:spLocks noGrp="1"/>
          </p:cNvSpPr>
          <p:nvPr>
            <p:ph type="subTitle" idx="1"/>
          </p:nvPr>
        </p:nvSpPr>
        <p:spPr/>
        <p:txBody>
          <a:bodyPr/>
          <a:lstStyle/>
          <a:p>
            <a:endParaRPr lang="en-US"/>
          </a:p>
        </p:txBody>
      </p:sp>
      <p:pic>
        <p:nvPicPr>
          <p:cNvPr id="4" name="Graphic 1">
            <a:extLst>
              <a:ext uri="{FF2B5EF4-FFF2-40B4-BE49-F238E27FC236}">
                <a16:creationId xmlns:a16="http://schemas.microsoft.com/office/drawing/2014/main" id="{E16D750F-0027-D8FC-2A51-0EDCADD3CA4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857" t="7728" r="1317" b="7044"/>
          <a:stretch/>
        </p:blipFill>
        <p:spPr>
          <a:xfrm>
            <a:off x="565370" y="110164"/>
            <a:ext cx="12344400" cy="6858000"/>
          </a:xfrm>
          <a:prstGeom prst="rect">
            <a:avLst/>
          </a:prstGeom>
        </p:spPr>
      </p:pic>
      <p:sp>
        <p:nvSpPr>
          <p:cNvPr id="5" name="TextBox 4">
            <a:extLst>
              <a:ext uri="{FF2B5EF4-FFF2-40B4-BE49-F238E27FC236}">
                <a16:creationId xmlns:a16="http://schemas.microsoft.com/office/drawing/2014/main" id="{E535CF83-68B1-BB7F-D22D-D95EF8D0D2F0}"/>
              </a:ext>
            </a:extLst>
          </p:cNvPr>
          <p:cNvSpPr txBox="1"/>
          <p:nvPr/>
        </p:nvSpPr>
        <p:spPr>
          <a:xfrm>
            <a:off x="1952566" y="295122"/>
            <a:ext cx="4737098" cy="1138773"/>
          </a:xfrm>
          <a:prstGeom prst="rect">
            <a:avLst/>
          </a:prstGeom>
          <a:solidFill>
            <a:schemeClr val="bg1"/>
          </a:solidFill>
        </p:spPr>
        <p:txBody>
          <a:bodyPr wrap="square" rtlCol="0">
            <a:spAutoFit/>
          </a:bodyPr>
          <a:lstStyle/>
          <a:p>
            <a:r>
              <a:rPr lang="en-US" sz="3600" dirty="0"/>
              <a:t> {MAX [MinMax (A)]}</a:t>
            </a:r>
          </a:p>
          <a:p>
            <a:endParaRPr lang="en-US" sz="3200" dirty="0"/>
          </a:p>
        </p:txBody>
      </p:sp>
      <p:sp>
        <p:nvSpPr>
          <p:cNvPr id="6" name="TextBox 5">
            <a:extLst>
              <a:ext uri="{FF2B5EF4-FFF2-40B4-BE49-F238E27FC236}">
                <a16:creationId xmlns:a16="http://schemas.microsoft.com/office/drawing/2014/main" id="{08055B4F-BDAE-AC04-D7B0-4B3C57F7C0CE}"/>
              </a:ext>
            </a:extLst>
          </p:cNvPr>
          <p:cNvSpPr txBox="1"/>
          <p:nvPr/>
        </p:nvSpPr>
        <p:spPr>
          <a:xfrm>
            <a:off x="1375550" y="2148763"/>
            <a:ext cx="3700501" cy="646331"/>
          </a:xfrm>
          <a:prstGeom prst="rect">
            <a:avLst/>
          </a:prstGeom>
          <a:solidFill>
            <a:schemeClr val="bg1"/>
          </a:solidFill>
        </p:spPr>
        <p:txBody>
          <a:bodyPr wrap="square" rtlCol="0">
            <a:spAutoFit/>
          </a:bodyPr>
          <a:lstStyle/>
          <a:p>
            <a:r>
              <a:rPr lang="en-US" sz="3600" dirty="0"/>
              <a:t>{MIN[MinMax(B)]}</a:t>
            </a:r>
          </a:p>
        </p:txBody>
      </p:sp>
      <p:sp>
        <p:nvSpPr>
          <p:cNvPr id="7" name="TextBox 6">
            <a:extLst>
              <a:ext uri="{FF2B5EF4-FFF2-40B4-BE49-F238E27FC236}">
                <a16:creationId xmlns:a16="http://schemas.microsoft.com/office/drawing/2014/main" id="{71FD498F-F640-E822-BBA7-4BB279575F55}"/>
              </a:ext>
            </a:extLst>
          </p:cNvPr>
          <p:cNvSpPr txBox="1"/>
          <p:nvPr/>
        </p:nvSpPr>
        <p:spPr>
          <a:xfrm>
            <a:off x="805587" y="5453604"/>
            <a:ext cx="3289300" cy="1384995"/>
          </a:xfrm>
          <a:prstGeom prst="rect">
            <a:avLst/>
          </a:prstGeom>
          <a:solidFill>
            <a:schemeClr val="bg1"/>
          </a:solidFill>
        </p:spPr>
        <p:txBody>
          <a:bodyPr wrap="square" rtlCol="0">
            <a:spAutoFit/>
          </a:bodyPr>
          <a:lstStyle/>
          <a:p>
            <a:r>
              <a:rPr lang="en-US" sz="2800" dirty="0"/>
              <a:t>{MAX [ MinMax(E)]}</a:t>
            </a:r>
          </a:p>
          <a:p>
            <a:r>
              <a:rPr lang="en-US" sz="2800" dirty="0"/>
              <a:t>Return[Utility Values]</a:t>
            </a:r>
          </a:p>
          <a:p>
            <a:r>
              <a:rPr lang="en-US" sz="2800" dirty="0"/>
              <a:t>Will return “3”</a:t>
            </a:r>
          </a:p>
        </p:txBody>
      </p:sp>
      <p:sp>
        <p:nvSpPr>
          <p:cNvPr id="8" name="TextBox 7">
            <a:extLst>
              <a:ext uri="{FF2B5EF4-FFF2-40B4-BE49-F238E27FC236}">
                <a16:creationId xmlns:a16="http://schemas.microsoft.com/office/drawing/2014/main" id="{D25D8074-F237-F664-FDC4-05361E841506}"/>
              </a:ext>
            </a:extLst>
          </p:cNvPr>
          <p:cNvSpPr txBox="1"/>
          <p:nvPr/>
        </p:nvSpPr>
        <p:spPr>
          <a:xfrm>
            <a:off x="5886232" y="2484300"/>
            <a:ext cx="1741670" cy="646331"/>
          </a:xfrm>
          <a:prstGeom prst="rect">
            <a:avLst/>
          </a:prstGeom>
          <a:solidFill>
            <a:schemeClr val="bg1"/>
          </a:solidFill>
        </p:spPr>
        <p:txBody>
          <a:bodyPr wrap="square" rtlCol="0">
            <a:spAutoFit/>
          </a:bodyPr>
          <a:lstStyle/>
          <a:p>
            <a:r>
              <a:rPr lang="en-US" sz="1600" dirty="0"/>
              <a:t>{MIN[</a:t>
            </a:r>
            <a:r>
              <a:rPr lang="en-US" sz="1600" dirty="0" err="1"/>
              <a:t>MinMax</a:t>
            </a:r>
            <a:r>
              <a:rPr lang="en-US" sz="1600" dirty="0"/>
              <a:t>(C)]}</a:t>
            </a:r>
          </a:p>
          <a:p>
            <a:endParaRPr lang="en-US" sz="2000" dirty="0"/>
          </a:p>
        </p:txBody>
      </p:sp>
      <p:sp>
        <p:nvSpPr>
          <p:cNvPr id="9" name="TextBox 8">
            <a:extLst>
              <a:ext uri="{FF2B5EF4-FFF2-40B4-BE49-F238E27FC236}">
                <a16:creationId xmlns:a16="http://schemas.microsoft.com/office/drawing/2014/main" id="{DB902041-9D8B-E2A8-DD79-1307A73EB633}"/>
              </a:ext>
            </a:extLst>
          </p:cNvPr>
          <p:cNvSpPr txBox="1"/>
          <p:nvPr/>
        </p:nvSpPr>
        <p:spPr>
          <a:xfrm rot="433694">
            <a:off x="8406018" y="2642082"/>
            <a:ext cx="2132693" cy="400110"/>
          </a:xfrm>
          <a:prstGeom prst="rect">
            <a:avLst/>
          </a:prstGeom>
          <a:solidFill>
            <a:schemeClr val="bg1"/>
          </a:solidFill>
        </p:spPr>
        <p:txBody>
          <a:bodyPr wrap="square" rtlCol="0">
            <a:spAutoFit/>
          </a:bodyPr>
          <a:lstStyle/>
          <a:p>
            <a:r>
              <a:rPr lang="en-US" sz="2000" dirty="0"/>
              <a:t>{MIN[MinMax(D)]}</a:t>
            </a:r>
          </a:p>
        </p:txBody>
      </p:sp>
      <p:sp>
        <p:nvSpPr>
          <p:cNvPr id="10" name="TextBox 9">
            <a:extLst>
              <a:ext uri="{FF2B5EF4-FFF2-40B4-BE49-F238E27FC236}">
                <a16:creationId xmlns:a16="http://schemas.microsoft.com/office/drawing/2014/main" id="{D8072DAD-B0C1-0A08-7E54-8FDF5CAB9119}"/>
              </a:ext>
            </a:extLst>
          </p:cNvPr>
          <p:cNvSpPr txBox="1"/>
          <p:nvPr/>
        </p:nvSpPr>
        <p:spPr>
          <a:xfrm>
            <a:off x="6833640" y="2975995"/>
            <a:ext cx="314510" cy="400110"/>
          </a:xfrm>
          <a:prstGeom prst="rect">
            <a:avLst/>
          </a:prstGeom>
          <a:noFill/>
        </p:spPr>
        <p:txBody>
          <a:bodyPr wrap="none" rtlCol="0">
            <a:spAutoFit/>
          </a:bodyPr>
          <a:lstStyle/>
          <a:p>
            <a:r>
              <a:rPr lang="en-US" sz="2000" b="1" dirty="0"/>
              <a:t>2</a:t>
            </a:r>
          </a:p>
        </p:txBody>
      </p:sp>
      <p:sp>
        <p:nvSpPr>
          <p:cNvPr id="11" name="TextBox 10">
            <a:extLst>
              <a:ext uri="{FF2B5EF4-FFF2-40B4-BE49-F238E27FC236}">
                <a16:creationId xmlns:a16="http://schemas.microsoft.com/office/drawing/2014/main" id="{11A6E052-5E9B-2F4D-0DDE-AD252A27B8AC}"/>
              </a:ext>
            </a:extLst>
          </p:cNvPr>
          <p:cNvSpPr txBox="1"/>
          <p:nvPr/>
        </p:nvSpPr>
        <p:spPr>
          <a:xfrm>
            <a:off x="9568804" y="2975995"/>
            <a:ext cx="279400" cy="400110"/>
          </a:xfrm>
          <a:prstGeom prst="rect">
            <a:avLst/>
          </a:prstGeom>
          <a:noFill/>
        </p:spPr>
        <p:txBody>
          <a:bodyPr wrap="square" rtlCol="0">
            <a:spAutoFit/>
          </a:bodyPr>
          <a:lstStyle/>
          <a:p>
            <a:r>
              <a:rPr lang="en-US" sz="2000" b="1" dirty="0"/>
              <a:t>2</a:t>
            </a:r>
          </a:p>
        </p:txBody>
      </p:sp>
      <p:sp>
        <p:nvSpPr>
          <p:cNvPr id="12" name="TextBox 11">
            <a:extLst>
              <a:ext uri="{FF2B5EF4-FFF2-40B4-BE49-F238E27FC236}">
                <a16:creationId xmlns:a16="http://schemas.microsoft.com/office/drawing/2014/main" id="{5398F2E5-07F7-69E5-898A-8BFC3F6183B8}"/>
              </a:ext>
            </a:extLst>
          </p:cNvPr>
          <p:cNvSpPr txBox="1"/>
          <p:nvPr/>
        </p:nvSpPr>
        <p:spPr>
          <a:xfrm>
            <a:off x="2450237" y="2745910"/>
            <a:ext cx="941033" cy="646331"/>
          </a:xfrm>
          <a:prstGeom prst="rect">
            <a:avLst/>
          </a:prstGeom>
          <a:solidFill>
            <a:schemeClr val="bg1"/>
          </a:solidFill>
        </p:spPr>
        <p:txBody>
          <a:bodyPr wrap="square" rtlCol="0">
            <a:spAutoFit/>
          </a:bodyPr>
          <a:lstStyle/>
          <a:p>
            <a:endParaRPr lang="en-US" dirty="0"/>
          </a:p>
          <a:p>
            <a:endParaRPr lang="en-US" dirty="0"/>
          </a:p>
        </p:txBody>
      </p:sp>
    </p:spTree>
    <p:extLst>
      <p:ext uri="{BB962C8B-B14F-4D97-AF65-F5344CB8AC3E}">
        <p14:creationId xmlns:p14="http://schemas.microsoft.com/office/powerpoint/2010/main" val="982098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aphical user interface, text, application&#10;&#10;Description automatically generated">
            <a:extLst>
              <a:ext uri="{FF2B5EF4-FFF2-40B4-BE49-F238E27FC236}">
                <a16:creationId xmlns:a16="http://schemas.microsoft.com/office/drawing/2014/main" id="{500675E5-13E7-AC95-5F38-47A54EDD8C33}"/>
              </a:ext>
            </a:extLst>
          </p:cNvPr>
          <p:cNvPicPr>
            <a:picLocks noChangeAspect="1"/>
          </p:cNvPicPr>
          <p:nvPr/>
        </p:nvPicPr>
        <p:blipFill rotWithShape="1">
          <a:blip r:embed="rId2"/>
          <a:srcRect l="36294" t="38122" r="29898" b="16458"/>
          <a:stretch/>
        </p:blipFill>
        <p:spPr bwMode="auto">
          <a:xfrm>
            <a:off x="2044701" y="0"/>
            <a:ext cx="10693400" cy="7124700"/>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3548011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82C6B-F60C-4FEE-8907-BFF14B95FE5E}"/>
              </a:ext>
            </a:extLst>
          </p:cNvPr>
          <p:cNvSpPr>
            <a:spLocks noGrp="1"/>
          </p:cNvSpPr>
          <p:nvPr>
            <p:ph type="title"/>
          </p:nvPr>
        </p:nvSpPr>
        <p:spPr/>
        <p:txBody>
          <a:bodyPr>
            <a:normAutofit/>
          </a:bodyPr>
          <a:lstStyle/>
          <a:p>
            <a:r>
              <a:rPr lang="en-US" dirty="0"/>
              <a:t>Game Strategies in Intelligent Techniques. Second Version</a:t>
            </a:r>
          </a:p>
        </p:txBody>
      </p:sp>
      <p:sp>
        <p:nvSpPr>
          <p:cNvPr id="3" name="Content Placeholder 2">
            <a:extLst>
              <a:ext uri="{FF2B5EF4-FFF2-40B4-BE49-F238E27FC236}">
                <a16:creationId xmlns:a16="http://schemas.microsoft.com/office/drawing/2014/main" id="{7D9B8584-3AD9-45BF-AC48-C01B3CD41086}"/>
              </a:ext>
            </a:extLst>
          </p:cNvPr>
          <p:cNvSpPr>
            <a:spLocks noGrp="1"/>
          </p:cNvSpPr>
          <p:nvPr>
            <p:ph idx="1"/>
          </p:nvPr>
        </p:nvSpPr>
        <p:spPr/>
        <p:txBody>
          <a:bodyPr>
            <a:normAutofit fontScale="92500" lnSpcReduction="20000"/>
          </a:bodyPr>
          <a:lstStyle/>
          <a:p>
            <a:pPr>
              <a:buNone/>
            </a:pPr>
            <a:r>
              <a:rPr lang="en-US" sz="3200" dirty="0"/>
              <a:t>The technique embodied in this program #1 does not appear to meet any of our requirements for a good AI technique. Let's see if we can do better. First human player use strategies. An example is given below:</a:t>
            </a:r>
            <a:endParaRPr lang="en-US" dirty="0"/>
          </a:p>
          <a:p>
            <a:r>
              <a:rPr lang="en-US" dirty="0"/>
              <a:t>Initial Strategy</a:t>
            </a:r>
          </a:p>
          <a:p>
            <a:pPr lvl="1"/>
            <a:r>
              <a:rPr lang="en-US" dirty="0"/>
              <a:t>Move to corner square</a:t>
            </a:r>
          </a:p>
          <a:p>
            <a:pPr lvl="1"/>
            <a:r>
              <a:rPr lang="en-US" dirty="0"/>
              <a:t>Move to middle square</a:t>
            </a:r>
          </a:p>
          <a:p>
            <a:r>
              <a:rPr lang="en-US" dirty="0"/>
              <a:t>Move Strategy</a:t>
            </a:r>
          </a:p>
          <a:p>
            <a:pPr lvl="1"/>
            <a:r>
              <a:rPr lang="en-US" dirty="0"/>
              <a:t>I am winning – go for that</a:t>
            </a:r>
          </a:p>
          <a:p>
            <a:pPr lvl="1"/>
            <a:r>
              <a:rPr lang="en-US" dirty="0"/>
              <a:t>My opponent winning – block opponent</a:t>
            </a:r>
          </a:p>
          <a:p>
            <a:pPr lvl="1"/>
            <a:r>
              <a:rPr lang="en-US" dirty="0"/>
              <a:t>Rest –  call Make1-corner square strategies</a:t>
            </a:r>
          </a:p>
          <a:p>
            <a:pPr lvl="1"/>
            <a:r>
              <a:rPr lang="en-US" dirty="0"/>
              <a:t>Middle square – call Make 2-non-corner square strategies</a:t>
            </a:r>
          </a:p>
        </p:txBody>
      </p:sp>
    </p:spTree>
    <p:extLst>
      <p:ext uri="{BB962C8B-B14F-4D97-AF65-F5344CB8AC3E}">
        <p14:creationId xmlns:p14="http://schemas.microsoft.com/office/powerpoint/2010/main" val="3003034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228600"/>
            <a:ext cx="8305800" cy="6400800"/>
          </a:xfrm>
        </p:spPr>
        <p:txBody>
          <a:bodyPr>
            <a:normAutofit lnSpcReduction="10000"/>
          </a:bodyPr>
          <a:lstStyle/>
          <a:p>
            <a:pPr>
              <a:buNone/>
            </a:pPr>
            <a:r>
              <a:rPr lang="en-US" sz="1500" dirty="0"/>
              <a:t>	Let us incorporate some intelligent techniques in the Program #2 below:</a:t>
            </a:r>
          </a:p>
          <a:p>
            <a:pPr algn="ctr">
              <a:buNone/>
            </a:pPr>
            <a:r>
              <a:rPr lang="en-US" sz="1500" b="1" dirty="0"/>
              <a:t>Program 2</a:t>
            </a:r>
          </a:p>
          <a:p>
            <a:pPr>
              <a:buNone/>
            </a:pPr>
            <a:r>
              <a:rPr lang="en-US" sz="1500" b="1" dirty="0"/>
              <a:t>Data Structures</a:t>
            </a:r>
          </a:p>
          <a:p>
            <a:pPr>
              <a:buNone/>
            </a:pPr>
            <a:r>
              <a:rPr lang="en-US" sz="1500" dirty="0"/>
              <a:t>Board	 	A nine-element vector representing the board, as described for Program</a:t>
            </a:r>
          </a:p>
          <a:p>
            <a:pPr>
              <a:buNone/>
            </a:pPr>
            <a:r>
              <a:rPr lang="en-US" sz="1500" dirty="0"/>
              <a:t>			I . But instead of using the numbers 0, I , or 2 in each element,</a:t>
            </a:r>
          </a:p>
          <a:p>
            <a:pPr>
              <a:buNone/>
            </a:pPr>
            <a:r>
              <a:rPr lang="en-US" sz="1500" dirty="0"/>
              <a:t>			we store 2 (indicating blank), 3 (indicating X), or 5 (indicating O).</a:t>
            </a:r>
          </a:p>
          <a:p>
            <a:pPr>
              <a:buNone/>
            </a:pPr>
            <a:r>
              <a:rPr lang="en-US" sz="1500" dirty="0"/>
              <a:t>Turn		 An integer indicating which move of the game is about to be played;</a:t>
            </a:r>
          </a:p>
          <a:p>
            <a:pPr>
              <a:buNone/>
            </a:pPr>
            <a:r>
              <a:rPr lang="en-US" sz="1500" dirty="0"/>
              <a:t>			1 indicates the first move, 9 the last.</a:t>
            </a:r>
          </a:p>
          <a:p>
            <a:pPr>
              <a:buNone/>
            </a:pPr>
            <a:r>
              <a:rPr lang="en-US" sz="1500" b="1" dirty="0"/>
              <a:t>The Algorithm</a:t>
            </a:r>
          </a:p>
          <a:p>
            <a:pPr>
              <a:buNone/>
            </a:pPr>
            <a:r>
              <a:rPr lang="en-US" sz="1500" dirty="0"/>
              <a:t>			The main algorithm uses four sub procedures:</a:t>
            </a:r>
          </a:p>
          <a:p>
            <a:pPr>
              <a:buNone/>
            </a:pPr>
            <a:r>
              <a:rPr lang="en-US" sz="1500" dirty="0"/>
              <a:t>Make2		Returns 5 if the center square of the board is blank, that is, if Board[5]</a:t>
            </a:r>
          </a:p>
          <a:p>
            <a:pPr>
              <a:buNone/>
            </a:pPr>
            <a:r>
              <a:rPr lang="en-US" sz="1500" dirty="0"/>
              <a:t>			= 2. Otherwise, this function returns any blank non corner square</a:t>
            </a:r>
          </a:p>
          <a:p>
            <a:pPr>
              <a:buNone/>
            </a:pPr>
            <a:r>
              <a:rPr lang="en-US" sz="1500" dirty="0"/>
              <a:t>			( 2, 4, 6, or 8).</a:t>
            </a:r>
          </a:p>
          <a:p>
            <a:pPr>
              <a:buNone/>
            </a:pPr>
            <a:r>
              <a:rPr lang="en-US" sz="1500" dirty="0"/>
              <a:t>Make1		Returns corner square (1,3,7, or 9)- Corner Squares.</a:t>
            </a:r>
          </a:p>
          <a:p>
            <a:pPr>
              <a:buNone/>
            </a:pPr>
            <a:r>
              <a:rPr lang="en-US" sz="1500" dirty="0"/>
              <a:t>Posswin(</a:t>
            </a:r>
            <a:r>
              <a:rPr lang="en-US" sz="1500" i="1" dirty="0"/>
              <a:t>p</a:t>
            </a:r>
            <a:r>
              <a:rPr lang="en-US" sz="1500" dirty="0"/>
              <a:t>)		Returns 0 if player </a:t>
            </a:r>
            <a:r>
              <a:rPr lang="en-US" sz="1500" i="1" dirty="0"/>
              <a:t>p </a:t>
            </a:r>
            <a:r>
              <a:rPr lang="en-US" sz="1500" dirty="0"/>
              <a:t>cannot win on his next move; otherwise, it</a:t>
            </a:r>
          </a:p>
          <a:p>
            <a:pPr>
              <a:buNone/>
            </a:pPr>
            <a:r>
              <a:rPr lang="en-US" sz="1500" dirty="0"/>
              <a:t>			returns the number of the square that constitutes a winning move.</a:t>
            </a:r>
          </a:p>
          <a:p>
            <a:pPr>
              <a:buNone/>
            </a:pPr>
            <a:r>
              <a:rPr lang="en-US" sz="1500" dirty="0"/>
              <a:t>			This function will enable the program both to win and to block the</a:t>
            </a:r>
          </a:p>
          <a:p>
            <a:pPr>
              <a:buNone/>
            </a:pPr>
            <a:r>
              <a:rPr lang="en-US" sz="1500" dirty="0"/>
              <a:t>			opponent's win. Posswin operates by checking, one at a time, each</a:t>
            </a:r>
          </a:p>
          <a:p>
            <a:pPr>
              <a:buNone/>
            </a:pPr>
            <a:r>
              <a:rPr lang="en-US" sz="1500" dirty="0"/>
              <a:t>			of the rows, columns, and diagonals. Because of the way values are</a:t>
            </a:r>
          </a:p>
          <a:p>
            <a:pPr>
              <a:buNone/>
            </a:pPr>
            <a:r>
              <a:rPr lang="en-US" sz="1500" dirty="0"/>
              <a:t>			numbered, it can test an entire row (column or diagonal) to see if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228600"/>
            <a:ext cx="8305800" cy="6400800"/>
          </a:xfrm>
        </p:spPr>
        <p:txBody>
          <a:bodyPr>
            <a:normAutofit/>
          </a:bodyPr>
          <a:lstStyle/>
          <a:p>
            <a:pPr>
              <a:buNone/>
            </a:pPr>
            <a:r>
              <a:rPr lang="en-US" sz="1500" dirty="0"/>
              <a:t>			is a possible win by multiplying the values of its squares together.</a:t>
            </a:r>
          </a:p>
          <a:p>
            <a:pPr>
              <a:buNone/>
            </a:pPr>
            <a:r>
              <a:rPr lang="en-US" sz="1500" dirty="0"/>
              <a:t>			If the product is 18 (3 x 3 x 2), then X can win. If the product is 50</a:t>
            </a:r>
          </a:p>
          <a:p>
            <a:pPr>
              <a:buNone/>
            </a:pPr>
            <a:r>
              <a:rPr lang="en-US" sz="1500" dirty="0"/>
              <a:t>			(5 x 5 x 2), then 0 can win. If we find a winning row, we determine</a:t>
            </a:r>
          </a:p>
          <a:p>
            <a:pPr>
              <a:buNone/>
            </a:pPr>
            <a:r>
              <a:rPr lang="en-US" sz="1500" dirty="0"/>
              <a:t>			which element is blank and return the number of that square.</a:t>
            </a:r>
          </a:p>
          <a:p>
            <a:pPr>
              <a:buNone/>
            </a:pPr>
            <a:r>
              <a:rPr lang="en-US" sz="1500" dirty="0"/>
              <a:t>Go(</a:t>
            </a:r>
            <a:r>
              <a:rPr lang="en-US" sz="1500" i="1" dirty="0"/>
              <a:t>n</a:t>
            </a:r>
            <a:r>
              <a:rPr lang="en-US" sz="1500" dirty="0"/>
              <a:t>) </a:t>
            </a:r>
            <a:r>
              <a:rPr lang="en-US" sz="1500" i="1" dirty="0"/>
              <a:t>		</a:t>
            </a:r>
            <a:r>
              <a:rPr lang="en-US" sz="1500" dirty="0"/>
              <a:t>Makes a move in square </a:t>
            </a:r>
            <a:r>
              <a:rPr lang="en-US" sz="1500" i="1" dirty="0"/>
              <a:t>n</a:t>
            </a:r>
            <a:r>
              <a:rPr lang="en-US" sz="1500" dirty="0"/>
              <a:t>. This procedure sets Board[</a:t>
            </a:r>
            <a:r>
              <a:rPr lang="en-US" sz="1500" i="1" dirty="0"/>
              <a:t>n</a:t>
            </a:r>
            <a:r>
              <a:rPr lang="en-US" sz="1500" dirty="0"/>
              <a:t>] to 3 if</a:t>
            </a:r>
          </a:p>
          <a:p>
            <a:pPr>
              <a:buNone/>
            </a:pPr>
            <a:r>
              <a:rPr lang="en-US" sz="1500" dirty="0"/>
              <a:t>			Turn is odd, or 5 if Turn is even. It also increments Turn by one.</a:t>
            </a:r>
          </a:p>
          <a:p>
            <a:pPr>
              <a:buNone/>
            </a:pPr>
            <a:endParaRPr lang="en-US" sz="1500" dirty="0"/>
          </a:p>
          <a:p>
            <a:pPr>
              <a:buNone/>
            </a:pPr>
            <a:endParaRPr lang="en-US" sz="1500" dirty="0"/>
          </a:p>
          <a:p>
            <a:pPr>
              <a:buNone/>
            </a:pPr>
            <a:endParaRPr lang="en-US" sz="1500" dirty="0"/>
          </a:p>
          <a:p>
            <a:pPr>
              <a:buNone/>
            </a:pPr>
            <a:r>
              <a:rPr lang="en-US" sz="1500" dirty="0"/>
              <a:t>	</a:t>
            </a:r>
          </a:p>
        </p:txBody>
      </p:sp>
      <p:graphicFrame>
        <p:nvGraphicFramePr>
          <p:cNvPr id="2" name="Table 1">
            <a:extLst>
              <a:ext uri="{FF2B5EF4-FFF2-40B4-BE49-F238E27FC236}">
                <a16:creationId xmlns:a16="http://schemas.microsoft.com/office/drawing/2014/main" id="{5B911E72-9BC5-4B30-8914-BB914264CF00}"/>
              </a:ext>
            </a:extLst>
          </p:cNvPr>
          <p:cNvGraphicFramePr>
            <a:graphicFrameLocks noGrp="1"/>
          </p:cNvGraphicFramePr>
          <p:nvPr/>
        </p:nvGraphicFramePr>
        <p:xfrm>
          <a:off x="4114800" y="2174427"/>
          <a:ext cx="3124200" cy="1711325"/>
        </p:xfrm>
        <a:graphic>
          <a:graphicData uri="http://schemas.openxmlformats.org/drawingml/2006/table">
            <a:tbl>
              <a:tblPr firstRow="1" firstCol="1" bandRow="1">
                <a:tableStyleId>{5C22544A-7EE6-4342-B048-85BDC9FD1C3A}</a:tableStyleId>
              </a:tblPr>
              <a:tblGrid>
                <a:gridCol w="928143">
                  <a:extLst>
                    <a:ext uri="{9D8B030D-6E8A-4147-A177-3AD203B41FA5}">
                      <a16:colId xmlns:a16="http://schemas.microsoft.com/office/drawing/2014/main" val="2062455364"/>
                    </a:ext>
                  </a:extLst>
                </a:gridCol>
                <a:gridCol w="1118892">
                  <a:extLst>
                    <a:ext uri="{9D8B030D-6E8A-4147-A177-3AD203B41FA5}">
                      <a16:colId xmlns:a16="http://schemas.microsoft.com/office/drawing/2014/main" val="2816253387"/>
                    </a:ext>
                  </a:extLst>
                </a:gridCol>
                <a:gridCol w="1077165">
                  <a:extLst>
                    <a:ext uri="{9D8B030D-6E8A-4147-A177-3AD203B41FA5}">
                      <a16:colId xmlns:a16="http://schemas.microsoft.com/office/drawing/2014/main" val="3522963700"/>
                    </a:ext>
                  </a:extLst>
                </a:gridCol>
              </a:tblGrid>
              <a:tr h="592333">
                <a:tc>
                  <a:txBody>
                    <a:bodyPr/>
                    <a:lstStyle/>
                    <a:p>
                      <a:pPr marL="0" marR="0">
                        <a:lnSpc>
                          <a:spcPct val="107000"/>
                        </a:lnSpc>
                        <a:spcBef>
                          <a:spcPts val="0"/>
                        </a:spcBef>
                        <a:spcAft>
                          <a:spcPts val="0"/>
                        </a:spcAft>
                      </a:pPr>
                      <a:r>
                        <a:rPr lang="en-US" sz="1100" dirty="0">
                          <a:effectLst/>
                        </a:rPr>
                        <a:t> 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3526691"/>
                  </a:ext>
                </a:extLst>
              </a:tr>
              <a:tr h="559496">
                <a:tc>
                  <a:txBody>
                    <a:bodyPr/>
                    <a:lstStyle/>
                    <a:p>
                      <a:pPr marL="0" marR="0">
                        <a:lnSpc>
                          <a:spcPct val="107000"/>
                        </a:lnSpc>
                        <a:spcBef>
                          <a:spcPts val="0"/>
                        </a:spcBef>
                        <a:spcAft>
                          <a:spcPts val="0"/>
                        </a:spcAft>
                      </a:pPr>
                      <a:r>
                        <a:rPr lang="en-US" sz="1100" dirty="0">
                          <a:effectLst/>
                        </a:rPr>
                        <a:t> 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2363150"/>
                  </a:ext>
                </a:extLst>
              </a:tr>
              <a:tr h="559496">
                <a:tc>
                  <a:txBody>
                    <a:bodyPr/>
                    <a:lstStyle/>
                    <a:p>
                      <a:pPr marL="0" marR="0">
                        <a:lnSpc>
                          <a:spcPct val="107000"/>
                        </a:lnSpc>
                        <a:spcBef>
                          <a:spcPts val="0"/>
                        </a:spcBef>
                        <a:spcAft>
                          <a:spcPts val="0"/>
                        </a:spcAft>
                      </a:pPr>
                      <a:r>
                        <a:rPr lang="en-US" sz="1100" dirty="0">
                          <a:effectLst/>
                        </a:rPr>
                        <a:t> 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5484062"/>
                  </a:ext>
                </a:extLst>
              </a:tr>
            </a:tbl>
          </a:graphicData>
        </a:graphic>
      </p:graphicFrame>
      <p:sp>
        <p:nvSpPr>
          <p:cNvPr id="4" name="Rectangle 1">
            <a:extLst>
              <a:ext uri="{FF2B5EF4-FFF2-40B4-BE49-F238E27FC236}">
                <a16:creationId xmlns:a16="http://schemas.microsoft.com/office/drawing/2014/main" id="{3A84B235-42A2-4544-AF3E-FB3CED2FF45D}"/>
              </a:ext>
            </a:extLst>
          </p:cNvPr>
          <p:cNvSpPr>
            <a:spLocks noChangeArrowheads="1"/>
          </p:cNvSpPr>
          <p:nvPr/>
        </p:nvSpPr>
        <p:spPr bwMode="auto">
          <a:xfrm>
            <a:off x="3267076" y="17568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Table 4">
            <a:extLst>
              <a:ext uri="{FF2B5EF4-FFF2-40B4-BE49-F238E27FC236}">
                <a16:creationId xmlns:a16="http://schemas.microsoft.com/office/drawing/2014/main" id="{AE1E147E-3626-461C-97E3-32DDF5482DFD}"/>
              </a:ext>
            </a:extLst>
          </p:cNvPr>
          <p:cNvGraphicFramePr>
            <a:graphicFrameLocks noGrp="1"/>
          </p:cNvGraphicFramePr>
          <p:nvPr/>
        </p:nvGraphicFramePr>
        <p:xfrm>
          <a:off x="3267076" y="4302920"/>
          <a:ext cx="3124199" cy="1711325"/>
        </p:xfrm>
        <a:graphic>
          <a:graphicData uri="http://schemas.openxmlformats.org/drawingml/2006/table">
            <a:tbl>
              <a:tblPr firstRow="1" firstCol="1" bandRow="1">
                <a:tableStyleId>{5C22544A-7EE6-4342-B048-85BDC9FD1C3A}</a:tableStyleId>
              </a:tblPr>
              <a:tblGrid>
                <a:gridCol w="928143">
                  <a:extLst>
                    <a:ext uri="{9D8B030D-6E8A-4147-A177-3AD203B41FA5}">
                      <a16:colId xmlns:a16="http://schemas.microsoft.com/office/drawing/2014/main" val="1079057597"/>
                    </a:ext>
                  </a:extLst>
                </a:gridCol>
                <a:gridCol w="1118891">
                  <a:extLst>
                    <a:ext uri="{9D8B030D-6E8A-4147-A177-3AD203B41FA5}">
                      <a16:colId xmlns:a16="http://schemas.microsoft.com/office/drawing/2014/main" val="2705881437"/>
                    </a:ext>
                  </a:extLst>
                </a:gridCol>
                <a:gridCol w="1077165">
                  <a:extLst>
                    <a:ext uri="{9D8B030D-6E8A-4147-A177-3AD203B41FA5}">
                      <a16:colId xmlns:a16="http://schemas.microsoft.com/office/drawing/2014/main" val="4122778598"/>
                    </a:ext>
                  </a:extLst>
                </a:gridCol>
              </a:tblGrid>
              <a:tr h="592333">
                <a:tc>
                  <a:txBody>
                    <a:bodyPr/>
                    <a:lstStyle/>
                    <a:p>
                      <a:pPr marL="0" marR="0">
                        <a:lnSpc>
                          <a:spcPct val="107000"/>
                        </a:lnSpc>
                        <a:spcBef>
                          <a:spcPts val="0"/>
                        </a:spcBef>
                        <a:spcAft>
                          <a:spcPts val="0"/>
                        </a:spcAft>
                      </a:pPr>
                      <a:r>
                        <a:rPr lang="en-US" sz="1100" dirty="0">
                          <a:effectLst/>
                        </a:rPr>
                        <a:t> 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8103860"/>
                  </a:ext>
                </a:extLst>
              </a:tr>
              <a:tr h="559496">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 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21172661"/>
                  </a:ext>
                </a:extLst>
              </a:tr>
              <a:tr h="559496">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 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29374252"/>
                  </a:ext>
                </a:extLst>
              </a:tr>
            </a:tbl>
          </a:graphicData>
        </a:graphic>
      </p:graphicFrame>
      <p:sp>
        <p:nvSpPr>
          <p:cNvPr id="6" name="Rectangle 2">
            <a:extLst>
              <a:ext uri="{FF2B5EF4-FFF2-40B4-BE49-F238E27FC236}">
                <a16:creationId xmlns:a16="http://schemas.microsoft.com/office/drawing/2014/main" id="{473739FE-62A9-4FC3-989F-7F5B08CCA131}"/>
              </a:ext>
            </a:extLst>
          </p:cNvPr>
          <p:cNvSpPr>
            <a:spLocks noChangeArrowheads="1"/>
          </p:cNvSpPr>
          <p:nvPr/>
        </p:nvSpPr>
        <p:spPr bwMode="auto">
          <a:xfrm>
            <a:off x="3267076" y="1894513"/>
            <a:ext cx="504921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752263-5643-87EA-56B3-1A4199F2ED9C}"/>
              </a:ext>
            </a:extLst>
          </p:cNvPr>
          <p:cNvSpPr txBox="1"/>
          <p:nvPr/>
        </p:nvSpPr>
        <p:spPr>
          <a:xfrm>
            <a:off x="1752600" y="215173"/>
            <a:ext cx="8915400" cy="4122539"/>
          </a:xfrm>
          <a:prstGeom prst="rect">
            <a:avLst/>
          </a:prstGeom>
          <a:noFill/>
        </p:spPr>
        <p:txBody>
          <a:bodyPr wrap="square">
            <a:spAutoFit/>
          </a:bodyPr>
          <a:lstStyle/>
          <a:p>
            <a:pPr>
              <a:lnSpc>
                <a:spcPct val="107000"/>
              </a:lnSpc>
              <a:spcAft>
                <a:spcPts val="800"/>
              </a:spcAft>
            </a:pPr>
            <a:r>
              <a:rPr lang="en-US" sz="3200" b="1" dirty="0">
                <a:latin typeface="Aptos" panose="020B0004020202020204" pitchFamily="34" charset="0"/>
                <a:ea typeface="Aptos" panose="020B0004020202020204" pitchFamily="34" charset="0"/>
                <a:cs typeface="Times New Roman" panose="02020603050405020304" pitchFamily="18" charset="0"/>
              </a:rPr>
              <a:t>Algorithm for Intelligent System Playing Tic-Tac-Toe</a:t>
            </a:r>
            <a:endParaRPr lang="en-US"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dirty="0">
                <a:latin typeface="Aptos" panose="020B0004020202020204" pitchFamily="34" charset="0"/>
                <a:ea typeface="Aptos" panose="020B0004020202020204" pitchFamily="34" charset="0"/>
                <a:cs typeface="Times New Roman" panose="02020603050405020304" pitchFamily="18" charset="0"/>
              </a:rPr>
              <a:t>Initialize all nine squares to 2.</a:t>
            </a:r>
          </a:p>
          <a:p>
            <a:pPr>
              <a:lnSpc>
                <a:spcPct val="107000"/>
              </a:lnSpc>
              <a:spcAft>
                <a:spcPts val="800"/>
              </a:spcAft>
            </a:pPr>
            <a:r>
              <a:rPr lang="en-US" dirty="0">
                <a:latin typeface="Aptos" panose="020B0004020202020204" pitchFamily="34" charset="0"/>
                <a:ea typeface="Aptos" panose="020B0004020202020204" pitchFamily="34" charset="0"/>
                <a:cs typeface="Times New Roman" panose="02020603050405020304" pitchFamily="18" charset="0"/>
              </a:rPr>
              <a:t>i=1</a:t>
            </a:r>
          </a:p>
          <a:p>
            <a:pPr>
              <a:lnSpc>
                <a:spcPct val="107000"/>
              </a:lnSpc>
              <a:spcAft>
                <a:spcPts val="800"/>
              </a:spcAft>
            </a:pPr>
            <a:r>
              <a:rPr lang="en-US" dirty="0">
                <a:latin typeface="Aptos" panose="020B0004020202020204" pitchFamily="34" charset="0"/>
                <a:ea typeface="Aptos" panose="020B0004020202020204" pitchFamily="34" charset="0"/>
                <a:cs typeface="Times New Roman" panose="02020603050405020304" pitchFamily="18" charset="0"/>
              </a:rPr>
              <a:t>Player i and i+1 chose Make 2 or Make 1 and call them alternately.</a:t>
            </a:r>
          </a:p>
          <a:p>
            <a:pPr>
              <a:lnSpc>
                <a:spcPct val="107000"/>
              </a:lnSpc>
              <a:spcAft>
                <a:spcPts val="800"/>
              </a:spcAft>
            </a:pPr>
            <a:r>
              <a:rPr lang="en-US" dirty="0">
                <a:latin typeface="Aptos" panose="020B0004020202020204" pitchFamily="34" charset="0"/>
                <a:ea typeface="Aptos" panose="020B0004020202020204" pitchFamily="34" charset="0"/>
                <a:cs typeface="Times New Roman" panose="02020603050405020304" pitchFamily="18" charset="0"/>
              </a:rPr>
              <a:t>After the third move each player calls ‘possiblewin’ to check if he is winning to make a winning move or the opponent is winning to block him. Take an action accordingly.</a:t>
            </a:r>
          </a:p>
          <a:p>
            <a:pPr>
              <a:lnSpc>
                <a:spcPct val="107000"/>
              </a:lnSpc>
              <a:spcAft>
                <a:spcPts val="800"/>
              </a:spcAft>
            </a:pPr>
            <a:r>
              <a:rPr lang="en-US" dirty="0">
                <a:latin typeface="Aptos" panose="020B0004020202020204" pitchFamily="34" charset="0"/>
                <a:ea typeface="Aptos" panose="020B0004020202020204" pitchFamily="34" charset="0"/>
                <a:cs typeface="Times New Roman" panose="02020603050405020304" pitchFamily="18" charset="0"/>
              </a:rPr>
              <a:t>If possiblewin does not give winning move, then call Make 1 or Make 2 which ever has been selected by the player.</a:t>
            </a:r>
          </a:p>
          <a:p>
            <a:pPr>
              <a:lnSpc>
                <a:spcPct val="107000"/>
              </a:lnSpc>
              <a:spcAft>
                <a:spcPts val="800"/>
              </a:spcAft>
            </a:pPr>
            <a:r>
              <a:rPr lang="en-US" dirty="0">
                <a:latin typeface="Aptos" panose="020B0004020202020204" pitchFamily="34" charset="0"/>
                <a:ea typeface="Aptos" panose="020B0004020202020204" pitchFamily="34" charset="0"/>
                <a:cs typeface="Times New Roman" panose="02020603050405020304" pitchFamily="18" charset="0"/>
              </a:rPr>
              <a:t>Process continue with players alternate, till one player wins or the game is draw.</a:t>
            </a:r>
          </a:p>
        </p:txBody>
      </p:sp>
    </p:spTree>
    <p:extLst>
      <p:ext uri="{BB962C8B-B14F-4D97-AF65-F5344CB8AC3E}">
        <p14:creationId xmlns:p14="http://schemas.microsoft.com/office/powerpoint/2010/main" val="4212710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089C98-0888-4592-A25A-67D6E7B42274}"/>
              </a:ext>
            </a:extLst>
          </p:cNvPr>
          <p:cNvSpPr>
            <a:spLocks noGrp="1"/>
          </p:cNvSpPr>
          <p:nvPr>
            <p:ph idx="1"/>
          </p:nvPr>
        </p:nvSpPr>
        <p:spPr>
          <a:xfrm>
            <a:off x="2152650" y="1123950"/>
            <a:ext cx="8286750" cy="4362450"/>
          </a:xfrm>
        </p:spPr>
        <p:txBody>
          <a:bodyPr>
            <a:normAutofit fontScale="25000" lnSpcReduction="20000"/>
          </a:bodyPr>
          <a:lstStyle/>
          <a:p>
            <a:pPr marL="0" indent="0">
              <a:buNone/>
            </a:pPr>
            <a:r>
              <a:rPr lang="en-US" sz="4800" b="1" dirty="0"/>
              <a:t>X</a:t>
            </a:r>
            <a:r>
              <a:rPr lang="en-US" sz="4200" dirty="0"/>
              <a:t>	1. Make 2</a:t>
            </a:r>
          </a:p>
          <a:p>
            <a:pPr marL="0" indent="0">
              <a:buNone/>
            </a:pPr>
            <a:r>
              <a:rPr lang="en-US" sz="4800" b="1" dirty="0"/>
              <a:t>O</a:t>
            </a:r>
            <a:r>
              <a:rPr lang="en-US" sz="4200" dirty="0"/>
              <a:t>	2. Make 1</a:t>
            </a:r>
          </a:p>
          <a:p>
            <a:pPr marL="0" indent="0">
              <a:buNone/>
            </a:pPr>
            <a:r>
              <a:rPr lang="en-US" sz="4800" b="1" dirty="0"/>
              <a:t>X</a:t>
            </a:r>
            <a:r>
              <a:rPr lang="en-US" sz="4200" dirty="0"/>
              <a:t>	3. Make 2, If Board [2] is empty Go [2]</a:t>
            </a:r>
          </a:p>
          <a:p>
            <a:pPr marL="0" indent="0">
              <a:buNone/>
            </a:pPr>
            <a:r>
              <a:rPr lang="en-US" sz="4800" b="1" dirty="0"/>
              <a:t>O</a:t>
            </a:r>
            <a:r>
              <a:rPr lang="en-US" sz="4200" dirty="0"/>
              <a:t>	4. If Possiblewin (x) is not 0 then Go(Possiblewin (x)), </a:t>
            </a:r>
          </a:p>
          <a:p>
            <a:pPr marL="0" indent="0">
              <a:buNone/>
            </a:pPr>
            <a:r>
              <a:rPr lang="en-US" sz="4200" dirty="0"/>
              <a:t>	else Go (Make1)</a:t>
            </a:r>
          </a:p>
          <a:p>
            <a:pPr marL="0" indent="0">
              <a:buNone/>
            </a:pPr>
            <a:r>
              <a:rPr lang="en-US" sz="4800" b="1" dirty="0"/>
              <a:t>X</a:t>
            </a:r>
            <a:r>
              <a:rPr lang="en-US" sz="4200" dirty="0"/>
              <a:t>	5. If Possiblewin(O) is not 0 then Go(Possiblewin(O), </a:t>
            </a:r>
          </a:p>
          <a:p>
            <a:pPr marL="0" indent="0">
              <a:buNone/>
            </a:pPr>
            <a:r>
              <a:rPr lang="en-US" sz="4200" dirty="0"/>
              <a:t>	else Go (Make 2).</a:t>
            </a:r>
          </a:p>
          <a:p>
            <a:pPr marL="0" indent="0">
              <a:buNone/>
            </a:pPr>
            <a:r>
              <a:rPr lang="en-US" sz="4800" b="1" dirty="0"/>
              <a:t>O</a:t>
            </a:r>
            <a:r>
              <a:rPr lang="en-US" sz="4200" dirty="0"/>
              <a:t>	6. If Possiblewin (x) is not 0 then Go(Possiblewin (x)), </a:t>
            </a:r>
          </a:p>
          <a:p>
            <a:pPr marL="0" indent="0">
              <a:buNone/>
            </a:pPr>
            <a:r>
              <a:rPr lang="en-US" sz="4200" dirty="0"/>
              <a:t>	else Go (Make1)</a:t>
            </a:r>
          </a:p>
          <a:p>
            <a:pPr marL="0" indent="0">
              <a:buNone/>
            </a:pPr>
            <a:r>
              <a:rPr lang="en-US" sz="4800" b="1" dirty="0"/>
              <a:t>X</a:t>
            </a:r>
            <a:r>
              <a:rPr lang="en-US" sz="4200" dirty="0"/>
              <a:t>	7. If Possiblewin(O) is not 0 then Go(Possiblewin(O), </a:t>
            </a:r>
          </a:p>
          <a:p>
            <a:pPr marL="0" indent="0">
              <a:buNone/>
            </a:pPr>
            <a:r>
              <a:rPr lang="en-US" sz="4200" dirty="0"/>
              <a:t>	 If Possiblewin (x) is not 0 then Go(Possiblewin (x)),</a:t>
            </a:r>
          </a:p>
          <a:p>
            <a:pPr marL="0" indent="0">
              <a:buNone/>
            </a:pPr>
            <a:r>
              <a:rPr lang="en-US" sz="4200" dirty="0"/>
              <a:t>O	8.  If Possiblewin (x) is not 0 then Go(Possiblewin (x)), </a:t>
            </a:r>
          </a:p>
          <a:p>
            <a:pPr marL="0" indent="0">
              <a:buNone/>
            </a:pPr>
            <a:r>
              <a:rPr lang="en-US" sz="4200" dirty="0"/>
              <a:t>	else Go (Make1)</a:t>
            </a:r>
          </a:p>
          <a:p>
            <a:pPr marL="0" indent="0">
              <a:buNone/>
            </a:pPr>
            <a:r>
              <a:rPr lang="en-US" sz="4200" dirty="0"/>
              <a:t>X	9. If Possiblewin(O) is not 0 then Go(Possiblewin(O), </a:t>
            </a:r>
          </a:p>
          <a:p>
            <a:pPr marL="0" indent="0">
              <a:buNone/>
            </a:pPr>
            <a:r>
              <a:rPr lang="en-US" sz="4200" dirty="0"/>
              <a:t>	 If Possiblewin (x) is not 0 then Go(Possiblewin (x)),</a:t>
            </a:r>
          </a:p>
          <a:p>
            <a:pPr marL="0" indent="0">
              <a:buNone/>
            </a:pPr>
            <a:r>
              <a:rPr lang="en-US" sz="4200" dirty="0"/>
              <a:t>All Squares are full. The Game is Draw</a:t>
            </a:r>
          </a:p>
          <a:p>
            <a:pPr marL="0" indent="0">
              <a:buNone/>
            </a:pPr>
            <a:r>
              <a:rPr lang="en-US" sz="4200" dirty="0"/>
              <a:t>	</a:t>
            </a:r>
          </a:p>
          <a:p>
            <a:pPr marL="0" indent="0">
              <a:buNone/>
            </a:pPr>
            <a:endParaRPr lang="en-US" sz="1350" dirty="0"/>
          </a:p>
          <a:p>
            <a:pPr marL="0" indent="0">
              <a:buNone/>
            </a:pPr>
            <a:endParaRPr lang="en-US" sz="1350" dirty="0"/>
          </a:p>
        </p:txBody>
      </p:sp>
      <p:graphicFrame>
        <p:nvGraphicFramePr>
          <p:cNvPr id="4" name="Table 4">
            <a:extLst>
              <a:ext uri="{FF2B5EF4-FFF2-40B4-BE49-F238E27FC236}">
                <a16:creationId xmlns:a16="http://schemas.microsoft.com/office/drawing/2014/main" id="{11490672-666C-4CAC-9B22-2B81AD51A2CF}"/>
              </a:ext>
            </a:extLst>
          </p:cNvPr>
          <p:cNvGraphicFramePr>
            <a:graphicFrameLocks noGrp="1"/>
          </p:cNvGraphicFramePr>
          <p:nvPr/>
        </p:nvGraphicFramePr>
        <p:xfrm>
          <a:off x="7772400" y="2543175"/>
          <a:ext cx="2762250" cy="1524000"/>
        </p:xfrm>
        <a:graphic>
          <a:graphicData uri="http://schemas.openxmlformats.org/drawingml/2006/table">
            <a:tbl>
              <a:tblPr firstRow="1" bandRow="1">
                <a:tableStyleId>{0505E3EF-67EA-436B-97B2-0124C06EBD24}</a:tableStyleId>
              </a:tblPr>
              <a:tblGrid>
                <a:gridCol w="920750">
                  <a:extLst>
                    <a:ext uri="{9D8B030D-6E8A-4147-A177-3AD203B41FA5}">
                      <a16:colId xmlns:a16="http://schemas.microsoft.com/office/drawing/2014/main" val="3464880107"/>
                    </a:ext>
                  </a:extLst>
                </a:gridCol>
                <a:gridCol w="920750">
                  <a:extLst>
                    <a:ext uri="{9D8B030D-6E8A-4147-A177-3AD203B41FA5}">
                      <a16:colId xmlns:a16="http://schemas.microsoft.com/office/drawing/2014/main" val="3813991982"/>
                    </a:ext>
                  </a:extLst>
                </a:gridCol>
                <a:gridCol w="920750">
                  <a:extLst>
                    <a:ext uri="{9D8B030D-6E8A-4147-A177-3AD203B41FA5}">
                      <a16:colId xmlns:a16="http://schemas.microsoft.com/office/drawing/2014/main" val="4160510696"/>
                    </a:ext>
                  </a:extLst>
                </a:gridCol>
              </a:tblGrid>
              <a:tr h="508000">
                <a:tc>
                  <a:txBody>
                    <a:bodyPr/>
                    <a:lstStyle/>
                    <a:p>
                      <a:pPr algn="l"/>
                      <a:r>
                        <a:rPr lang="en-US" sz="1400" b="1" dirty="0"/>
                        <a:t>1</a:t>
                      </a:r>
                    </a:p>
                    <a:p>
                      <a:pPr algn="ctr"/>
                      <a:r>
                        <a:rPr lang="en-US" sz="1400" b="1" dirty="0"/>
                        <a:t>O</a:t>
                      </a:r>
                      <a:r>
                        <a:rPr lang="en-US" sz="1400" b="1" baseline="-25000" dirty="0"/>
                        <a:t>2</a:t>
                      </a:r>
                      <a:r>
                        <a:rPr lang="en-US" sz="1400" b="1" dirty="0"/>
                        <a:t>(5)</a:t>
                      </a:r>
                    </a:p>
                  </a:txBody>
                  <a:tcPr marL="68580" marR="68580" marT="34290" marB="34290"/>
                </a:tc>
                <a:tc>
                  <a:txBody>
                    <a:bodyPr/>
                    <a:lstStyle/>
                    <a:p>
                      <a:pPr algn="l"/>
                      <a:r>
                        <a:rPr lang="en-US" sz="1400" b="1" dirty="0"/>
                        <a:t>2</a:t>
                      </a:r>
                    </a:p>
                    <a:p>
                      <a:pPr algn="ctr"/>
                      <a:r>
                        <a:rPr lang="en-US" sz="1400" b="1" dirty="0"/>
                        <a:t>X</a:t>
                      </a:r>
                      <a:r>
                        <a:rPr lang="en-US" sz="1400" b="1" baseline="-25000" dirty="0"/>
                        <a:t>3</a:t>
                      </a:r>
                      <a:r>
                        <a:rPr lang="en-US" sz="1400" b="1" dirty="0"/>
                        <a:t>(3)</a:t>
                      </a:r>
                    </a:p>
                  </a:txBody>
                  <a:tcPr marL="68580" marR="68580" marT="34290" marB="34290"/>
                </a:tc>
                <a:tc>
                  <a:txBody>
                    <a:bodyPr/>
                    <a:lstStyle/>
                    <a:p>
                      <a:r>
                        <a:rPr lang="en-US" sz="1400" b="1" dirty="0"/>
                        <a:t>3</a:t>
                      </a:r>
                    </a:p>
                    <a:p>
                      <a:pPr algn="ctr"/>
                      <a:r>
                        <a:rPr lang="en-US" sz="1400" b="1" dirty="0"/>
                        <a:t>X</a:t>
                      </a:r>
                      <a:r>
                        <a:rPr lang="en-US" sz="1400" b="1" baseline="-25000" dirty="0"/>
                        <a:t>7</a:t>
                      </a:r>
                      <a:r>
                        <a:rPr lang="en-US" sz="1400" b="1" dirty="0"/>
                        <a:t>(3)</a:t>
                      </a:r>
                    </a:p>
                  </a:txBody>
                  <a:tcPr marL="68580" marR="68580" marT="34290" marB="34290"/>
                </a:tc>
                <a:extLst>
                  <a:ext uri="{0D108BD9-81ED-4DB2-BD59-A6C34878D82A}">
                    <a16:rowId xmlns:a16="http://schemas.microsoft.com/office/drawing/2014/main" val="847099619"/>
                  </a:ext>
                </a:extLst>
              </a:tr>
              <a:tr h="508000">
                <a:tc>
                  <a:txBody>
                    <a:bodyPr/>
                    <a:lstStyle/>
                    <a:p>
                      <a:r>
                        <a:rPr lang="en-US" sz="1400" b="1" dirty="0"/>
                        <a:t>4</a:t>
                      </a:r>
                    </a:p>
                    <a:p>
                      <a:pPr algn="ctr"/>
                      <a:r>
                        <a:rPr lang="en-US" sz="1400" b="1" dirty="0"/>
                        <a:t>X</a:t>
                      </a:r>
                      <a:r>
                        <a:rPr lang="en-US" sz="1400" b="1" baseline="-25000" dirty="0"/>
                        <a:t>5</a:t>
                      </a:r>
                      <a:r>
                        <a:rPr lang="en-US" sz="1400" b="1" dirty="0"/>
                        <a:t>(3)</a:t>
                      </a:r>
                    </a:p>
                  </a:txBody>
                  <a:tcPr marL="68580" marR="68580" marT="34290" marB="34290"/>
                </a:tc>
                <a:tc>
                  <a:txBody>
                    <a:bodyPr/>
                    <a:lstStyle/>
                    <a:p>
                      <a:r>
                        <a:rPr lang="en-US" sz="1400" b="1" dirty="0"/>
                        <a:t>5</a:t>
                      </a:r>
                    </a:p>
                    <a:p>
                      <a:pPr algn="ctr"/>
                      <a:r>
                        <a:rPr lang="en-US" sz="1400" b="1" dirty="0"/>
                        <a:t>X</a:t>
                      </a:r>
                      <a:r>
                        <a:rPr lang="en-US" sz="1400" b="1" baseline="-25000" dirty="0"/>
                        <a:t>1</a:t>
                      </a:r>
                      <a:r>
                        <a:rPr lang="en-US" sz="1400" b="1" dirty="0"/>
                        <a:t>(3)</a:t>
                      </a:r>
                    </a:p>
                  </a:txBody>
                  <a:tcPr marL="68580" marR="68580" marT="34290" marB="34290"/>
                </a:tc>
                <a:tc>
                  <a:txBody>
                    <a:bodyPr/>
                    <a:lstStyle/>
                    <a:p>
                      <a:r>
                        <a:rPr lang="en-US" sz="1400" b="1" dirty="0"/>
                        <a:t>6</a:t>
                      </a:r>
                    </a:p>
                    <a:p>
                      <a:pPr algn="ctr"/>
                      <a:r>
                        <a:rPr lang="en-US" sz="1400" b="1" dirty="0"/>
                        <a:t>O</a:t>
                      </a:r>
                      <a:r>
                        <a:rPr lang="en-US" sz="1400" b="1" baseline="-25000" dirty="0"/>
                        <a:t>6</a:t>
                      </a:r>
                      <a:r>
                        <a:rPr lang="en-US" sz="1400" b="1" dirty="0"/>
                        <a:t>(5)</a:t>
                      </a:r>
                    </a:p>
                  </a:txBody>
                  <a:tcPr marL="68580" marR="68580" marT="34290" marB="34290"/>
                </a:tc>
                <a:extLst>
                  <a:ext uri="{0D108BD9-81ED-4DB2-BD59-A6C34878D82A}">
                    <a16:rowId xmlns:a16="http://schemas.microsoft.com/office/drawing/2014/main" val="164704671"/>
                  </a:ext>
                </a:extLst>
              </a:tr>
              <a:tr h="508000">
                <a:tc>
                  <a:txBody>
                    <a:bodyPr/>
                    <a:lstStyle/>
                    <a:p>
                      <a:r>
                        <a:rPr lang="en-US" sz="1400" b="1" dirty="0"/>
                        <a:t>7</a:t>
                      </a:r>
                    </a:p>
                    <a:p>
                      <a:pPr algn="ctr"/>
                      <a:r>
                        <a:rPr lang="en-US" sz="1400" b="1" dirty="0"/>
                        <a:t>O</a:t>
                      </a:r>
                      <a:r>
                        <a:rPr lang="en-US" sz="1400" b="1" baseline="-25000" dirty="0"/>
                        <a:t>8</a:t>
                      </a:r>
                      <a:r>
                        <a:rPr lang="en-US" sz="1400" b="1" dirty="0"/>
                        <a:t>(5)</a:t>
                      </a:r>
                    </a:p>
                  </a:txBody>
                  <a:tcPr marL="68580" marR="68580" marT="34290" marB="34290"/>
                </a:tc>
                <a:tc>
                  <a:txBody>
                    <a:bodyPr/>
                    <a:lstStyle/>
                    <a:p>
                      <a:r>
                        <a:rPr lang="en-US" sz="1400" b="1" dirty="0"/>
                        <a:t>8</a:t>
                      </a:r>
                    </a:p>
                    <a:p>
                      <a:pPr algn="ctr"/>
                      <a:r>
                        <a:rPr lang="en-US" sz="1400" b="1" dirty="0"/>
                        <a:t>O</a:t>
                      </a:r>
                      <a:r>
                        <a:rPr lang="en-US" sz="1400" b="1" baseline="-25000" dirty="0"/>
                        <a:t>4</a:t>
                      </a:r>
                      <a:r>
                        <a:rPr lang="en-US" sz="1400" b="1" dirty="0"/>
                        <a:t>(5)</a:t>
                      </a:r>
                    </a:p>
                  </a:txBody>
                  <a:tcPr marL="68580" marR="68580" marT="34290" marB="34290"/>
                </a:tc>
                <a:tc>
                  <a:txBody>
                    <a:bodyPr/>
                    <a:lstStyle/>
                    <a:p>
                      <a:r>
                        <a:rPr lang="en-US" sz="1400" b="1" dirty="0"/>
                        <a:t>9</a:t>
                      </a:r>
                    </a:p>
                    <a:p>
                      <a:pPr algn="ctr"/>
                      <a:r>
                        <a:rPr lang="en-US" sz="1400" b="1" dirty="0"/>
                        <a:t>X</a:t>
                      </a:r>
                      <a:r>
                        <a:rPr lang="en-US" sz="1400" b="1" baseline="-25000" dirty="0"/>
                        <a:t>9</a:t>
                      </a:r>
                      <a:r>
                        <a:rPr lang="en-US" sz="1400" b="1" dirty="0"/>
                        <a:t>(3)</a:t>
                      </a:r>
                    </a:p>
                  </a:txBody>
                  <a:tcPr marL="68580" marR="68580" marT="34290" marB="34290"/>
                </a:tc>
                <a:extLst>
                  <a:ext uri="{0D108BD9-81ED-4DB2-BD59-A6C34878D82A}">
                    <a16:rowId xmlns:a16="http://schemas.microsoft.com/office/drawing/2014/main" val="887646109"/>
                  </a:ext>
                </a:extLst>
              </a:tr>
            </a:tbl>
          </a:graphicData>
        </a:graphic>
      </p:graphicFrame>
      <p:graphicFrame>
        <p:nvGraphicFramePr>
          <p:cNvPr id="2" name="Table 1">
            <a:extLst>
              <a:ext uri="{FF2B5EF4-FFF2-40B4-BE49-F238E27FC236}">
                <a16:creationId xmlns:a16="http://schemas.microsoft.com/office/drawing/2014/main" id="{2544CD3C-E10D-4D7F-B8EE-3E0F579273C3}"/>
              </a:ext>
            </a:extLst>
          </p:cNvPr>
          <p:cNvGraphicFramePr>
            <a:graphicFrameLocks noGrp="1"/>
          </p:cNvGraphicFramePr>
          <p:nvPr/>
        </p:nvGraphicFramePr>
        <p:xfrm>
          <a:off x="7801897" y="609601"/>
          <a:ext cx="2524126" cy="1594645"/>
        </p:xfrm>
        <a:graphic>
          <a:graphicData uri="http://schemas.openxmlformats.org/drawingml/2006/table">
            <a:tbl>
              <a:tblPr firstRow="1" firstCol="1" bandRow="1">
                <a:tableStyleId>{5C22544A-7EE6-4342-B048-85BDC9FD1C3A}</a:tableStyleId>
              </a:tblPr>
              <a:tblGrid>
                <a:gridCol w="749872">
                  <a:extLst>
                    <a:ext uri="{9D8B030D-6E8A-4147-A177-3AD203B41FA5}">
                      <a16:colId xmlns:a16="http://schemas.microsoft.com/office/drawing/2014/main" val="1398433006"/>
                    </a:ext>
                  </a:extLst>
                </a:gridCol>
                <a:gridCol w="903983">
                  <a:extLst>
                    <a:ext uri="{9D8B030D-6E8A-4147-A177-3AD203B41FA5}">
                      <a16:colId xmlns:a16="http://schemas.microsoft.com/office/drawing/2014/main" val="4211386510"/>
                    </a:ext>
                  </a:extLst>
                </a:gridCol>
                <a:gridCol w="870271">
                  <a:extLst>
                    <a:ext uri="{9D8B030D-6E8A-4147-A177-3AD203B41FA5}">
                      <a16:colId xmlns:a16="http://schemas.microsoft.com/office/drawing/2014/main" val="4097349666"/>
                    </a:ext>
                  </a:extLst>
                </a:gridCol>
              </a:tblGrid>
              <a:tr h="551947">
                <a:tc>
                  <a:txBody>
                    <a:bodyPr/>
                    <a:lstStyle/>
                    <a:p>
                      <a:pPr marL="0" marR="0">
                        <a:lnSpc>
                          <a:spcPct val="107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0413759"/>
                  </a:ext>
                </a:extLst>
              </a:tr>
              <a:tr h="521349">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5355720"/>
                  </a:ext>
                </a:extLst>
              </a:tr>
              <a:tr h="521349">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0856197"/>
                  </a:ext>
                </a:extLst>
              </a:tr>
            </a:tbl>
          </a:graphicData>
        </a:graphic>
      </p:graphicFrame>
      <p:sp>
        <p:nvSpPr>
          <p:cNvPr id="5" name="Rectangle 1">
            <a:extLst>
              <a:ext uri="{FF2B5EF4-FFF2-40B4-BE49-F238E27FC236}">
                <a16:creationId xmlns:a16="http://schemas.microsoft.com/office/drawing/2014/main" id="{2399852A-E736-4C4B-876F-14C1B636F16E}"/>
              </a:ext>
            </a:extLst>
          </p:cNvPr>
          <p:cNvSpPr>
            <a:spLocks noChangeArrowheads="1"/>
          </p:cNvSpPr>
          <p:nvPr/>
        </p:nvSpPr>
        <p:spPr bwMode="auto">
          <a:xfrm>
            <a:off x="7801898" y="-1909286"/>
            <a:ext cx="40793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176125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251195-D0EA-4EAC-BCAE-9845180DB190}"/>
              </a:ext>
            </a:extLst>
          </p:cNvPr>
          <p:cNvSpPr txBox="1"/>
          <p:nvPr/>
        </p:nvSpPr>
        <p:spPr>
          <a:xfrm>
            <a:off x="2514600" y="762001"/>
            <a:ext cx="4572000" cy="646331"/>
          </a:xfrm>
          <a:prstGeom prst="rect">
            <a:avLst/>
          </a:prstGeom>
          <a:noFill/>
        </p:spPr>
        <p:txBody>
          <a:bodyPr wrap="square">
            <a:spAutoFit/>
          </a:bodyPr>
          <a:lstStyle/>
          <a:p>
            <a:r>
              <a:rPr lang="en-US" dirty="0"/>
              <a:t>       EXERCISE  TO BE DONE BY STUDENTS</a:t>
            </a:r>
          </a:p>
          <a:p>
            <a:r>
              <a:rPr lang="en-US" dirty="0"/>
              <a:t>Steps if X moves first and starts with Make1</a:t>
            </a:r>
          </a:p>
        </p:txBody>
      </p:sp>
      <p:graphicFrame>
        <p:nvGraphicFramePr>
          <p:cNvPr id="4" name="Table 4">
            <a:extLst>
              <a:ext uri="{FF2B5EF4-FFF2-40B4-BE49-F238E27FC236}">
                <a16:creationId xmlns:a16="http://schemas.microsoft.com/office/drawing/2014/main" id="{5D12FD24-E239-4041-A113-76874338E78C}"/>
              </a:ext>
            </a:extLst>
          </p:cNvPr>
          <p:cNvGraphicFramePr>
            <a:graphicFrameLocks noGrp="1"/>
          </p:cNvGraphicFramePr>
          <p:nvPr/>
        </p:nvGraphicFramePr>
        <p:xfrm>
          <a:off x="3048000" y="1924050"/>
          <a:ext cx="2762250" cy="1485900"/>
        </p:xfrm>
        <a:graphic>
          <a:graphicData uri="http://schemas.openxmlformats.org/drawingml/2006/table">
            <a:tbl>
              <a:tblPr firstRow="1" bandRow="1">
                <a:tableStyleId>{0505E3EF-67EA-436B-97B2-0124C06EBD24}</a:tableStyleId>
              </a:tblPr>
              <a:tblGrid>
                <a:gridCol w="920750">
                  <a:extLst>
                    <a:ext uri="{9D8B030D-6E8A-4147-A177-3AD203B41FA5}">
                      <a16:colId xmlns:a16="http://schemas.microsoft.com/office/drawing/2014/main" val="3464880107"/>
                    </a:ext>
                  </a:extLst>
                </a:gridCol>
                <a:gridCol w="920750">
                  <a:extLst>
                    <a:ext uri="{9D8B030D-6E8A-4147-A177-3AD203B41FA5}">
                      <a16:colId xmlns:a16="http://schemas.microsoft.com/office/drawing/2014/main" val="3813991982"/>
                    </a:ext>
                  </a:extLst>
                </a:gridCol>
                <a:gridCol w="920750">
                  <a:extLst>
                    <a:ext uri="{9D8B030D-6E8A-4147-A177-3AD203B41FA5}">
                      <a16:colId xmlns:a16="http://schemas.microsoft.com/office/drawing/2014/main" val="4160510696"/>
                    </a:ext>
                  </a:extLst>
                </a:gridCol>
              </a:tblGrid>
              <a:tr h="480060">
                <a:tc>
                  <a:txBody>
                    <a:bodyPr/>
                    <a:lstStyle/>
                    <a:p>
                      <a:pPr algn="l"/>
                      <a:r>
                        <a:rPr lang="en-US" sz="1400" b="1" dirty="0"/>
                        <a:t>1</a:t>
                      </a:r>
                    </a:p>
                    <a:p>
                      <a:pPr algn="ctr"/>
                      <a:r>
                        <a:rPr lang="en-US" sz="1400" b="1" dirty="0"/>
                        <a:t>X</a:t>
                      </a:r>
                      <a:r>
                        <a:rPr lang="en-US" sz="1400" b="1" baseline="-25000" dirty="0"/>
                        <a:t>1</a:t>
                      </a:r>
                      <a:r>
                        <a:rPr lang="en-US" sz="1400" b="1" baseline="0" dirty="0"/>
                        <a:t>(3)</a:t>
                      </a:r>
                      <a:endParaRPr lang="en-US" sz="1400" b="1" dirty="0"/>
                    </a:p>
                  </a:txBody>
                  <a:tcPr marL="68580" marR="68580" marT="34290" marB="34290"/>
                </a:tc>
                <a:tc>
                  <a:txBody>
                    <a:bodyPr/>
                    <a:lstStyle/>
                    <a:p>
                      <a:pPr algn="l"/>
                      <a:r>
                        <a:rPr lang="en-US" sz="1400" b="1" dirty="0"/>
                        <a:t>2</a:t>
                      </a:r>
                    </a:p>
                    <a:p>
                      <a:pPr algn="ctr"/>
                      <a:r>
                        <a:rPr lang="en-US" sz="1400" b="1" dirty="0"/>
                        <a:t>O</a:t>
                      </a:r>
                      <a:r>
                        <a:rPr lang="en-US" sz="1400" b="1" baseline="-25000" dirty="0"/>
                        <a:t>4</a:t>
                      </a:r>
                      <a:r>
                        <a:rPr lang="en-US" sz="1400" b="1" baseline="0" dirty="0"/>
                        <a:t>(5)</a:t>
                      </a:r>
                      <a:endParaRPr lang="en-US" sz="1400" b="1" dirty="0"/>
                    </a:p>
                  </a:txBody>
                  <a:tcPr marL="68580" marR="68580" marT="34290" marB="34290"/>
                </a:tc>
                <a:tc>
                  <a:txBody>
                    <a:bodyPr/>
                    <a:lstStyle/>
                    <a:p>
                      <a:r>
                        <a:rPr lang="en-US" sz="1400" b="1" dirty="0"/>
                        <a:t>3</a:t>
                      </a:r>
                    </a:p>
                    <a:p>
                      <a:pPr algn="ctr"/>
                      <a:r>
                        <a:rPr lang="en-US" sz="1400" b="1" dirty="0"/>
                        <a:t>X</a:t>
                      </a:r>
                      <a:r>
                        <a:rPr lang="en-US" sz="1400" b="1" baseline="-25000" dirty="0"/>
                        <a:t>7</a:t>
                      </a:r>
                      <a:r>
                        <a:rPr lang="en-US" sz="1400" b="1" baseline="0" dirty="0"/>
                        <a:t>(3)</a:t>
                      </a:r>
                      <a:endParaRPr lang="en-US" sz="1400" b="1" dirty="0"/>
                    </a:p>
                  </a:txBody>
                  <a:tcPr marL="68580" marR="68580" marT="34290" marB="34290"/>
                </a:tc>
                <a:extLst>
                  <a:ext uri="{0D108BD9-81ED-4DB2-BD59-A6C34878D82A}">
                    <a16:rowId xmlns:a16="http://schemas.microsoft.com/office/drawing/2014/main" val="847099619"/>
                  </a:ext>
                </a:extLst>
              </a:tr>
              <a:tr h="480060">
                <a:tc>
                  <a:txBody>
                    <a:bodyPr/>
                    <a:lstStyle/>
                    <a:p>
                      <a:r>
                        <a:rPr lang="en-US" sz="1400" b="1" dirty="0"/>
                        <a:t>4</a:t>
                      </a:r>
                    </a:p>
                    <a:p>
                      <a:pPr algn="ctr"/>
                      <a:r>
                        <a:rPr lang="en-US" sz="1400" b="1" dirty="0"/>
                        <a:t>X</a:t>
                      </a:r>
                      <a:r>
                        <a:rPr lang="en-US" sz="1400" b="1" baseline="-25000" dirty="0"/>
                        <a:t>9</a:t>
                      </a:r>
                      <a:r>
                        <a:rPr lang="en-US" sz="1400" b="1" baseline="0" dirty="0"/>
                        <a:t>(3)</a:t>
                      </a:r>
                      <a:endParaRPr lang="en-US" sz="1400" b="1" dirty="0"/>
                    </a:p>
                  </a:txBody>
                  <a:tcPr marL="68580" marR="68580" marT="34290" marB="34290"/>
                </a:tc>
                <a:tc>
                  <a:txBody>
                    <a:bodyPr/>
                    <a:lstStyle/>
                    <a:p>
                      <a:r>
                        <a:rPr lang="en-US" sz="1400" b="1" dirty="0"/>
                        <a:t>5</a:t>
                      </a:r>
                    </a:p>
                    <a:p>
                      <a:pPr algn="ctr"/>
                      <a:r>
                        <a:rPr lang="en-US" sz="1400" b="1" dirty="0"/>
                        <a:t>O</a:t>
                      </a:r>
                      <a:r>
                        <a:rPr lang="en-US" sz="1400" b="1" baseline="-25000" dirty="0"/>
                        <a:t>2</a:t>
                      </a:r>
                      <a:r>
                        <a:rPr lang="en-US" sz="1400" b="1" baseline="0" dirty="0"/>
                        <a:t>(5)</a:t>
                      </a:r>
                      <a:endParaRPr lang="en-US" sz="1400" b="1" dirty="0"/>
                    </a:p>
                  </a:txBody>
                  <a:tcPr marL="68580" marR="68580" marT="34290" marB="34290"/>
                </a:tc>
                <a:tc>
                  <a:txBody>
                    <a:bodyPr/>
                    <a:lstStyle/>
                    <a:p>
                      <a:r>
                        <a:rPr lang="en-US" sz="1400" b="1" dirty="0"/>
                        <a:t>6</a:t>
                      </a:r>
                    </a:p>
                    <a:p>
                      <a:pPr algn="ctr"/>
                      <a:r>
                        <a:rPr lang="en-US" sz="1400" b="1" dirty="0"/>
                        <a:t>O</a:t>
                      </a:r>
                      <a:r>
                        <a:rPr lang="en-US" sz="1400" b="1" baseline="-25000" dirty="0"/>
                        <a:t>8</a:t>
                      </a:r>
                      <a:r>
                        <a:rPr lang="en-US" sz="1400" b="1" dirty="0"/>
                        <a:t>(5)</a:t>
                      </a:r>
                    </a:p>
                  </a:txBody>
                  <a:tcPr marL="68580" marR="68580" marT="34290" marB="34290"/>
                </a:tc>
                <a:extLst>
                  <a:ext uri="{0D108BD9-81ED-4DB2-BD59-A6C34878D82A}">
                    <a16:rowId xmlns:a16="http://schemas.microsoft.com/office/drawing/2014/main" val="164704671"/>
                  </a:ext>
                </a:extLst>
              </a:tr>
              <a:tr h="480060">
                <a:tc>
                  <a:txBody>
                    <a:bodyPr/>
                    <a:lstStyle/>
                    <a:p>
                      <a:r>
                        <a:rPr lang="en-US" sz="1400" b="1" dirty="0"/>
                        <a:t>7</a:t>
                      </a:r>
                    </a:p>
                    <a:p>
                      <a:pPr algn="ctr"/>
                      <a:r>
                        <a:rPr lang="en-US" sz="1400" b="1" dirty="0"/>
                        <a:t>O</a:t>
                      </a:r>
                      <a:r>
                        <a:rPr lang="en-US" sz="1400" b="1" baseline="-25000" dirty="0"/>
                        <a:t>6</a:t>
                      </a:r>
                      <a:r>
                        <a:rPr lang="en-US" sz="1400" b="1" dirty="0"/>
                        <a:t>(5)</a:t>
                      </a:r>
                    </a:p>
                  </a:txBody>
                  <a:tcPr marL="68580" marR="68580" marT="34290" marB="34290"/>
                </a:tc>
                <a:tc>
                  <a:txBody>
                    <a:bodyPr/>
                    <a:lstStyle/>
                    <a:p>
                      <a:r>
                        <a:rPr lang="en-US" sz="1400" b="1" dirty="0"/>
                        <a:t>8</a:t>
                      </a:r>
                    </a:p>
                    <a:p>
                      <a:pPr algn="ctr"/>
                      <a:r>
                        <a:rPr lang="en-US" sz="1400" b="1" dirty="0"/>
                        <a:t>X</a:t>
                      </a:r>
                      <a:r>
                        <a:rPr lang="en-US" sz="1400" b="1" baseline="-25000" dirty="0"/>
                        <a:t>5</a:t>
                      </a:r>
                      <a:r>
                        <a:rPr lang="en-US" sz="1400" b="1" dirty="0"/>
                        <a:t>(3)</a:t>
                      </a:r>
                    </a:p>
                  </a:txBody>
                  <a:tcPr marL="68580" marR="68580" marT="34290" marB="34290"/>
                </a:tc>
                <a:tc>
                  <a:txBody>
                    <a:bodyPr/>
                    <a:lstStyle/>
                    <a:p>
                      <a:r>
                        <a:rPr lang="en-US" sz="1400" b="1" dirty="0"/>
                        <a:t>9</a:t>
                      </a:r>
                    </a:p>
                    <a:p>
                      <a:pPr algn="ctr"/>
                      <a:r>
                        <a:rPr lang="en-US" sz="1400" b="1" dirty="0"/>
                        <a:t>X</a:t>
                      </a:r>
                      <a:r>
                        <a:rPr lang="en-US" sz="1400" b="1" baseline="-25000" dirty="0"/>
                        <a:t>3</a:t>
                      </a:r>
                      <a:r>
                        <a:rPr lang="en-US" sz="1400" b="1" dirty="0"/>
                        <a:t>(3)</a:t>
                      </a:r>
                    </a:p>
                  </a:txBody>
                  <a:tcPr marL="68580" marR="68580" marT="34290" marB="34290"/>
                </a:tc>
                <a:extLst>
                  <a:ext uri="{0D108BD9-81ED-4DB2-BD59-A6C34878D82A}">
                    <a16:rowId xmlns:a16="http://schemas.microsoft.com/office/drawing/2014/main" val="887646109"/>
                  </a:ext>
                </a:extLst>
              </a:tr>
            </a:tbl>
          </a:graphicData>
        </a:graphic>
      </p:graphicFrame>
    </p:spTree>
    <p:extLst>
      <p:ext uri="{BB962C8B-B14F-4D97-AF65-F5344CB8AC3E}">
        <p14:creationId xmlns:p14="http://schemas.microsoft.com/office/powerpoint/2010/main" val="2079660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A8BE8B-A0CA-42CD-A7BB-8EFEC4B10F50}"/>
              </a:ext>
            </a:extLst>
          </p:cNvPr>
          <p:cNvSpPr txBox="1"/>
          <p:nvPr/>
        </p:nvSpPr>
        <p:spPr>
          <a:xfrm>
            <a:off x="1752600" y="1028343"/>
            <a:ext cx="8077200" cy="3970318"/>
          </a:xfrm>
          <a:prstGeom prst="rect">
            <a:avLst/>
          </a:prstGeom>
          <a:noFill/>
        </p:spPr>
        <p:txBody>
          <a:bodyPr wrap="square">
            <a:spAutoFit/>
          </a:bodyPr>
          <a:lstStyle/>
          <a:p>
            <a:pPr>
              <a:buNone/>
            </a:pPr>
            <a:r>
              <a:rPr lang="en-US" b="1" dirty="0"/>
              <a:t>Comments on Program #2</a:t>
            </a:r>
          </a:p>
          <a:p>
            <a:pPr>
              <a:buNone/>
            </a:pPr>
            <a:r>
              <a:rPr lang="en-US" dirty="0"/>
              <a:t>This program is not quite as efficient in terms of time as the first one since it has to</a:t>
            </a:r>
          </a:p>
          <a:p>
            <a:pPr>
              <a:buNone/>
            </a:pPr>
            <a:r>
              <a:rPr lang="en-US" dirty="0"/>
              <a:t>check several conditions before making each move. But it is a lot more efficient in</a:t>
            </a:r>
          </a:p>
          <a:p>
            <a:pPr>
              <a:buNone/>
            </a:pPr>
            <a:r>
              <a:rPr lang="en-US" dirty="0"/>
              <a:t>terms of space. It is also a lot easier to understand the program's strategy or to change the strategy if desired. But the total strategy has still been figured out in advance by the programmer. Any bugs in the programmer's tic-tac-toe playing skill will show up in the program's play. And we still cannot generalize any of the program's knowledge to a different domain, such as three-dimensional tic-tac-toe.</a:t>
            </a:r>
          </a:p>
          <a:p>
            <a:r>
              <a:rPr lang="en-US" b="1" dirty="0"/>
              <a:t>Very importantly, it takes too much search time to check every row and column.</a:t>
            </a:r>
          </a:p>
          <a:p>
            <a:pPr>
              <a:buNone/>
            </a:pPr>
            <a:endParaRPr lang="en-US" dirty="0"/>
          </a:p>
          <a:p>
            <a:pPr>
              <a:buNone/>
            </a:pPr>
            <a:r>
              <a:rPr lang="en-US" dirty="0"/>
              <a:t>Improvements in Program #3:</a:t>
            </a:r>
          </a:p>
          <a:p>
            <a:pPr>
              <a:buNone/>
            </a:pPr>
            <a:r>
              <a:rPr lang="en-US" dirty="0"/>
              <a:t>Use of Magic Square:</a:t>
            </a:r>
          </a:p>
          <a:p>
            <a:pPr>
              <a:buNone/>
            </a:pPr>
            <a:r>
              <a:rPr lang="en-US" dirty="0"/>
              <a:t>				</a:t>
            </a:r>
          </a:p>
          <a:p>
            <a:pPr>
              <a:buNone/>
            </a:pPr>
            <a:r>
              <a:rPr lang="en-US" dirty="0"/>
              <a:t>				</a:t>
            </a:r>
          </a:p>
        </p:txBody>
      </p:sp>
      <p:pic>
        <p:nvPicPr>
          <p:cNvPr id="2" name="Picture 1">
            <a:extLst>
              <a:ext uri="{FF2B5EF4-FFF2-40B4-BE49-F238E27FC236}">
                <a16:creationId xmlns:a16="http://schemas.microsoft.com/office/drawing/2014/main" id="{41A84F3A-4BD5-963F-91BD-00EF4FCC9301}"/>
              </a:ext>
            </a:extLst>
          </p:cNvPr>
          <p:cNvPicPr>
            <a:picLocks noChangeAspect="1"/>
          </p:cNvPicPr>
          <p:nvPr/>
        </p:nvPicPr>
        <p:blipFill>
          <a:blip r:embed="rId2"/>
          <a:stretch>
            <a:fillRect/>
          </a:stretch>
        </p:blipFill>
        <p:spPr>
          <a:xfrm>
            <a:off x="5029200" y="5257801"/>
            <a:ext cx="1158340" cy="1255885"/>
          </a:xfrm>
          <a:prstGeom prst="rect">
            <a:avLst/>
          </a:prstGeom>
        </p:spPr>
      </p:pic>
    </p:spTree>
    <p:extLst>
      <p:ext uri="{BB962C8B-B14F-4D97-AF65-F5344CB8AC3E}">
        <p14:creationId xmlns:p14="http://schemas.microsoft.com/office/powerpoint/2010/main" val="744454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52D0273-F206-4966-9D28-135C6BFC9349}"/>
              </a:ext>
            </a:extLst>
          </p:cNvPr>
          <p:cNvSpPr txBox="1"/>
          <p:nvPr/>
        </p:nvSpPr>
        <p:spPr>
          <a:xfrm>
            <a:off x="4800600" y="6019800"/>
            <a:ext cx="1143000" cy="369332"/>
          </a:xfrm>
          <a:prstGeom prst="rect">
            <a:avLst/>
          </a:prstGeom>
          <a:noFill/>
        </p:spPr>
        <p:txBody>
          <a:bodyPr wrap="square" rtlCol="0">
            <a:spAutoFit/>
          </a:bodyPr>
          <a:lstStyle/>
          <a:p>
            <a:r>
              <a:rPr lang="en-US" dirty="0"/>
              <a:t> </a:t>
            </a:r>
          </a:p>
        </p:txBody>
      </p:sp>
      <p:sp>
        <p:nvSpPr>
          <p:cNvPr id="9" name="TextBox 8">
            <a:extLst>
              <a:ext uri="{FF2B5EF4-FFF2-40B4-BE49-F238E27FC236}">
                <a16:creationId xmlns:a16="http://schemas.microsoft.com/office/drawing/2014/main" id="{F049471A-5634-405B-8A58-BAD508F995F3}"/>
              </a:ext>
            </a:extLst>
          </p:cNvPr>
          <p:cNvSpPr txBox="1"/>
          <p:nvPr/>
        </p:nvSpPr>
        <p:spPr>
          <a:xfrm>
            <a:off x="1905000" y="887969"/>
            <a:ext cx="8458200" cy="7786747"/>
          </a:xfrm>
          <a:prstGeom prst="rect">
            <a:avLst/>
          </a:prstGeom>
          <a:noFill/>
        </p:spPr>
        <p:txBody>
          <a:bodyPr wrap="square">
            <a:spAutoFit/>
          </a:bodyPr>
          <a:lstStyle/>
          <a:p>
            <a:pPr algn="ctr"/>
            <a:r>
              <a:rPr lang="en-US" sz="3200" b="1" dirty="0"/>
              <a:t>Intelligent Systems-Version Three</a:t>
            </a:r>
          </a:p>
          <a:p>
            <a:pPr algn="ctr"/>
            <a:endParaRPr lang="en-US" dirty="0"/>
          </a:p>
          <a:p>
            <a:pPr algn="ctr"/>
            <a:r>
              <a:rPr lang="en-US" dirty="0"/>
              <a:t>Program #2 is good, but it requires searching and testing for all rows, columns, and diagonals, which makes it inefficient. We will use magic squares to avoid searching. It is done in the  Program #3 below:</a:t>
            </a:r>
            <a:endParaRPr lang="en-US" b="1" dirty="0"/>
          </a:p>
          <a:p>
            <a:pPr algn="ctr">
              <a:buNone/>
            </a:pPr>
            <a:endParaRPr lang="en-US" b="1" dirty="0"/>
          </a:p>
          <a:p>
            <a:pPr>
              <a:buNone/>
            </a:pPr>
            <a:r>
              <a:rPr lang="en-US" dirty="0"/>
              <a:t>Similarities with Program #2:</a:t>
            </a:r>
          </a:p>
          <a:p>
            <a:pPr marL="342900" indent="-342900">
              <a:spcBef>
                <a:spcPct val="20000"/>
              </a:spcBef>
              <a:defRPr/>
            </a:pPr>
            <a:r>
              <a:rPr lang="en-US" sz="1500" b="1" dirty="0">
                <a:solidFill>
                  <a:prstClr val="black"/>
                </a:solidFill>
                <a:latin typeface="Calibri"/>
              </a:rPr>
              <a:t>Data Structures</a:t>
            </a:r>
          </a:p>
          <a:p>
            <a:pPr marL="342900" indent="-342900">
              <a:spcBef>
                <a:spcPct val="20000"/>
              </a:spcBef>
              <a:defRPr/>
            </a:pPr>
            <a:r>
              <a:rPr lang="en-US" sz="1500" dirty="0">
                <a:solidFill>
                  <a:prstClr val="black"/>
                </a:solidFill>
                <a:latin typeface="Calibri"/>
              </a:rPr>
              <a:t>Board	 	A nine-element vector representing the board, as described for the Program</a:t>
            </a:r>
          </a:p>
          <a:p>
            <a:pPr marL="342900" indent="-342900">
              <a:spcBef>
                <a:spcPct val="20000"/>
              </a:spcBef>
              <a:defRPr/>
            </a:pPr>
            <a:r>
              <a:rPr lang="en-US" sz="1500" dirty="0">
                <a:solidFill>
                  <a:prstClr val="black"/>
                </a:solidFill>
                <a:latin typeface="Calibri"/>
              </a:rPr>
              <a:t>			I . But instead of using the numbers 0, I, or 2 in each element,</a:t>
            </a:r>
          </a:p>
          <a:p>
            <a:pPr marL="342900" indent="-342900">
              <a:spcBef>
                <a:spcPct val="20000"/>
              </a:spcBef>
              <a:defRPr/>
            </a:pPr>
            <a:r>
              <a:rPr lang="en-US" sz="1500" dirty="0">
                <a:solidFill>
                  <a:prstClr val="black"/>
                </a:solidFill>
                <a:latin typeface="Calibri"/>
              </a:rPr>
              <a:t>			we store 2 (indicating blank), 3 (indicating X), or 5 (indicating O).</a:t>
            </a:r>
          </a:p>
          <a:p>
            <a:pPr marL="342900" indent="-342900">
              <a:spcBef>
                <a:spcPct val="20000"/>
              </a:spcBef>
              <a:defRPr/>
            </a:pPr>
            <a:endParaRPr lang="en-US" sz="1500" dirty="0">
              <a:solidFill>
                <a:prstClr val="black"/>
              </a:solidFill>
              <a:latin typeface="Calibri"/>
            </a:endParaRPr>
          </a:p>
          <a:p>
            <a:pPr marL="342900" indent="-342900">
              <a:spcBef>
                <a:spcPct val="20000"/>
              </a:spcBef>
              <a:defRPr/>
            </a:pPr>
            <a:r>
              <a:rPr lang="en-US" sz="1500" dirty="0">
                <a:solidFill>
                  <a:prstClr val="black"/>
                </a:solidFill>
                <a:latin typeface="Calibri"/>
              </a:rPr>
              <a:t>Turn		 An integer indicating which move of the game is about to be played;</a:t>
            </a:r>
          </a:p>
          <a:p>
            <a:pPr marL="342900" indent="-342900">
              <a:spcBef>
                <a:spcPct val="20000"/>
              </a:spcBef>
              <a:defRPr/>
            </a:pPr>
            <a:r>
              <a:rPr lang="en-US" sz="1500" dirty="0">
                <a:solidFill>
                  <a:prstClr val="black"/>
                </a:solidFill>
                <a:latin typeface="Calibri"/>
              </a:rPr>
              <a:t>			1 indicates the first move, and 9 the last.</a:t>
            </a:r>
          </a:p>
          <a:p>
            <a:pPr marL="342900" indent="-342900">
              <a:spcBef>
                <a:spcPct val="20000"/>
              </a:spcBef>
              <a:defRPr/>
            </a:pPr>
            <a:r>
              <a:rPr lang="en-US" sz="1500" b="1" dirty="0">
                <a:solidFill>
                  <a:prstClr val="black"/>
                </a:solidFill>
                <a:latin typeface="Calibri"/>
              </a:rPr>
              <a:t>The Algorithm</a:t>
            </a:r>
          </a:p>
          <a:p>
            <a:pPr marL="342900" indent="-342900">
              <a:spcBef>
                <a:spcPct val="20000"/>
              </a:spcBef>
              <a:defRPr/>
            </a:pPr>
            <a:r>
              <a:rPr lang="en-US" sz="1500" dirty="0">
                <a:solidFill>
                  <a:prstClr val="black"/>
                </a:solidFill>
                <a:latin typeface="Calibri"/>
              </a:rPr>
              <a:t>			The main algorithm uses three sub-procedures:</a:t>
            </a:r>
          </a:p>
          <a:p>
            <a:pPr marL="342900" indent="-342900">
              <a:spcBef>
                <a:spcPct val="20000"/>
              </a:spcBef>
              <a:defRPr/>
            </a:pPr>
            <a:r>
              <a:rPr lang="en-US" sz="1500" dirty="0">
                <a:solidFill>
                  <a:prstClr val="black"/>
                </a:solidFill>
                <a:latin typeface="Calibri"/>
              </a:rPr>
              <a:t>Make2		Returns 5 if the center square of the board is blank, that is, if Board[5]</a:t>
            </a:r>
          </a:p>
          <a:p>
            <a:pPr marL="342900" indent="-342900">
              <a:spcBef>
                <a:spcPct val="20000"/>
              </a:spcBef>
              <a:defRPr/>
            </a:pPr>
            <a:r>
              <a:rPr lang="en-US" sz="1500" dirty="0">
                <a:solidFill>
                  <a:prstClr val="black"/>
                </a:solidFill>
                <a:latin typeface="Calibri"/>
              </a:rPr>
              <a:t>			= 2. Otherwise, this function returns any blank non-corner square</a:t>
            </a:r>
          </a:p>
          <a:p>
            <a:pPr marL="342900" indent="-342900">
              <a:spcBef>
                <a:spcPct val="20000"/>
              </a:spcBef>
              <a:defRPr/>
            </a:pPr>
            <a:r>
              <a:rPr lang="en-US" sz="1500" dirty="0">
                <a:solidFill>
                  <a:prstClr val="black"/>
                </a:solidFill>
                <a:latin typeface="Calibri"/>
              </a:rPr>
              <a:t>			( 2, 4, 6, or 8).</a:t>
            </a:r>
          </a:p>
          <a:p>
            <a:pPr marL="342900" indent="-342900">
              <a:spcBef>
                <a:spcPct val="20000"/>
              </a:spcBef>
              <a:defRPr/>
            </a:pPr>
            <a:r>
              <a:rPr lang="en-US" sz="1500" dirty="0">
                <a:solidFill>
                  <a:prstClr val="black"/>
                </a:solidFill>
                <a:latin typeface="Calibri"/>
              </a:rPr>
              <a:t>Make1		Returns corner square (1,3,7, or 9)- Corner Squares.</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pic>
        <p:nvPicPr>
          <p:cNvPr id="11" name="Picture 10">
            <a:extLst>
              <a:ext uri="{FF2B5EF4-FFF2-40B4-BE49-F238E27FC236}">
                <a16:creationId xmlns:a16="http://schemas.microsoft.com/office/drawing/2014/main" id="{059E337D-B030-48BA-8571-BF23E76728B9}"/>
              </a:ext>
            </a:extLst>
          </p:cNvPr>
          <p:cNvPicPr>
            <a:picLocks noChangeAspect="1"/>
          </p:cNvPicPr>
          <p:nvPr/>
        </p:nvPicPr>
        <p:blipFill>
          <a:blip r:embed="rId2"/>
          <a:stretch>
            <a:fillRect/>
          </a:stretch>
        </p:blipFill>
        <p:spPr>
          <a:xfrm>
            <a:off x="5486400" y="6890446"/>
            <a:ext cx="1158340" cy="1255885"/>
          </a:xfrm>
          <a:prstGeom prst="rect">
            <a:avLst/>
          </a:prstGeom>
        </p:spPr>
      </p:pic>
    </p:spTree>
    <p:extLst>
      <p:ext uri="{BB962C8B-B14F-4D97-AF65-F5344CB8AC3E}">
        <p14:creationId xmlns:p14="http://schemas.microsoft.com/office/powerpoint/2010/main" val="1643411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1869E3-8E1B-EF67-A81D-6BDB19CD6FCB}"/>
              </a:ext>
            </a:extLst>
          </p:cNvPr>
          <p:cNvSpPr txBox="1"/>
          <p:nvPr/>
        </p:nvSpPr>
        <p:spPr>
          <a:xfrm>
            <a:off x="1828800" y="304800"/>
            <a:ext cx="8305800" cy="1569660"/>
          </a:xfrm>
          <a:prstGeom prst="rect">
            <a:avLst/>
          </a:prstGeom>
          <a:noFill/>
        </p:spPr>
        <p:txBody>
          <a:bodyPr wrap="square">
            <a:spAutoFit/>
          </a:bodyPr>
          <a:lstStyle/>
          <a:p>
            <a:pPr>
              <a:buNone/>
            </a:pPr>
            <a:r>
              <a:rPr lang="en-US" sz="1600" dirty="0"/>
              <a:t>Differences with program #2:</a:t>
            </a:r>
          </a:p>
          <a:p>
            <a:pPr>
              <a:buNone/>
            </a:pPr>
            <a:r>
              <a:rPr lang="en-US" sz="1600" dirty="0"/>
              <a:t>1. The numbering of the board produces a magic square: all the rows,</a:t>
            </a:r>
          </a:p>
          <a:p>
            <a:pPr>
              <a:buNone/>
            </a:pPr>
            <a:r>
              <a:rPr lang="en-US" sz="1600" dirty="0"/>
              <a:t>columns and diagonals sum to 15. We again represent the board as a nine-element vector, but this time we assign board positions to vector elements as follows Using magic squares, shown below:</a:t>
            </a:r>
          </a:p>
          <a:p>
            <a:pPr>
              <a:buNone/>
            </a:pPr>
            <a:endParaRPr lang="en-US" sz="1600" dirty="0"/>
          </a:p>
          <a:p>
            <a:pPr>
              <a:buNone/>
            </a:pPr>
            <a:r>
              <a:rPr lang="en-US" sz="1600" dirty="0"/>
              <a:t>				</a:t>
            </a:r>
          </a:p>
        </p:txBody>
      </p:sp>
      <p:pic>
        <p:nvPicPr>
          <p:cNvPr id="6" name="Picture 5">
            <a:extLst>
              <a:ext uri="{FF2B5EF4-FFF2-40B4-BE49-F238E27FC236}">
                <a16:creationId xmlns:a16="http://schemas.microsoft.com/office/drawing/2014/main" id="{551288D6-A030-9702-F00C-80E82D5856AF}"/>
              </a:ext>
            </a:extLst>
          </p:cNvPr>
          <p:cNvPicPr>
            <a:picLocks noChangeAspect="1"/>
          </p:cNvPicPr>
          <p:nvPr/>
        </p:nvPicPr>
        <p:blipFill>
          <a:blip r:embed="rId2"/>
          <a:stretch>
            <a:fillRect/>
          </a:stretch>
        </p:blipFill>
        <p:spPr>
          <a:xfrm>
            <a:off x="5105400" y="1676401"/>
            <a:ext cx="1158340" cy="1255885"/>
          </a:xfrm>
          <a:prstGeom prst="rect">
            <a:avLst/>
          </a:prstGeom>
        </p:spPr>
      </p:pic>
      <p:sp>
        <p:nvSpPr>
          <p:cNvPr id="8" name="TextBox 7">
            <a:extLst>
              <a:ext uri="{FF2B5EF4-FFF2-40B4-BE49-F238E27FC236}">
                <a16:creationId xmlns:a16="http://schemas.microsoft.com/office/drawing/2014/main" id="{67011212-0F56-B742-4A1E-EB9597962983}"/>
              </a:ext>
            </a:extLst>
          </p:cNvPr>
          <p:cNvSpPr txBox="1"/>
          <p:nvPr/>
        </p:nvSpPr>
        <p:spPr>
          <a:xfrm>
            <a:off x="1905000" y="1029818"/>
            <a:ext cx="8382000" cy="5170646"/>
          </a:xfrm>
          <a:prstGeom prst="rect">
            <a:avLst/>
          </a:prstGeom>
          <a:noFill/>
        </p:spPr>
        <p:txBody>
          <a:bodyPr wrap="square">
            <a:spAutoFit/>
          </a:bodyPr>
          <a:lstStyle/>
          <a:p>
            <a:endParaRPr lang="en-US" dirty="0"/>
          </a:p>
          <a:p>
            <a:r>
              <a:rPr lang="en-US" dirty="0"/>
              <a:t> </a:t>
            </a:r>
          </a:p>
          <a:p>
            <a:endParaRPr lang="en-US" dirty="0"/>
          </a:p>
          <a:p>
            <a:endParaRPr lang="en-US" dirty="0"/>
          </a:p>
          <a:p>
            <a:endParaRPr lang="en-US" dirty="0"/>
          </a:p>
          <a:p>
            <a:endParaRPr lang="en-US" dirty="0"/>
          </a:p>
          <a:p>
            <a:endParaRPr lang="en-US" dirty="0"/>
          </a:p>
          <a:p>
            <a:r>
              <a:rPr lang="en-US" dirty="0"/>
              <a:t>2. A new Possible win function is used which is explained through an example below in the next few PowerPoint slides. This means that we can simplify the process of</a:t>
            </a:r>
          </a:p>
          <a:p>
            <a:r>
              <a:rPr lang="en-US" dirty="0"/>
              <a:t>checking for a possible win. In addition to marking the board as moves are made, we</a:t>
            </a:r>
          </a:p>
          <a:p>
            <a:r>
              <a:rPr lang="en-US" dirty="0"/>
              <a:t>keep a list, for each player, of the squares in which he or she has played. To check for a</a:t>
            </a:r>
          </a:p>
          <a:p>
            <a:r>
              <a:rPr lang="en-US" dirty="0"/>
              <a:t>possible win for one player, we consider each pair of squares owned by that player and</a:t>
            </a:r>
          </a:p>
          <a:p>
            <a:r>
              <a:rPr lang="en-US" dirty="0"/>
              <a:t>compute the difference between 15 and the sum of the two squares. If this difference</a:t>
            </a:r>
          </a:p>
          <a:p>
            <a:r>
              <a:rPr lang="en-US" dirty="0"/>
              <a:t>is not positive or if it is greater than 9, then the original two squares were not collinear</a:t>
            </a:r>
          </a:p>
          <a:p>
            <a:r>
              <a:rPr lang="en-US" dirty="0"/>
              <a:t>and so can be ignored. Otherwise, if the square representing the difference is blank,</a:t>
            </a:r>
          </a:p>
          <a:p>
            <a:r>
              <a:rPr lang="en-US" dirty="0"/>
              <a:t>a move there will produce a win. </a:t>
            </a:r>
          </a:p>
          <a:p>
            <a:endParaRPr lang="en-US" dirty="0"/>
          </a:p>
          <a:p>
            <a:r>
              <a:rPr lang="en-US" dirty="0"/>
              <a:t>		</a:t>
            </a:r>
            <a:r>
              <a:rPr lang="en-US" sz="2400" b="1" dirty="0"/>
              <a:t>An Example Is given starting the next page:</a:t>
            </a:r>
          </a:p>
        </p:txBody>
      </p:sp>
    </p:spTree>
    <p:extLst>
      <p:ext uri="{BB962C8B-B14F-4D97-AF65-F5344CB8AC3E}">
        <p14:creationId xmlns:p14="http://schemas.microsoft.com/office/powerpoint/2010/main" val="2619413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D5EA9-4FEF-4A17-A6CB-B828996C1738}"/>
              </a:ext>
            </a:extLst>
          </p:cNvPr>
          <p:cNvSpPr>
            <a:spLocks noGrp="1"/>
          </p:cNvSpPr>
          <p:nvPr>
            <p:ph idx="1"/>
          </p:nvPr>
        </p:nvSpPr>
        <p:spPr>
          <a:xfrm>
            <a:off x="3138489" y="3014663"/>
            <a:ext cx="5915025" cy="1960067"/>
          </a:xfrm>
        </p:spPr>
        <p:txBody>
          <a:bodyPr>
            <a:normAutofit fontScale="55000" lnSpcReduction="20000"/>
          </a:bodyPr>
          <a:lstStyle/>
          <a:p>
            <a:pPr marL="0" indent="0">
              <a:buNone/>
            </a:pPr>
            <a:r>
              <a:rPr lang="en-US" dirty="0"/>
              <a:t>Corner			              Center</a:t>
            </a:r>
          </a:p>
          <a:p>
            <a:pPr marL="0" indent="0">
              <a:buNone/>
            </a:pPr>
            <a:r>
              <a:rPr lang="en-US" dirty="0"/>
              <a:t>     X</a:t>
            </a:r>
            <a:r>
              <a:rPr lang="en-US" baseline="-25000" dirty="0"/>
              <a:t>1   				   </a:t>
            </a:r>
            <a:r>
              <a:rPr lang="en-US" dirty="0"/>
              <a:t>O</a:t>
            </a:r>
            <a:r>
              <a:rPr lang="en-US" baseline="-25000" dirty="0"/>
              <a:t>1  </a:t>
            </a:r>
          </a:p>
          <a:p>
            <a:pPr marL="0" indent="0">
              <a:buNone/>
            </a:pPr>
            <a:r>
              <a:rPr lang="en-US" dirty="0"/>
              <a:t>       				   5  </a:t>
            </a:r>
          </a:p>
          <a:p>
            <a:pPr marL="0" indent="0">
              <a:buNone/>
            </a:pPr>
            <a:r>
              <a:rPr lang="en-US" dirty="0"/>
              <a:t>				       ____________________________________________________________</a:t>
            </a:r>
          </a:p>
          <a:p>
            <a:pPr marL="0" indent="0">
              <a:buNone/>
            </a:pPr>
            <a:r>
              <a:rPr lang="en-US" dirty="0"/>
              <a:t>    </a:t>
            </a:r>
            <a:r>
              <a:rPr lang="en-US" sz="3400" dirty="0"/>
              <a:t>This is O’s Turn</a:t>
            </a:r>
          </a:p>
          <a:p>
            <a:pPr marL="0" indent="0">
              <a:buNone/>
            </a:pPr>
            <a:r>
              <a:rPr lang="en-US" dirty="0"/>
              <a:t>    The next Turn is for X</a:t>
            </a:r>
          </a:p>
        </p:txBody>
      </p:sp>
      <p:graphicFrame>
        <p:nvGraphicFramePr>
          <p:cNvPr id="5" name="Table 4">
            <a:extLst>
              <a:ext uri="{FF2B5EF4-FFF2-40B4-BE49-F238E27FC236}">
                <a16:creationId xmlns:a16="http://schemas.microsoft.com/office/drawing/2014/main" id="{68688B85-8CBB-4543-B76C-54857482CA98}"/>
              </a:ext>
            </a:extLst>
          </p:cNvPr>
          <p:cNvGraphicFramePr>
            <a:graphicFrameLocks noGrp="1"/>
          </p:cNvGraphicFramePr>
          <p:nvPr/>
        </p:nvGraphicFramePr>
        <p:xfrm>
          <a:off x="5060157" y="1704025"/>
          <a:ext cx="2071689" cy="1121412"/>
        </p:xfrm>
        <a:graphic>
          <a:graphicData uri="http://schemas.openxmlformats.org/drawingml/2006/table">
            <a:tbl>
              <a:tblPr firstRow="1" bandRow="1">
                <a:tableStyleId>{0505E3EF-67EA-436B-97B2-0124C06EBD24}</a:tableStyleId>
              </a:tblPr>
              <a:tblGrid>
                <a:gridCol w="690563">
                  <a:extLst>
                    <a:ext uri="{9D8B030D-6E8A-4147-A177-3AD203B41FA5}">
                      <a16:colId xmlns:a16="http://schemas.microsoft.com/office/drawing/2014/main" val="3464880107"/>
                    </a:ext>
                  </a:extLst>
                </a:gridCol>
                <a:gridCol w="690563">
                  <a:extLst>
                    <a:ext uri="{9D8B030D-6E8A-4147-A177-3AD203B41FA5}">
                      <a16:colId xmlns:a16="http://schemas.microsoft.com/office/drawing/2014/main" val="3813991982"/>
                    </a:ext>
                  </a:extLst>
                </a:gridCol>
                <a:gridCol w="690563">
                  <a:extLst>
                    <a:ext uri="{9D8B030D-6E8A-4147-A177-3AD203B41FA5}">
                      <a16:colId xmlns:a16="http://schemas.microsoft.com/office/drawing/2014/main" val="4160510696"/>
                    </a:ext>
                  </a:extLst>
                </a:gridCol>
              </a:tblGrid>
              <a:tr h="371475">
                <a:tc>
                  <a:txBody>
                    <a:bodyPr/>
                    <a:lstStyle/>
                    <a:p>
                      <a:pPr algn="l"/>
                      <a:r>
                        <a:rPr lang="en-US" sz="1100" b="1" dirty="0"/>
                        <a:t>8</a:t>
                      </a:r>
                    </a:p>
                    <a:p>
                      <a:pPr algn="ctr"/>
                      <a:endParaRPr lang="en-US" sz="1100" b="1" dirty="0"/>
                    </a:p>
                  </a:txBody>
                  <a:tcPr marL="51435" marR="51435" marT="25718" marB="25718"/>
                </a:tc>
                <a:tc>
                  <a:txBody>
                    <a:bodyPr/>
                    <a:lstStyle/>
                    <a:p>
                      <a:pPr algn="l"/>
                      <a:r>
                        <a:rPr lang="en-US" sz="1100" b="1" dirty="0"/>
                        <a:t>3</a:t>
                      </a:r>
                    </a:p>
                  </a:txBody>
                  <a:tcPr marL="51435" marR="51435" marT="25718" marB="25718"/>
                </a:tc>
                <a:tc>
                  <a:txBody>
                    <a:bodyPr/>
                    <a:lstStyle/>
                    <a:p>
                      <a:r>
                        <a:rPr lang="en-US" sz="1100" b="1" dirty="0"/>
                        <a:t>4</a:t>
                      </a:r>
                    </a:p>
                  </a:txBody>
                  <a:tcPr marL="51435" marR="51435" marT="25718" marB="25718"/>
                </a:tc>
                <a:extLst>
                  <a:ext uri="{0D108BD9-81ED-4DB2-BD59-A6C34878D82A}">
                    <a16:rowId xmlns:a16="http://schemas.microsoft.com/office/drawing/2014/main" val="847099619"/>
                  </a:ext>
                </a:extLst>
              </a:tr>
              <a:tr h="371475">
                <a:tc>
                  <a:txBody>
                    <a:bodyPr/>
                    <a:lstStyle/>
                    <a:p>
                      <a:r>
                        <a:rPr lang="en-US" sz="1100" b="1" dirty="0"/>
                        <a:t>1</a:t>
                      </a:r>
                    </a:p>
                  </a:txBody>
                  <a:tcPr marL="51435" marR="51435" marT="25718" marB="25718"/>
                </a:tc>
                <a:tc>
                  <a:txBody>
                    <a:bodyPr/>
                    <a:lstStyle/>
                    <a:p>
                      <a:r>
                        <a:rPr lang="en-US" sz="1100" b="1" dirty="0"/>
                        <a:t>5</a:t>
                      </a:r>
                    </a:p>
                    <a:p>
                      <a:pPr algn="ctr"/>
                      <a:r>
                        <a:rPr lang="en-US" sz="1100" b="1" dirty="0"/>
                        <a:t>O</a:t>
                      </a:r>
                      <a:r>
                        <a:rPr lang="en-US" sz="1100" b="1" baseline="-25000" dirty="0"/>
                        <a:t>1</a:t>
                      </a:r>
                      <a:endParaRPr lang="en-US" sz="1100" b="1" dirty="0"/>
                    </a:p>
                  </a:txBody>
                  <a:tcPr marL="51435" marR="51435" marT="25718" marB="25718"/>
                </a:tc>
                <a:tc>
                  <a:txBody>
                    <a:bodyPr/>
                    <a:lstStyle/>
                    <a:p>
                      <a:r>
                        <a:rPr lang="en-US" sz="1100" b="1" dirty="0"/>
                        <a:t>9</a:t>
                      </a:r>
                    </a:p>
                  </a:txBody>
                  <a:tcPr marL="51435" marR="51435" marT="25718" marB="25718"/>
                </a:tc>
                <a:extLst>
                  <a:ext uri="{0D108BD9-81ED-4DB2-BD59-A6C34878D82A}">
                    <a16:rowId xmlns:a16="http://schemas.microsoft.com/office/drawing/2014/main" val="164704671"/>
                  </a:ext>
                </a:extLst>
              </a:tr>
              <a:tr h="347980">
                <a:tc>
                  <a:txBody>
                    <a:bodyPr/>
                    <a:lstStyle/>
                    <a:p>
                      <a:r>
                        <a:rPr lang="en-US" sz="1100" b="1" dirty="0"/>
                        <a:t>6</a:t>
                      </a:r>
                    </a:p>
                  </a:txBody>
                  <a:tcPr marL="51435" marR="51435" marT="25718" marB="25718"/>
                </a:tc>
                <a:tc>
                  <a:txBody>
                    <a:bodyPr/>
                    <a:lstStyle/>
                    <a:p>
                      <a:r>
                        <a:rPr lang="en-US" sz="1100" b="1" dirty="0"/>
                        <a:t>7</a:t>
                      </a:r>
                    </a:p>
                  </a:txBody>
                  <a:tcPr marL="51435" marR="51435" marT="25718" marB="25718"/>
                </a:tc>
                <a:tc>
                  <a:txBody>
                    <a:bodyPr/>
                    <a:lstStyle/>
                    <a:p>
                      <a:r>
                        <a:rPr lang="en-US" sz="1100" b="1" dirty="0"/>
                        <a:t>2</a:t>
                      </a:r>
                    </a:p>
                  </a:txBody>
                  <a:tcPr marL="51435" marR="51435" marT="25718" marB="25718"/>
                </a:tc>
                <a:extLst>
                  <a:ext uri="{0D108BD9-81ED-4DB2-BD59-A6C34878D82A}">
                    <a16:rowId xmlns:a16="http://schemas.microsoft.com/office/drawing/2014/main" val="887646109"/>
                  </a:ext>
                </a:extLst>
              </a:tr>
            </a:tbl>
          </a:graphicData>
        </a:graphic>
      </p:graphicFrame>
      <p:sp>
        <p:nvSpPr>
          <p:cNvPr id="2" name="TextBox 1">
            <a:extLst>
              <a:ext uri="{FF2B5EF4-FFF2-40B4-BE49-F238E27FC236}">
                <a16:creationId xmlns:a16="http://schemas.microsoft.com/office/drawing/2014/main" id="{16B9EDB9-5041-401E-3860-B12077A741E9}"/>
              </a:ext>
            </a:extLst>
          </p:cNvPr>
          <p:cNvSpPr txBox="1"/>
          <p:nvPr/>
        </p:nvSpPr>
        <p:spPr>
          <a:xfrm>
            <a:off x="7576930" y="1513233"/>
            <a:ext cx="1884460" cy="1338828"/>
          </a:xfrm>
          <a:prstGeom prst="rect">
            <a:avLst/>
          </a:prstGeom>
          <a:noFill/>
        </p:spPr>
        <p:txBody>
          <a:bodyPr wrap="square" rtlCol="0">
            <a:spAutoFit/>
          </a:bodyPr>
          <a:lstStyle/>
          <a:p>
            <a:r>
              <a:rPr lang="en-US" sz="1350" dirty="0"/>
              <a:t>Player </a:t>
            </a:r>
            <a:r>
              <a:rPr lang="en-US" sz="1350" dirty="0">
                <a:sym typeface="Wingdings" panose="05000000000000000000" pitchFamily="2" charset="2"/>
              </a:rPr>
              <a:t> </a:t>
            </a:r>
            <a:r>
              <a:rPr lang="en-US" sz="1350" dirty="0"/>
              <a:t>O</a:t>
            </a:r>
            <a:r>
              <a:rPr lang="en-US" sz="1350" baseline="-25000" dirty="0"/>
              <a:t>1</a:t>
            </a:r>
            <a:endParaRPr lang="en-US" sz="1350" dirty="0">
              <a:sym typeface="Wingdings" panose="05000000000000000000" pitchFamily="2" charset="2"/>
            </a:endParaRPr>
          </a:p>
          <a:p>
            <a:r>
              <a:rPr lang="en-US" sz="1350" dirty="0">
                <a:sym typeface="Wingdings" panose="05000000000000000000" pitchFamily="2" charset="2"/>
              </a:rPr>
              <a:t>Action  1</a:t>
            </a:r>
          </a:p>
          <a:p>
            <a:endParaRPr lang="en-US" sz="1350" dirty="0">
              <a:sym typeface="Wingdings" panose="05000000000000000000" pitchFamily="2" charset="2"/>
            </a:endParaRPr>
          </a:p>
          <a:p>
            <a:r>
              <a:rPr lang="en-US" sz="1350" dirty="0">
                <a:sym typeface="Wingdings" panose="05000000000000000000" pitchFamily="2" charset="2"/>
              </a:rPr>
              <a:t>Initial Step O Calls make2 which assigns </a:t>
            </a:r>
            <a:r>
              <a:rPr lang="en-US" sz="1350" dirty="0"/>
              <a:t>O</a:t>
            </a:r>
            <a:r>
              <a:rPr lang="en-US" sz="1350" baseline="-25000" dirty="0"/>
              <a:t>1  </a:t>
            </a:r>
            <a:r>
              <a:rPr lang="en-US" sz="1350" dirty="0"/>
              <a:t>to central square ‘5’</a:t>
            </a:r>
          </a:p>
        </p:txBody>
      </p:sp>
    </p:spTree>
    <p:extLst>
      <p:ext uri="{BB962C8B-B14F-4D97-AF65-F5344CB8AC3E}">
        <p14:creationId xmlns:p14="http://schemas.microsoft.com/office/powerpoint/2010/main" val="4268103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D5EA9-4FEF-4A17-A6CB-B828996C1738}"/>
              </a:ext>
            </a:extLst>
          </p:cNvPr>
          <p:cNvSpPr>
            <a:spLocks noGrp="1"/>
          </p:cNvSpPr>
          <p:nvPr>
            <p:ph idx="1"/>
          </p:nvPr>
        </p:nvSpPr>
        <p:spPr>
          <a:xfrm>
            <a:off x="3138489" y="3014663"/>
            <a:ext cx="5915025" cy="1960067"/>
          </a:xfrm>
        </p:spPr>
        <p:txBody>
          <a:bodyPr>
            <a:normAutofit fontScale="55000" lnSpcReduction="20000"/>
          </a:bodyPr>
          <a:lstStyle/>
          <a:p>
            <a:pPr marL="0" indent="0">
              <a:buNone/>
            </a:pPr>
            <a:r>
              <a:rPr lang="en-US" dirty="0"/>
              <a:t>Corner			              Center</a:t>
            </a:r>
          </a:p>
          <a:p>
            <a:pPr marL="0" indent="0">
              <a:buNone/>
            </a:pPr>
            <a:r>
              <a:rPr lang="en-US" dirty="0"/>
              <a:t>     X</a:t>
            </a:r>
            <a:r>
              <a:rPr lang="en-US" baseline="-25000" dirty="0"/>
              <a:t>1   				   </a:t>
            </a:r>
            <a:r>
              <a:rPr lang="en-US" dirty="0"/>
              <a:t>O</a:t>
            </a:r>
            <a:r>
              <a:rPr lang="en-US" baseline="-25000" dirty="0"/>
              <a:t>1  </a:t>
            </a:r>
          </a:p>
          <a:p>
            <a:pPr marL="0" indent="0">
              <a:buNone/>
            </a:pPr>
            <a:r>
              <a:rPr lang="en-US" dirty="0"/>
              <a:t>     8  				   5  </a:t>
            </a:r>
          </a:p>
          <a:p>
            <a:pPr marL="0" indent="0">
              <a:buNone/>
            </a:pPr>
            <a:r>
              <a:rPr lang="en-US" dirty="0"/>
              <a:t>				       ____________________________________________________________</a:t>
            </a:r>
          </a:p>
          <a:p>
            <a:pPr marL="0" indent="0">
              <a:buNone/>
            </a:pPr>
            <a:r>
              <a:rPr lang="en-US" sz="3400" dirty="0"/>
              <a:t>    This is X’s Turn</a:t>
            </a:r>
          </a:p>
          <a:p>
            <a:pPr marL="0" indent="0">
              <a:buNone/>
            </a:pPr>
            <a:r>
              <a:rPr lang="en-US" dirty="0"/>
              <a:t>    Next Turn is for O</a:t>
            </a:r>
          </a:p>
        </p:txBody>
      </p:sp>
      <p:graphicFrame>
        <p:nvGraphicFramePr>
          <p:cNvPr id="5" name="Table 4">
            <a:extLst>
              <a:ext uri="{FF2B5EF4-FFF2-40B4-BE49-F238E27FC236}">
                <a16:creationId xmlns:a16="http://schemas.microsoft.com/office/drawing/2014/main" id="{68688B85-8CBB-4543-B76C-54857482CA98}"/>
              </a:ext>
            </a:extLst>
          </p:cNvPr>
          <p:cNvGraphicFramePr>
            <a:graphicFrameLocks noGrp="1"/>
          </p:cNvGraphicFramePr>
          <p:nvPr/>
        </p:nvGraphicFramePr>
        <p:xfrm>
          <a:off x="5060157" y="1704025"/>
          <a:ext cx="2071689" cy="1121412"/>
        </p:xfrm>
        <a:graphic>
          <a:graphicData uri="http://schemas.openxmlformats.org/drawingml/2006/table">
            <a:tbl>
              <a:tblPr firstRow="1" bandRow="1">
                <a:tableStyleId>{0505E3EF-67EA-436B-97B2-0124C06EBD24}</a:tableStyleId>
              </a:tblPr>
              <a:tblGrid>
                <a:gridCol w="690563">
                  <a:extLst>
                    <a:ext uri="{9D8B030D-6E8A-4147-A177-3AD203B41FA5}">
                      <a16:colId xmlns:a16="http://schemas.microsoft.com/office/drawing/2014/main" val="3464880107"/>
                    </a:ext>
                  </a:extLst>
                </a:gridCol>
                <a:gridCol w="690563">
                  <a:extLst>
                    <a:ext uri="{9D8B030D-6E8A-4147-A177-3AD203B41FA5}">
                      <a16:colId xmlns:a16="http://schemas.microsoft.com/office/drawing/2014/main" val="3813991982"/>
                    </a:ext>
                  </a:extLst>
                </a:gridCol>
                <a:gridCol w="690563">
                  <a:extLst>
                    <a:ext uri="{9D8B030D-6E8A-4147-A177-3AD203B41FA5}">
                      <a16:colId xmlns:a16="http://schemas.microsoft.com/office/drawing/2014/main" val="4160510696"/>
                    </a:ext>
                  </a:extLst>
                </a:gridCol>
              </a:tblGrid>
              <a:tr h="371475">
                <a:tc>
                  <a:txBody>
                    <a:bodyPr/>
                    <a:lstStyle/>
                    <a:p>
                      <a:pPr algn="l"/>
                      <a:r>
                        <a:rPr lang="en-US" sz="1100" b="1" dirty="0"/>
                        <a:t>8</a:t>
                      </a:r>
                    </a:p>
                    <a:p>
                      <a:pPr algn="ctr"/>
                      <a:r>
                        <a:rPr lang="en-US" sz="1100" b="1" dirty="0"/>
                        <a:t>X</a:t>
                      </a:r>
                      <a:r>
                        <a:rPr lang="en-US" sz="1100" b="1" baseline="-25000" dirty="0"/>
                        <a:t>1</a:t>
                      </a:r>
                      <a:endParaRPr lang="en-US" sz="1100" b="1" dirty="0"/>
                    </a:p>
                  </a:txBody>
                  <a:tcPr marL="51435" marR="51435" marT="25718" marB="25718"/>
                </a:tc>
                <a:tc>
                  <a:txBody>
                    <a:bodyPr/>
                    <a:lstStyle/>
                    <a:p>
                      <a:pPr algn="l"/>
                      <a:r>
                        <a:rPr lang="en-US" sz="1100" b="1" dirty="0"/>
                        <a:t>3</a:t>
                      </a:r>
                    </a:p>
                  </a:txBody>
                  <a:tcPr marL="51435" marR="51435" marT="25718" marB="25718"/>
                </a:tc>
                <a:tc>
                  <a:txBody>
                    <a:bodyPr/>
                    <a:lstStyle/>
                    <a:p>
                      <a:r>
                        <a:rPr lang="en-US" sz="1100" b="1" dirty="0"/>
                        <a:t>4</a:t>
                      </a:r>
                    </a:p>
                  </a:txBody>
                  <a:tcPr marL="51435" marR="51435" marT="25718" marB="25718"/>
                </a:tc>
                <a:extLst>
                  <a:ext uri="{0D108BD9-81ED-4DB2-BD59-A6C34878D82A}">
                    <a16:rowId xmlns:a16="http://schemas.microsoft.com/office/drawing/2014/main" val="847099619"/>
                  </a:ext>
                </a:extLst>
              </a:tr>
              <a:tr h="371475">
                <a:tc>
                  <a:txBody>
                    <a:bodyPr/>
                    <a:lstStyle/>
                    <a:p>
                      <a:r>
                        <a:rPr lang="en-US" sz="1100" b="1" dirty="0"/>
                        <a:t>1</a:t>
                      </a:r>
                    </a:p>
                  </a:txBody>
                  <a:tcPr marL="51435" marR="51435" marT="25718" marB="25718"/>
                </a:tc>
                <a:tc>
                  <a:txBody>
                    <a:bodyPr/>
                    <a:lstStyle/>
                    <a:p>
                      <a:r>
                        <a:rPr lang="en-US" sz="1100" b="1" dirty="0"/>
                        <a:t>5</a:t>
                      </a:r>
                    </a:p>
                    <a:p>
                      <a:pPr algn="ctr"/>
                      <a:r>
                        <a:rPr lang="en-US" sz="1100" b="1" dirty="0"/>
                        <a:t>O</a:t>
                      </a:r>
                      <a:r>
                        <a:rPr lang="en-US" sz="1100" b="1" baseline="-25000" dirty="0"/>
                        <a:t>1</a:t>
                      </a:r>
                      <a:endParaRPr lang="en-US" sz="1100" b="1" dirty="0"/>
                    </a:p>
                  </a:txBody>
                  <a:tcPr marL="51435" marR="51435" marT="25718" marB="25718"/>
                </a:tc>
                <a:tc>
                  <a:txBody>
                    <a:bodyPr/>
                    <a:lstStyle/>
                    <a:p>
                      <a:r>
                        <a:rPr lang="en-US" sz="1100" b="1" dirty="0"/>
                        <a:t>9</a:t>
                      </a:r>
                    </a:p>
                  </a:txBody>
                  <a:tcPr marL="51435" marR="51435" marT="25718" marB="25718"/>
                </a:tc>
                <a:extLst>
                  <a:ext uri="{0D108BD9-81ED-4DB2-BD59-A6C34878D82A}">
                    <a16:rowId xmlns:a16="http://schemas.microsoft.com/office/drawing/2014/main" val="164704671"/>
                  </a:ext>
                </a:extLst>
              </a:tr>
              <a:tr h="347980">
                <a:tc>
                  <a:txBody>
                    <a:bodyPr/>
                    <a:lstStyle/>
                    <a:p>
                      <a:r>
                        <a:rPr lang="en-US" sz="1100" b="1" dirty="0"/>
                        <a:t>6</a:t>
                      </a:r>
                    </a:p>
                  </a:txBody>
                  <a:tcPr marL="51435" marR="51435" marT="25718" marB="25718"/>
                </a:tc>
                <a:tc>
                  <a:txBody>
                    <a:bodyPr/>
                    <a:lstStyle/>
                    <a:p>
                      <a:r>
                        <a:rPr lang="en-US" sz="1100" b="1" dirty="0"/>
                        <a:t>7</a:t>
                      </a:r>
                    </a:p>
                  </a:txBody>
                  <a:tcPr marL="51435" marR="51435" marT="25718" marB="25718"/>
                </a:tc>
                <a:tc>
                  <a:txBody>
                    <a:bodyPr/>
                    <a:lstStyle/>
                    <a:p>
                      <a:r>
                        <a:rPr lang="en-US" sz="1100" b="1" dirty="0"/>
                        <a:t>2</a:t>
                      </a:r>
                    </a:p>
                  </a:txBody>
                  <a:tcPr marL="51435" marR="51435" marT="25718" marB="25718"/>
                </a:tc>
                <a:extLst>
                  <a:ext uri="{0D108BD9-81ED-4DB2-BD59-A6C34878D82A}">
                    <a16:rowId xmlns:a16="http://schemas.microsoft.com/office/drawing/2014/main" val="887646109"/>
                  </a:ext>
                </a:extLst>
              </a:tr>
            </a:tbl>
          </a:graphicData>
        </a:graphic>
      </p:graphicFrame>
      <p:sp>
        <p:nvSpPr>
          <p:cNvPr id="2" name="TextBox 1">
            <a:extLst>
              <a:ext uri="{FF2B5EF4-FFF2-40B4-BE49-F238E27FC236}">
                <a16:creationId xmlns:a16="http://schemas.microsoft.com/office/drawing/2014/main" id="{77A536C1-3748-9393-5531-E3CC0B996B23}"/>
              </a:ext>
            </a:extLst>
          </p:cNvPr>
          <p:cNvSpPr txBox="1"/>
          <p:nvPr/>
        </p:nvSpPr>
        <p:spPr>
          <a:xfrm>
            <a:off x="8059972" y="1479211"/>
            <a:ext cx="1884460" cy="1338828"/>
          </a:xfrm>
          <a:prstGeom prst="rect">
            <a:avLst/>
          </a:prstGeom>
          <a:noFill/>
        </p:spPr>
        <p:txBody>
          <a:bodyPr wrap="square" rtlCol="0">
            <a:spAutoFit/>
          </a:bodyPr>
          <a:lstStyle/>
          <a:p>
            <a:r>
              <a:rPr lang="en-US" sz="1350" dirty="0"/>
              <a:t>Player </a:t>
            </a:r>
            <a:r>
              <a:rPr lang="en-US" sz="1350" dirty="0">
                <a:sym typeface="Wingdings" panose="05000000000000000000" pitchFamily="2" charset="2"/>
              </a:rPr>
              <a:t> </a:t>
            </a:r>
            <a:r>
              <a:rPr lang="en-US" sz="1350" dirty="0"/>
              <a:t>X</a:t>
            </a:r>
            <a:r>
              <a:rPr lang="en-US" sz="1350" baseline="-25000" dirty="0"/>
              <a:t>1 </a:t>
            </a:r>
            <a:endParaRPr lang="en-US" sz="1350" dirty="0">
              <a:sym typeface="Wingdings" panose="05000000000000000000" pitchFamily="2" charset="2"/>
            </a:endParaRPr>
          </a:p>
          <a:p>
            <a:r>
              <a:rPr lang="en-US" sz="1350" dirty="0">
                <a:sym typeface="Wingdings" panose="05000000000000000000" pitchFamily="2" charset="2"/>
              </a:rPr>
              <a:t>Action  1</a:t>
            </a:r>
          </a:p>
          <a:p>
            <a:endParaRPr lang="en-US" sz="1350" dirty="0">
              <a:sym typeface="Wingdings" panose="05000000000000000000" pitchFamily="2" charset="2"/>
            </a:endParaRPr>
          </a:p>
          <a:p>
            <a:r>
              <a:rPr lang="en-US" sz="1350" dirty="0">
                <a:sym typeface="Wingdings" panose="05000000000000000000" pitchFamily="2" charset="2"/>
              </a:rPr>
              <a:t>X Calls make1 which assigns </a:t>
            </a:r>
            <a:r>
              <a:rPr lang="en-US" sz="1350" dirty="0"/>
              <a:t>X</a:t>
            </a:r>
            <a:r>
              <a:rPr lang="en-US" sz="1350" baseline="-25000" dirty="0"/>
              <a:t>1  </a:t>
            </a:r>
            <a:r>
              <a:rPr lang="en-US" sz="1350" dirty="0"/>
              <a:t>to Corner square ‘8’</a:t>
            </a:r>
          </a:p>
        </p:txBody>
      </p:sp>
    </p:spTree>
    <p:extLst>
      <p:ext uri="{BB962C8B-B14F-4D97-AF65-F5344CB8AC3E}">
        <p14:creationId xmlns:p14="http://schemas.microsoft.com/office/powerpoint/2010/main" val="2180381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D5EA9-4FEF-4A17-A6CB-B828996C1738}"/>
              </a:ext>
            </a:extLst>
          </p:cNvPr>
          <p:cNvSpPr>
            <a:spLocks noGrp="1"/>
          </p:cNvSpPr>
          <p:nvPr>
            <p:ph idx="1"/>
          </p:nvPr>
        </p:nvSpPr>
        <p:spPr>
          <a:xfrm>
            <a:off x="3138488" y="3014663"/>
            <a:ext cx="5774262" cy="1960067"/>
          </a:xfrm>
        </p:spPr>
        <p:txBody>
          <a:bodyPr>
            <a:normAutofit/>
          </a:bodyPr>
          <a:lstStyle/>
          <a:p>
            <a:pPr marL="0" indent="0">
              <a:buNone/>
            </a:pPr>
            <a:r>
              <a:rPr lang="en-US" sz="1500" dirty="0"/>
              <a:t>   Corner		Center(non-Corner)</a:t>
            </a:r>
          </a:p>
          <a:p>
            <a:pPr marL="0" indent="0">
              <a:buNone/>
            </a:pPr>
            <a:r>
              <a:rPr lang="en-US" sz="1500" dirty="0"/>
              <a:t>        X</a:t>
            </a:r>
            <a:r>
              <a:rPr lang="en-US" sz="1500" baseline="-25000" dirty="0"/>
              <a:t>1 			                   </a:t>
            </a:r>
            <a:r>
              <a:rPr lang="en-US" sz="1500" dirty="0"/>
              <a:t>O</a:t>
            </a:r>
            <a:r>
              <a:rPr lang="en-US" sz="1500" baseline="-25000" dirty="0"/>
              <a:t>1  ,</a:t>
            </a:r>
            <a:r>
              <a:rPr lang="en-US" sz="1500" b="1" dirty="0"/>
              <a:t> </a:t>
            </a:r>
            <a:r>
              <a:rPr lang="en-US" sz="1500" dirty="0"/>
              <a:t>O</a:t>
            </a:r>
            <a:r>
              <a:rPr lang="en-US" sz="1500" baseline="-25000" dirty="0"/>
              <a:t>2</a:t>
            </a:r>
          </a:p>
          <a:p>
            <a:pPr marL="0" indent="0">
              <a:buNone/>
            </a:pPr>
            <a:r>
              <a:rPr lang="en-US" sz="1500" dirty="0"/>
              <a:t>        8 			             5       3</a:t>
            </a:r>
          </a:p>
          <a:p>
            <a:pPr marL="0" indent="0">
              <a:buNone/>
            </a:pPr>
            <a:r>
              <a:rPr lang="en-US" sz="1500" dirty="0"/>
              <a:t>__________________________________________________________</a:t>
            </a:r>
          </a:p>
          <a:p>
            <a:pPr marL="0" indent="0">
              <a:buNone/>
            </a:pPr>
            <a:r>
              <a:rPr lang="en-US" sz="1200" dirty="0"/>
              <a:t>    This is O’s Turn</a:t>
            </a:r>
          </a:p>
          <a:p>
            <a:pPr marL="0" indent="0">
              <a:buNone/>
            </a:pPr>
            <a:r>
              <a:rPr lang="en-US" sz="1500" dirty="0"/>
              <a:t>  Next Turn is for X</a:t>
            </a:r>
          </a:p>
          <a:p>
            <a:pPr marL="0" indent="0">
              <a:buNone/>
            </a:pPr>
            <a:endParaRPr lang="en-US" sz="1500" dirty="0"/>
          </a:p>
        </p:txBody>
      </p:sp>
      <p:graphicFrame>
        <p:nvGraphicFramePr>
          <p:cNvPr id="5" name="Table 4">
            <a:extLst>
              <a:ext uri="{FF2B5EF4-FFF2-40B4-BE49-F238E27FC236}">
                <a16:creationId xmlns:a16="http://schemas.microsoft.com/office/drawing/2014/main" id="{68688B85-8CBB-4543-B76C-54857482CA98}"/>
              </a:ext>
            </a:extLst>
          </p:cNvPr>
          <p:cNvGraphicFramePr>
            <a:graphicFrameLocks noGrp="1"/>
          </p:cNvGraphicFramePr>
          <p:nvPr/>
        </p:nvGraphicFramePr>
        <p:xfrm>
          <a:off x="5060157" y="1704024"/>
          <a:ext cx="2071689" cy="992508"/>
        </p:xfrm>
        <a:graphic>
          <a:graphicData uri="http://schemas.openxmlformats.org/drawingml/2006/table">
            <a:tbl>
              <a:tblPr firstRow="1" bandRow="1">
                <a:tableStyleId>{0505E3EF-67EA-436B-97B2-0124C06EBD24}</a:tableStyleId>
              </a:tblPr>
              <a:tblGrid>
                <a:gridCol w="690563">
                  <a:extLst>
                    <a:ext uri="{9D8B030D-6E8A-4147-A177-3AD203B41FA5}">
                      <a16:colId xmlns:a16="http://schemas.microsoft.com/office/drawing/2014/main" val="3464880107"/>
                    </a:ext>
                  </a:extLst>
                </a:gridCol>
                <a:gridCol w="690563">
                  <a:extLst>
                    <a:ext uri="{9D8B030D-6E8A-4147-A177-3AD203B41FA5}">
                      <a16:colId xmlns:a16="http://schemas.microsoft.com/office/drawing/2014/main" val="3813991982"/>
                    </a:ext>
                  </a:extLst>
                </a:gridCol>
                <a:gridCol w="690563">
                  <a:extLst>
                    <a:ext uri="{9D8B030D-6E8A-4147-A177-3AD203B41FA5}">
                      <a16:colId xmlns:a16="http://schemas.microsoft.com/office/drawing/2014/main" val="4160510696"/>
                    </a:ext>
                  </a:extLst>
                </a:gridCol>
              </a:tblGrid>
              <a:tr h="371475">
                <a:tc>
                  <a:txBody>
                    <a:bodyPr/>
                    <a:lstStyle/>
                    <a:p>
                      <a:pPr algn="l"/>
                      <a:r>
                        <a:rPr lang="en-US" sz="1100" b="1" dirty="0"/>
                        <a:t>8</a:t>
                      </a:r>
                    </a:p>
                    <a:p>
                      <a:pPr algn="ctr"/>
                      <a:r>
                        <a:rPr lang="en-US" sz="1100" b="1" dirty="0"/>
                        <a:t>X</a:t>
                      </a:r>
                      <a:r>
                        <a:rPr lang="en-US" sz="1100" b="1" baseline="-25000" dirty="0"/>
                        <a:t>1</a:t>
                      </a:r>
                      <a:endParaRPr lang="en-US" sz="1100" b="1" dirty="0"/>
                    </a:p>
                  </a:txBody>
                  <a:tcPr marL="51435" marR="51435" marT="25718" marB="25718"/>
                </a:tc>
                <a:tc>
                  <a:txBody>
                    <a:bodyPr/>
                    <a:lstStyle/>
                    <a:p>
                      <a:pPr algn="l"/>
                      <a:r>
                        <a:rPr lang="en-US" sz="1100" b="1" dirty="0"/>
                        <a:t>3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O</a:t>
                      </a:r>
                      <a:r>
                        <a:rPr lang="en-US" sz="1100" b="1" baseline="-25000" dirty="0"/>
                        <a:t>2</a:t>
                      </a:r>
                      <a:endParaRPr lang="en-US" sz="1100" b="1" dirty="0"/>
                    </a:p>
                  </a:txBody>
                  <a:tcPr marL="51435" marR="51435" marT="25718" marB="25718"/>
                </a:tc>
                <a:tc>
                  <a:txBody>
                    <a:bodyPr/>
                    <a:lstStyle/>
                    <a:p>
                      <a:r>
                        <a:rPr lang="en-US" sz="1100" b="1" dirty="0"/>
                        <a:t>4</a:t>
                      </a:r>
                    </a:p>
                    <a:p>
                      <a:pPr algn="ctr"/>
                      <a:endParaRPr lang="en-US" sz="1100" b="1" dirty="0"/>
                    </a:p>
                  </a:txBody>
                  <a:tcPr marL="51435" marR="51435" marT="25718" marB="25718"/>
                </a:tc>
                <a:extLst>
                  <a:ext uri="{0D108BD9-81ED-4DB2-BD59-A6C34878D82A}">
                    <a16:rowId xmlns:a16="http://schemas.microsoft.com/office/drawing/2014/main" val="847099619"/>
                  </a:ext>
                </a:extLst>
              </a:tr>
              <a:tr h="371475">
                <a:tc>
                  <a:txBody>
                    <a:bodyPr/>
                    <a:lstStyle/>
                    <a:p>
                      <a:r>
                        <a:rPr lang="en-US" sz="1100" b="1" dirty="0"/>
                        <a:t>1</a:t>
                      </a:r>
                    </a:p>
                  </a:txBody>
                  <a:tcPr marL="51435" marR="51435" marT="25718" marB="25718"/>
                </a:tc>
                <a:tc>
                  <a:txBody>
                    <a:bodyPr/>
                    <a:lstStyle/>
                    <a:p>
                      <a:r>
                        <a:rPr lang="en-US" sz="1100" b="1" dirty="0"/>
                        <a:t>5</a:t>
                      </a:r>
                    </a:p>
                    <a:p>
                      <a:pPr algn="ctr"/>
                      <a:r>
                        <a:rPr lang="en-US" sz="1100" b="1" dirty="0"/>
                        <a:t>O</a:t>
                      </a:r>
                      <a:r>
                        <a:rPr lang="en-US" sz="1100" b="1" baseline="-25000" dirty="0"/>
                        <a:t>1</a:t>
                      </a:r>
                      <a:endParaRPr lang="en-US" sz="1100" b="1" dirty="0"/>
                    </a:p>
                  </a:txBody>
                  <a:tcPr marL="51435" marR="51435" marT="25718" marB="25718"/>
                </a:tc>
                <a:tc>
                  <a:txBody>
                    <a:bodyPr/>
                    <a:lstStyle/>
                    <a:p>
                      <a:r>
                        <a:rPr lang="en-US" sz="1100" b="1" dirty="0"/>
                        <a:t>9</a:t>
                      </a:r>
                    </a:p>
                  </a:txBody>
                  <a:tcPr marL="51435" marR="51435" marT="25718" marB="25718"/>
                </a:tc>
                <a:extLst>
                  <a:ext uri="{0D108BD9-81ED-4DB2-BD59-A6C34878D82A}">
                    <a16:rowId xmlns:a16="http://schemas.microsoft.com/office/drawing/2014/main" val="164704671"/>
                  </a:ext>
                </a:extLst>
              </a:tr>
              <a:tr h="211455">
                <a:tc>
                  <a:txBody>
                    <a:bodyPr/>
                    <a:lstStyle/>
                    <a:p>
                      <a:r>
                        <a:rPr lang="en-US" sz="1100" b="1" dirty="0"/>
                        <a:t>6</a:t>
                      </a:r>
                    </a:p>
                  </a:txBody>
                  <a:tcPr marL="51435" marR="51435" marT="25718" marB="25718"/>
                </a:tc>
                <a:tc>
                  <a:txBody>
                    <a:bodyPr/>
                    <a:lstStyle/>
                    <a:p>
                      <a:r>
                        <a:rPr lang="en-US" sz="1100" b="1" dirty="0"/>
                        <a:t>7</a:t>
                      </a:r>
                    </a:p>
                  </a:txBody>
                  <a:tcPr marL="51435" marR="51435" marT="25718" marB="25718"/>
                </a:tc>
                <a:tc>
                  <a:txBody>
                    <a:bodyPr/>
                    <a:lstStyle/>
                    <a:p>
                      <a:r>
                        <a:rPr lang="en-US" sz="1100" b="1" dirty="0"/>
                        <a:t>2</a:t>
                      </a:r>
                    </a:p>
                  </a:txBody>
                  <a:tcPr marL="51435" marR="51435" marT="25718" marB="25718"/>
                </a:tc>
                <a:extLst>
                  <a:ext uri="{0D108BD9-81ED-4DB2-BD59-A6C34878D82A}">
                    <a16:rowId xmlns:a16="http://schemas.microsoft.com/office/drawing/2014/main" val="887646109"/>
                  </a:ext>
                </a:extLst>
              </a:tr>
            </a:tbl>
          </a:graphicData>
        </a:graphic>
      </p:graphicFrame>
      <p:sp>
        <p:nvSpPr>
          <p:cNvPr id="6" name="TextBox 5">
            <a:extLst>
              <a:ext uri="{FF2B5EF4-FFF2-40B4-BE49-F238E27FC236}">
                <a16:creationId xmlns:a16="http://schemas.microsoft.com/office/drawing/2014/main" id="{70A0C80F-329E-9648-B387-5B8E87FAB5E3}"/>
              </a:ext>
            </a:extLst>
          </p:cNvPr>
          <p:cNvSpPr txBox="1"/>
          <p:nvPr/>
        </p:nvSpPr>
        <p:spPr>
          <a:xfrm>
            <a:off x="7958592" y="1292584"/>
            <a:ext cx="1884460" cy="923330"/>
          </a:xfrm>
          <a:prstGeom prst="rect">
            <a:avLst/>
          </a:prstGeom>
          <a:noFill/>
        </p:spPr>
        <p:txBody>
          <a:bodyPr wrap="square" rtlCol="0">
            <a:spAutoFit/>
          </a:bodyPr>
          <a:lstStyle/>
          <a:p>
            <a:r>
              <a:rPr lang="en-US" sz="1350" dirty="0"/>
              <a:t>Player </a:t>
            </a:r>
            <a:r>
              <a:rPr lang="en-US" sz="1350" dirty="0">
                <a:sym typeface="Wingdings" panose="05000000000000000000" pitchFamily="2" charset="2"/>
              </a:rPr>
              <a:t> </a:t>
            </a:r>
            <a:r>
              <a:rPr lang="en-US" sz="1350" dirty="0"/>
              <a:t>O</a:t>
            </a:r>
            <a:r>
              <a:rPr lang="en-US" sz="1350" baseline="-25000" dirty="0"/>
              <a:t>2</a:t>
            </a:r>
            <a:endParaRPr lang="en-US" sz="1350" dirty="0">
              <a:sym typeface="Wingdings" panose="05000000000000000000" pitchFamily="2" charset="2"/>
            </a:endParaRPr>
          </a:p>
          <a:p>
            <a:r>
              <a:rPr lang="en-US" sz="1350" dirty="0">
                <a:sym typeface="Wingdings" panose="05000000000000000000" pitchFamily="2" charset="2"/>
              </a:rPr>
              <a:t>Action  2</a:t>
            </a:r>
          </a:p>
          <a:p>
            <a:endParaRPr lang="en-US" sz="1350" dirty="0">
              <a:sym typeface="Wingdings" panose="05000000000000000000" pitchFamily="2" charset="2"/>
            </a:endParaRPr>
          </a:p>
          <a:p>
            <a:r>
              <a:rPr lang="en-US" sz="1350" dirty="0"/>
              <a:t>O</a:t>
            </a:r>
            <a:r>
              <a:rPr lang="en-US" sz="1350" baseline="-25000" dirty="0"/>
              <a:t>2</a:t>
            </a:r>
            <a:r>
              <a:rPr lang="en-US" sz="1350" baseline="-25000" dirty="0">
                <a:sym typeface="Wingdings" panose="05000000000000000000" pitchFamily="2" charset="2"/>
              </a:rPr>
              <a:t> </a:t>
            </a:r>
            <a:r>
              <a:rPr lang="en-US" sz="1350" dirty="0">
                <a:sym typeface="Wingdings" panose="05000000000000000000" pitchFamily="2" charset="2"/>
              </a:rPr>
              <a:t>Calls make2</a:t>
            </a:r>
            <a:endParaRPr lang="en-US" sz="1350" dirty="0"/>
          </a:p>
        </p:txBody>
      </p:sp>
    </p:spTree>
    <p:extLst>
      <p:ext uri="{BB962C8B-B14F-4D97-AF65-F5344CB8AC3E}">
        <p14:creationId xmlns:p14="http://schemas.microsoft.com/office/powerpoint/2010/main" val="3781543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D5EA9-4FEF-4A17-A6CB-B828996C1738}"/>
              </a:ext>
            </a:extLst>
          </p:cNvPr>
          <p:cNvSpPr>
            <a:spLocks noGrp="1"/>
          </p:cNvSpPr>
          <p:nvPr>
            <p:ph idx="1"/>
          </p:nvPr>
        </p:nvSpPr>
        <p:spPr>
          <a:xfrm>
            <a:off x="3138489" y="3014663"/>
            <a:ext cx="5915025" cy="2540639"/>
          </a:xfrm>
        </p:spPr>
        <p:txBody>
          <a:bodyPr>
            <a:noAutofit/>
          </a:bodyPr>
          <a:lstStyle/>
          <a:p>
            <a:pPr marL="0" indent="0">
              <a:buNone/>
            </a:pPr>
            <a:r>
              <a:rPr lang="en-US" sz="1500" dirty="0"/>
              <a:t>Corner			Center(non-Corner)</a:t>
            </a:r>
          </a:p>
          <a:p>
            <a:pPr marL="0" indent="0">
              <a:buNone/>
            </a:pPr>
            <a:r>
              <a:rPr lang="en-US" sz="1500" dirty="0"/>
              <a:t>X</a:t>
            </a:r>
            <a:r>
              <a:rPr lang="en-US" sz="1500" baseline="-25000" dirty="0"/>
              <a:t>1  </a:t>
            </a:r>
            <a:r>
              <a:rPr lang="en-US" sz="1500" dirty="0"/>
              <a:t>X</a:t>
            </a:r>
            <a:r>
              <a:rPr lang="en-US" sz="1500" baseline="-25000" dirty="0"/>
              <a:t>2  			                        </a:t>
            </a:r>
            <a:r>
              <a:rPr lang="en-US" sz="1500" dirty="0"/>
              <a:t>O</a:t>
            </a:r>
            <a:r>
              <a:rPr lang="en-US" sz="1500" baseline="-25000" dirty="0"/>
              <a:t>1  </a:t>
            </a:r>
            <a:r>
              <a:rPr lang="en-US" sz="1500" dirty="0"/>
              <a:t>O</a:t>
            </a:r>
            <a:r>
              <a:rPr lang="en-US" sz="1500" baseline="-25000" dirty="0"/>
              <a:t>2  </a:t>
            </a:r>
          </a:p>
          <a:p>
            <a:pPr marL="0" indent="0">
              <a:buNone/>
            </a:pPr>
            <a:r>
              <a:rPr lang="en-US" sz="1500" dirty="0"/>
              <a:t>8 , 7  			                5  , 3 </a:t>
            </a:r>
          </a:p>
          <a:p>
            <a:pPr marL="0" indent="0">
              <a:buNone/>
            </a:pPr>
            <a:r>
              <a:rPr lang="en-US" sz="1500" dirty="0"/>
              <a:t>(8,7)			                (5,3)</a:t>
            </a:r>
          </a:p>
          <a:p>
            <a:pPr marL="0" indent="0">
              <a:buNone/>
            </a:pPr>
            <a:r>
              <a:rPr lang="en-US" sz="1500" dirty="0"/>
              <a:t>____________________________________________________________</a:t>
            </a:r>
          </a:p>
          <a:p>
            <a:pPr marL="0" indent="0" defTabSz="685800">
              <a:spcBef>
                <a:spcPts val="750"/>
              </a:spcBef>
              <a:buNone/>
              <a:defRPr/>
            </a:pPr>
            <a:r>
              <a:rPr lang="en-US" sz="1500" dirty="0"/>
              <a:t>X</a:t>
            </a:r>
            <a:r>
              <a:rPr lang="en-US" sz="1500" baseline="-25000" dirty="0"/>
              <a:t>2  </a:t>
            </a:r>
            <a:r>
              <a:rPr lang="en-US" sz="1600" dirty="0"/>
              <a:t>=</a:t>
            </a:r>
            <a:r>
              <a:rPr lang="en-US" sz="1500" dirty="0">
                <a:solidFill>
                  <a:prstClr val="black"/>
                </a:solidFill>
                <a:latin typeface="Aptos" panose="02110004020202020204"/>
              </a:rPr>
              <a:t>15 – (5+3) = 7</a:t>
            </a:r>
            <a:endParaRPr lang="en-US" sz="750" dirty="0">
              <a:solidFill>
                <a:prstClr val="black"/>
              </a:solidFill>
              <a:latin typeface="Aptos" panose="02110004020202020204"/>
            </a:endParaRPr>
          </a:p>
          <a:p>
            <a:pPr marL="0" indent="0">
              <a:buNone/>
            </a:pPr>
            <a:r>
              <a:rPr lang="en-US" sz="750" dirty="0">
                <a:solidFill>
                  <a:prstClr val="black"/>
                </a:solidFill>
                <a:latin typeface="Aptos" panose="02110004020202020204"/>
              </a:rPr>
              <a:t> </a:t>
            </a:r>
            <a:r>
              <a:rPr lang="en-US" sz="1200" dirty="0">
                <a:solidFill>
                  <a:prstClr val="black"/>
                </a:solidFill>
                <a:latin typeface="Aptos" panose="02110004020202020204"/>
              </a:rPr>
              <a:t>This is X’s Turn</a:t>
            </a:r>
            <a:endParaRPr lang="en-US" sz="1200" dirty="0"/>
          </a:p>
          <a:p>
            <a:pPr marL="0" indent="0">
              <a:buNone/>
            </a:pPr>
            <a:r>
              <a:rPr lang="en-US" sz="1500" dirty="0"/>
              <a:t>Next Turn Is for O</a:t>
            </a:r>
          </a:p>
        </p:txBody>
      </p:sp>
      <p:graphicFrame>
        <p:nvGraphicFramePr>
          <p:cNvPr id="5" name="Table 4">
            <a:extLst>
              <a:ext uri="{FF2B5EF4-FFF2-40B4-BE49-F238E27FC236}">
                <a16:creationId xmlns:a16="http://schemas.microsoft.com/office/drawing/2014/main" id="{68688B85-8CBB-4543-B76C-54857482CA98}"/>
              </a:ext>
            </a:extLst>
          </p:cNvPr>
          <p:cNvGraphicFramePr>
            <a:graphicFrameLocks noGrp="1"/>
          </p:cNvGraphicFramePr>
          <p:nvPr/>
        </p:nvGraphicFramePr>
        <p:xfrm>
          <a:off x="5060157" y="1687017"/>
          <a:ext cx="2071689" cy="1160148"/>
        </p:xfrm>
        <a:graphic>
          <a:graphicData uri="http://schemas.openxmlformats.org/drawingml/2006/table">
            <a:tbl>
              <a:tblPr firstRow="1" bandRow="1">
                <a:tableStyleId>{0505E3EF-67EA-436B-97B2-0124C06EBD24}</a:tableStyleId>
              </a:tblPr>
              <a:tblGrid>
                <a:gridCol w="690563">
                  <a:extLst>
                    <a:ext uri="{9D8B030D-6E8A-4147-A177-3AD203B41FA5}">
                      <a16:colId xmlns:a16="http://schemas.microsoft.com/office/drawing/2014/main" val="3464880107"/>
                    </a:ext>
                  </a:extLst>
                </a:gridCol>
                <a:gridCol w="690563">
                  <a:extLst>
                    <a:ext uri="{9D8B030D-6E8A-4147-A177-3AD203B41FA5}">
                      <a16:colId xmlns:a16="http://schemas.microsoft.com/office/drawing/2014/main" val="3813991982"/>
                    </a:ext>
                  </a:extLst>
                </a:gridCol>
                <a:gridCol w="690563">
                  <a:extLst>
                    <a:ext uri="{9D8B030D-6E8A-4147-A177-3AD203B41FA5}">
                      <a16:colId xmlns:a16="http://schemas.microsoft.com/office/drawing/2014/main" val="4160510696"/>
                    </a:ext>
                  </a:extLst>
                </a:gridCol>
              </a:tblGrid>
              <a:tr h="371475">
                <a:tc>
                  <a:txBody>
                    <a:bodyPr/>
                    <a:lstStyle/>
                    <a:p>
                      <a:pPr algn="l"/>
                      <a:r>
                        <a:rPr lang="en-US" sz="1100" b="1" dirty="0"/>
                        <a:t>8</a:t>
                      </a:r>
                    </a:p>
                    <a:p>
                      <a:pPr algn="ctr"/>
                      <a:r>
                        <a:rPr lang="en-US" sz="1100" b="1" dirty="0"/>
                        <a:t>X</a:t>
                      </a:r>
                      <a:r>
                        <a:rPr lang="en-US" sz="1100" b="1" baseline="-25000" dirty="0"/>
                        <a:t>1</a:t>
                      </a:r>
                      <a:endParaRPr lang="en-US" sz="1100" b="1" dirty="0"/>
                    </a:p>
                  </a:txBody>
                  <a:tcPr marL="51435" marR="51435" marT="25718" marB="25718"/>
                </a:tc>
                <a:tc>
                  <a:txBody>
                    <a:bodyPr/>
                    <a:lstStyle/>
                    <a:p>
                      <a:pPr algn="l"/>
                      <a:r>
                        <a:rPr lang="en-US" sz="1100" b="1" dirty="0"/>
                        <a:t>3</a:t>
                      </a:r>
                    </a:p>
                    <a:p>
                      <a:pPr algn="ctr"/>
                      <a:r>
                        <a:rPr lang="en-US" sz="1100" b="1" dirty="0"/>
                        <a:t>O</a:t>
                      </a:r>
                      <a:r>
                        <a:rPr lang="en-US" sz="1100" b="1" baseline="-25000" dirty="0"/>
                        <a:t>2</a:t>
                      </a:r>
                      <a:endParaRPr lang="en-US" sz="1100" b="1" dirty="0"/>
                    </a:p>
                  </a:txBody>
                  <a:tcPr marL="51435" marR="51435" marT="25718" marB="25718"/>
                </a:tc>
                <a:tc>
                  <a:txBody>
                    <a:bodyPr/>
                    <a:lstStyle/>
                    <a:p>
                      <a:r>
                        <a:rPr lang="en-US" sz="1100" b="1" dirty="0"/>
                        <a:t>4</a:t>
                      </a:r>
                    </a:p>
                    <a:p>
                      <a:pPr algn="ctr"/>
                      <a:endParaRPr lang="en-US" sz="1100" b="1" dirty="0"/>
                    </a:p>
                  </a:txBody>
                  <a:tcPr marL="51435" marR="51435" marT="25718" marB="25718"/>
                </a:tc>
                <a:extLst>
                  <a:ext uri="{0D108BD9-81ED-4DB2-BD59-A6C34878D82A}">
                    <a16:rowId xmlns:a16="http://schemas.microsoft.com/office/drawing/2014/main" val="847099619"/>
                  </a:ext>
                </a:extLst>
              </a:tr>
              <a:tr h="371475">
                <a:tc>
                  <a:txBody>
                    <a:bodyPr/>
                    <a:lstStyle/>
                    <a:p>
                      <a:r>
                        <a:rPr lang="en-US" sz="1100" b="1" dirty="0"/>
                        <a:t>1</a:t>
                      </a:r>
                    </a:p>
                  </a:txBody>
                  <a:tcPr marL="51435" marR="51435" marT="25718" marB="25718"/>
                </a:tc>
                <a:tc>
                  <a:txBody>
                    <a:bodyPr/>
                    <a:lstStyle/>
                    <a:p>
                      <a:r>
                        <a:rPr lang="en-US" sz="1100" b="1" dirty="0"/>
                        <a:t>5</a:t>
                      </a:r>
                    </a:p>
                    <a:p>
                      <a:pPr algn="ctr"/>
                      <a:r>
                        <a:rPr lang="en-US" sz="1100" b="1" dirty="0"/>
                        <a:t>O</a:t>
                      </a:r>
                      <a:r>
                        <a:rPr lang="en-US" sz="1100" b="1" baseline="-25000" dirty="0"/>
                        <a:t>1</a:t>
                      </a:r>
                      <a:endParaRPr lang="en-US" sz="1100" b="1" dirty="0"/>
                    </a:p>
                  </a:txBody>
                  <a:tcPr marL="51435" marR="51435" marT="25718" marB="25718"/>
                </a:tc>
                <a:tc>
                  <a:txBody>
                    <a:bodyPr/>
                    <a:lstStyle/>
                    <a:p>
                      <a:r>
                        <a:rPr lang="en-US" sz="1100" b="1" dirty="0"/>
                        <a:t>9</a:t>
                      </a:r>
                    </a:p>
                  </a:txBody>
                  <a:tcPr marL="51435" marR="51435" marT="25718" marB="25718"/>
                </a:tc>
                <a:extLst>
                  <a:ext uri="{0D108BD9-81ED-4DB2-BD59-A6C34878D82A}">
                    <a16:rowId xmlns:a16="http://schemas.microsoft.com/office/drawing/2014/main" val="164704671"/>
                  </a:ext>
                </a:extLst>
              </a:tr>
              <a:tr h="371475">
                <a:tc>
                  <a:txBody>
                    <a:bodyPr/>
                    <a:lstStyle/>
                    <a:p>
                      <a:r>
                        <a:rPr lang="en-US" sz="1100" b="1" dirty="0"/>
                        <a:t>6</a:t>
                      </a:r>
                    </a:p>
                  </a:txBody>
                  <a:tcPr marL="51435" marR="51435" marT="25718" marB="25718"/>
                </a:tc>
                <a:tc>
                  <a:txBody>
                    <a:bodyPr/>
                    <a:lstStyle/>
                    <a:p>
                      <a:r>
                        <a:rPr lang="en-US" sz="1100" b="1" dirty="0"/>
                        <a:t>7</a:t>
                      </a:r>
                    </a:p>
                    <a:p>
                      <a:pPr algn="ctr"/>
                      <a:r>
                        <a:rPr lang="en-US" sz="1100" b="1" dirty="0"/>
                        <a:t>X</a:t>
                      </a:r>
                      <a:r>
                        <a:rPr lang="en-US" sz="1100" b="1" baseline="-25000" dirty="0"/>
                        <a:t>2</a:t>
                      </a:r>
                      <a:endParaRPr lang="en-US" sz="1100" b="1" dirty="0"/>
                    </a:p>
                  </a:txBody>
                  <a:tcPr marL="51435" marR="51435" marT="25718" marB="25718"/>
                </a:tc>
                <a:tc>
                  <a:txBody>
                    <a:bodyPr/>
                    <a:lstStyle/>
                    <a:p>
                      <a:r>
                        <a:rPr lang="en-US" sz="1100" b="1" dirty="0"/>
                        <a:t>2</a:t>
                      </a:r>
                    </a:p>
                  </a:txBody>
                  <a:tcPr marL="51435" marR="51435" marT="25718" marB="25718"/>
                </a:tc>
                <a:extLst>
                  <a:ext uri="{0D108BD9-81ED-4DB2-BD59-A6C34878D82A}">
                    <a16:rowId xmlns:a16="http://schemas.microsoft.com/office/drawing/2014/main" val="887646109"/>
                  </a:ext>
                </a:extLst>
              </a:tr>
            </a:tbl>
          </a:graphicData>
        </a:graphic>
      </p:graphicFrame>
      <p:sp>
        <p:nvSpPr>
          <p:cNvPr id="4" name="TextBox 3">
            <a:extLst>
              <a:ext uri="{FF2B5EF4-FFF2-40B4-BE49-F238E27FC236}">
                <a16:creationId xmlns:a16="http://schemas.microsoft.com/office/drawing/2014/main" id="{34341111-5F5C-F65B-97DD-05F3FE6497FA}"/>
              </a:ext>
            </a:extLst>
          </p:cNvPr>
          <p:cNvSpPr txBox="1"/>
          <p:nvPr/>
        </p:nvSpPr>
        <p:spPr>
          <a:xfrm>
            <a:off x="7523259" y="2128316"/>
            <a:ext cx="1884460" cy="507831"/>
          </a:xfrm>
          <a:prstGeom prst="rect">
            <a:avLst/>
          </a:prstGeom>
          <a:noFill/>
        </p:spPr>
        <p:txBody>
          <a:bodyPr wrap="square" rtlCol="0">
            <a:spAutoFit/>
          </a:bodyPr>
          <a:lstStyle/>
          <a:p>
            <a:r>
              <a:rPr lang="en-US" sz="1350" dirty="0"/>
              <a:t>Player </a:t>
            </a:r>
            <a:r>
              <a:rPr lang="en-US" sz="1350" dirty="0">
                <a:sym typeface="Wingdings" panose="05000000000000000000" pitchFamily="2" charset="2"/>
              </a:rPr>
              <a:t> </a:t>
            </a:r>
            <a:r>
              <a:rPr lang="en-US" sz="1350" dirty="0"/>
              <a:t>X</a:t>
            </a:r>
            <a:r>
              <a:rPr lang="en-US" sz="1350" baseline="-25000" dirty="0"/>
              <a:t>2</a:t>
            </a:r>
            <a:endParaRPr lang="en-US" sz="1350" dirty="0">
              <a:sym typeface="Wingdings" panose="05000000000000000000" pitchFamily="2" charset="2"/>
            </a:endParaRPr>
          </a:p>
          <a:p>
            <a:r>
              <a:rPr lang="en-US" sz="1350" dirty="0">
                <a:sym typeface="Wingdings" panose="05000000000000000000" pitchFamily="2" charset="2"/>
              </a:rPr>
              <a:t>Action  2</a:t>
            </a:r>
          </a:p>
        </p:txBody>
      </p:sp>
    </p:spTree>
    <p:extLst>
      <p:ext uri="{BB962C8B-B14F-4D97-AF65-F5344CB8AC3E}">
        <p14:creationId xmlns:p14="http://schemas.microsoft.com/office/powerpoint/2010/main" val="3898085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D5EA9-4FEF-4A17-A6CB-B828996C1738}"/>
              </a:ext>
            </a:extLst>
          </p:cNvPr>
          <p:cNvSpPr>
            <a:spLocks noGrp="1"/>
          </p:cNvSpPr>
          <p:nvPr>
            <p:ph idx="1"/>
          </p:nvPr>
        </p:nvSpPr>
        <p:spPr>
          <a:xfrm>
            <a:off x="3138489" y="3014663"/>
            <a:ext cx="5915025" cy="2502183"/>
          </a:xfrm>
        </p:spPr>
        <p:txBody>
          <a:bodyPr>
            <a:noAutofit/>
          </a:bodyPr>
          <a:lstStyle/>
          <a:p>
            <a:pPr marL="0" indent="0">
              <a:buNone/>
            </a:pPr>
            <a:r>
              <a:rPr lang="en-US" sz="1500" dirty="0"/>
              <a:t>Corner			Center(non-Corner)</a:t>
            </a:r>
          </a:p>
          <a:p>
            <a:pPr marL="0" indent="0">
              <a:buNone/>
            </a:pPr>
            <a:r>
              <a:rPr lang="en-US" sz="1500" dirty="0"/>
              <a:t>X</a:t>
            </a:r>
            <a:r>
              <a:rPr lang="en-US" sz="1500" baseline="-25000" dirty="0"/>
              <a:t>1  </a:t>
            </a:r>
            <a:r>
              <a:rPr lang="en-US" sz="1500" dirty="0"/>
              <a:t>X</a:t>
            </a:r>
            <a:r>
              <a:rPr lang="en-US" sz="1500" baseline="-25000" dirty="0"/>
              <a:t>2 			                   </a:t>
            </a:r>
            <a:r>
              <a:rPr lang="en-US" sz="1500" dirty="0"/>
              <a:t>O</a:t>
            </a:r>
            <a:r>
              <a:rPr lang="en-US" sz="1500" baseline="-25000" dirty="0"/>
              <a:t>1  </a:t>
            </a:r>
            <a:r>
              <a:rPr lang="en-US" sz="1500" dirty="0"/>
              <a:t>O</a:t>
            </a:r>
            <a:r>
              <a:rPr lang="en-US" sz="1500" baseline="-25000" dirty="0"/>
              <a:t>2 </a:t>
            </a:r>
            <a:r>
              <a:rPr lang="en-US" sz="1500" dirty="0"/>
              <a:t>O</a:t>
            </a:r>
            <a:r>
              <a:rPr lang="en-US" sz="1500" baseline="-25000" dirty="0"/>
              <a:t>3  </a:t>
            </a:r>
          </a:p>
          <a:p>
            <a:pPr marL="0" indent="0">
              <a:buNone/>
            </a:pPr>
            <a:r>
              <a:rPr lang="en-US" sz="1500" dirty="0"/>
              <a:t>8 , 7  			             5 ,  3,  9</a:t>
            </a:r>
          </a:p>
          <a:p>
            <a:pPr marL="0" indent="0">
              <a:buNone/>
            </a:pPr>
            <a:r>
              <a:rPr lang="en-US" sz="1500" dirty="0"/>
              <a:t>(8,7)			      (5,3),(5,9),(3,9)</a:t>
            </a:r>
          </a:p>
          <a:p>
            <a:pPr marL="0" indent="0">
              <a:buNone/>
            </a:pPr>
            <a:r>
              <a:rPr lang="en-US" sz="1500" dirty="0"/>
              <a:t>____________________________________________________________</a:t>
            </a:r>
          </a:p>
          <a:p>
            <a:pPr marL="0" indent="0" defTabSz="685800">
              <a:spcBef>
                <a:spcPts val="750"/>
              </a:spcBef>
              <a:buNone/>
              <a:defRPr/>
            </a:pPr>
            <a:r>
              <a:rPr lang="en-US" sz="1500" dirty="0"/>
              <a:t>O</a:t>
            </a:r>
            <a:r>
              <a:rPr lang="en-US" sz="1500" baseline="-25000" dirty="0"/>
              <a:t>3  </a:t>
            </a:r>
            <a:r>
              <a:rPr lang="en-US" sz="1600" dirty="0"/>
              <a:t>=</a:t>
            </a:r>
            <a:r>
              <a:rPr lang="en-US" sz="1500" dirty="0">
                <a:solidFill>
                  <a:prstClr val="black"/>
                </a:solidFill>
                <a:latin typeface="Aptos" panose="02110004020202020204"/>
              </a:rPr>
              <a:t>15 – (8+7) = 0 ; </a:t>
            </a:r>
            <a:r>
              <a:rPr lang="en-US" sz="1050" dirty="0">
                <a:solidFill>
                  <a:prstClr val="black"/>
                </a:solidFill>
                <a:latin typeface="Aptos" panose="02110004020202020204"/>
              </a:rPr>
              <a:t>0 is out of bounds, So O uses make2 and moves 9</a:t>
            </a:r>
            <a:endParaRPr lang="en-US" sz="750" dirty="0">
              <a:solidFill>
                <a:prstClr val="black"/>
              </a:solidFill>
              <a:latin typeface="Aptos" panose="02110004020202020204"/>
            </a:endParaRPr>
          </a:p>
          <a:p>
            <a:pPr marL="0" indent="0">
              <a:buNone/>
            </a:pPr>
            <a:r>
              <a:rPr lang="en-US" sz="1200" dirty="0">
                <a:solidFill>
                  <a:prstClr val="black"/>
                </a:solidFill>
                <a:latin typeface="Aptos" panose="02110004020202020204"/>
              </a:rPr>
              <a:t> This is O’s Turn</a:t>
            </a:r>
            <a:endParaRPr lang="en-US" sz="1200" dirty="0"/>
          </a:p>
          <a:p>
            <a:pPr marL="0" indent="0">
              <a:buNone/>
            </a:pPr>
            <a:r>
              <a:rPr lang="en-US" sz="1500" dirty="0"/>
              <a:t>Next Turn Is for X</a:t>
            </a:r>
          </a:p>
        </p:txBody>
      </p:sp>
      <p:graphicFrame>
        <p:nvGraphicFramePr>
          <p:cNvPr id="5" name="Table 4">
            <a:extLst>
              <a:ext uri="{FF2B5EF4-FFF2-40B4-BE49-F238E27FC236}">
                <a16:creationId xmlns:a16="http://schemas.microsoft.com/office/drawing/2014/main" id="{68688B85-8CBB-4543-B76C-54857482CA98}"/>
              </a:ext>
            </a:extLst>
          </p:cNvPr>
          <p:cNvGraphicFramePr>
            <a:graphicFrameLocks noGrp="1"/>
          </p:cNvGraphicFramePr>
          <p:nvPr/>
        </p:nvGraphicFramePr>
        <p:xfrm>
          <a:off x="5060157" y="1695616"/>
          <a:ext cx="2071689" cy="1160148"/>
        </p:xfrm>
        <a:graphic>
          <a:graphicData uri="http://schemas.openxmlformats.org/drawingml/2006/table">
            <a:tbl>
              <a:tblPr firstRow="1" bandRow="1">
                <a:tableStyleId>{0505E3EF-67EA-436B-97B2-0124C06EBD24}</a:tableStyleId>
              </a:tblPr>
              <a:tblGrid>
                <a:gridCol w="690563">
                  <a:extLst>
                    <a:ext uri="{9D8B030D-6E8A-4147-A177-3AD203B41FA5}">
                      <a16:colId xmlns:a16="http://schemas.microsoft.com/office/drawing/2014/main" val="3464880107"/>
                    </a:ext>
                  </a:extLst>
                </a:gridCol>
                <a:gridCol w="690563">
                  <a:extLst>
                    <a:ext uri="{9D8B030D-6E8A-4147-A177-3AD203B41FA5}">
                      <a16:colId xmlns:a16="http://schemas.microsoft.com/office/drawing/2014/main" val="3813991982"/>
                    </a:ext>
                  </a:extLst>
                </a:gridCol>
                <a:gridCol w="690563">
                  <a:extLst>
                    <a:ext uri="{9D8B030D-6E8A-4147-A177-3AD203B41FA5}">
                      <a16:colId xmlns:a16="http://schemas.microsoft.com/office/drawing/2014/main" val="4160510696"/>
                    </a:ext>
                  </a:extLst>
                </a:gridCol>
              </a:tblGrid>
              <a:tr h="371475">
                <a:tc>
                  <a:txBody>
                    <a:bodyPr/>
                    <a:lstStyle/>
                    <a:p>
                      <a:pPr algn="l"/>
                      <a:r>
                        <a:rPr lang="en-US" sz="1100" b="1" dirty="0"/>
                        <a:t>8</a:t>
                      </a:r>
                    </a:p>
                    <a:p>
                      <a:pPr algn="ctr"/>
                      <a:r>
                        <a:rPr lang="en-US" sz="1100" b="1" dirty="0"/>
                        <a:t>X</a:t>
                      </a:r>
                      <a:r>
                        <a:rPr lang="en-US" sz="1100" b="1" baseline="-25000" dirty="0"/>
                        <a:t>1</a:t>
                      </a:r>
                      <a:endParaRPr lang="en-US" sz="1100" b="1" dirty="0"/>
                    </a:p>
                  </a:txBody>
                  <a:tcPr marL="51435" marR="51435" marT="25718" marB="25718"/>
                </a:tc>
                <a:tc>
                  <a:txBody>
                    <a:bodyPr/>
                    <a:lstStyle/>
                    <a:p>
                      <a:pPr algn="l"/>
                      <a:r>
                        <a:rPr lang="en-US" sz="1100" b="1" dirty="0"/>
                        <a:t>3</a:t>
                      </a:r>
                    </a:p>
                    <a:p>
                      <a:pPr algn="ctr"/>
                      <a:r>
                        <a:rPr lang="en-US" sz="1100" b="1" dirty="0"/>
                        <a:t>O</a:t>
                      </a:r>
                      <a:r>
                        <a:rPr lang="en-US" sz="1100" b="1" baseline="-25000" dirty="0"/>
                        <a:t>2</a:t>
                      </a:r>
                      <a:endParaRPr lang="en-US" sz="1100" b="1" dirty="0"/>
                    </a:p>
                  </a:txBody>
                  <a:tcPr marL="51435" marR="51435" marT="25718" marB="25718"/>
                </a:tc>
                <a:tc>
                  <a:txBody>
                    <a:bodyPr/>
                    <a:lstStyle/>
                    <a:p>
                      <a:r>
                        <a:rPr lang="en-US" sz="1100" b="1" dirty="0"/>
                        <a:t>4</a:t>
                      </a:r>
                    </a:p>
                    <a:p>
                      <a:pPr algn="ctr"/>
                      <a:endParaRPr lang="en-US" sz="1100" b="1" dirty="0"/>
                    </a:p>
                  </a:txBody>
                  <a:tcPr marL="51435" marR="51435" marT="25718" marB="25718"/>
                </a:tc>
                <a:extLst>
                  <a:ext uri="{0D108BD9-81ED-4DB2-BD59-A6C34878D82A}">
                    <a16:rowId xmlns:a16="http://schemas.microsoft.com/office/drawing/2014/main" val="847099619"/>
                  </a:ext>
                </a:extLst>
              </a:tr>
              <a:tr h="371475">
                <a:tc>
                  <a:txBody>
                    <a:bodyPr/>
                    <a:lstStyle/>
                    <a:p>
                      <a:r>
                        <a:rPr lang="en-US" sz="1100" b="1" dirty="0"/>
                        <a:t>1</a:t>
                      </a:r>
                    </a:p>
                  </a:txBody>
                  <a:tcPr marL="51435" marR="51435" marT="25718" marB="25718"/>
                </a:tc>
                <a:tc>
                  <a:txBody>
                    <a:bodyPr/>
                    <a:lstStyle/>
                    <a:p>
                      <a:r>
                        <a:rPr lang="en-US" sz="1100" b="1" dirty="0"/>
                        <a:t>5</a:t>
                      </a:r>
                    </a:p>
                    <a:p>
                      <a:pPr algn="ctr"/>
                      <a:r>
                        <a:rPr lang="en-US" sz="1100" b="1" dirty="0"/>
                        <a:t>O</a:t>
                      </a:r>
                      <a:r>
                        <a:rPr lang="en-US" sz="1100" b="1" baseline="-25000" dirty="0"/>
                        <a:t>1</a:t>
                      </a:r>
                      <a:endParaRPr lang="en-US" sz="1100" b="1" dirty="0"/>
                    </a:p>
                  </a:txBody>
                  <a:tcPr marL="51435" marR="51435" marT="25718" marB="25718"/>
                </a:tc>
                <a:tc>
                  <a:txBody>
                    <a:bodyPr/>
                    <a:lstStyle/>
                    <a:p>
                      <a:r>
                        <a:rPr lang="en-US" sz="1100" b="1" dirty="0"/>
                        <a:t>9</a:t>
                      </a:r>
                    </a:p>
                    <a:p>
                      <a:pPr algn="ctr"/>
                      <a:r>
                        <a:rPr lang="en-US" sz="1100" b="1" dirty="0"/>
                        <a:t>O</a:t>
                      </a:r>
                      <a:r>
                        <a:rPr lang="en-US" sz="1100" b="1" baseline="-25000" dirty="0"/>
                        <a:t>3</a:t>
                      </a:r>
                      <a:endParaRPr lang="en-US" sz="1100" b="1" dirty="0"/>
                    </a:p>
                  </a:txBody>
                  <a:tcPr marL="51435" marR="51435" marT="25718" marB="25718"/>
                </a:tc>
                <a:extLst>
                  <a:ext uri="{0D108BD9-81ED-4DB2-BD59-A6C34878D82A}">
                    <a16:rowId xmlns:a16="http://schemas.microsoft.com/office/drawing/2014/main" val="164704671"/>
                  </a:ext>
                </a:extLst>
              </a:tr>
              <a:tr h="371475">
                <a:tc>
                  <a:txBody>
                    <a:bodyPr/>
                    <a:lstStyle/>
                    <a:p>
                      <a:r>
                        <a:rPr lang="en-US" sz="1100" b="1" dirty="0"/>
                        <a:t>6</a:t>
                      </a:r>
                    </a:p>
                  </a:txBody>
                  <a:tcPr marL="51435" marR="51435" marT="25718" marB="25718"/>
                </a:tc>
                <a:tc>
                  <a:txBody>
                    <a:bodyPr/>
                    <a:lstStyle/>
                    <a:p>
                      <a:r>
                        <a:rPr lang="en-US" sz="1100" b="1" dirty="0"/>
                        <a:t>7</a:t>
                      </a:r>
                    </a:p>
                    <a:p>
                      <a:pPr algn="ctr"/>
                      <a:r>
                        <a:rPr lang="en-US" sz="1100" b="1" dirty="0"/>
                        <a:t>X</a:t>
                      </a:r>
                      <a:r>
                        <a:rPr lang="en-US" sz="1100" b="1" baseline="-25000" dirty="0"/>
                        <a:t>2</a:t>
                      </a:r>
                      <a:endParaRPr lang="en-US" sz="1100" b="1" dirty="0"/>
                    </a:p>
                  </a:txBody>
                  <a:tcPr marL="51435" marR="51435" marT="25718" marB="25718"/>
                </a:tc>
                <a:tc>
                  <a:txBody>
                    <a:bodyPr/>
                    <a:lstStyle/>
                    <a:p>
                      <a:r>
                        <a:rPr lang="en-US" sz="1100" b="1" dirty="0"/>
                        <a:t>2</a:t>
                      </a:r>
                    </a:p>
                  </a:txBody>
                  <a:tcPr marL="51435" marR="51435" marT="25718" marB="25718"/>
                </a:tc>
                <a:extLst>
                  <a:ext uri="{0D108BD9-81ED-4DB2-BD59-A6C34878D82A}">
                    <a16:rowId xmlns:a16="http://schemas.microsoft.com/office/drawing/2014/main" val="887646109"/>
                  </a:ext>
                </a:extLst>
              </a:tr>
            </a:tbl>
          </a:graphicData>
        </a:graphic>
      </p:graphicFrame>
      <p:sp>
        <p:nvSpPr>
          <p:cNvPr id="2" name="TextBox 1">
            <a:extLst>
              <a:ext uri="{FF2B5EF4-FFF2-40B4-BE49-F238E27FC236}">
                <a16:creationId xmlns:a16="http://schemas.microsoft.com/office/drawing/2014/main" id="{0590DFBC-3AD4-86D9-8173-BF9FD7AB8083}"/>
              </a:ext>
            </a:extLst>
          </p:cNvPr>
          <p:cNvSpPr txBox="1"/>
          <p:nvPr/>
        </p:nvSpPr>
        <p:spPr>
          <a:xfrm>
            <a:off x="7767762" y="1955375"/>
            <a:ext cx="1884460" cy="507831"/>
          </a:xfrm>
          <a:prstGeom prst="rect">
            <a:avLst/>
          </a:prstGeom>
          <a:noFill/>
        </p:spPr>
        <p:txBody>
          <a:bodyPr wrap="square" rtlCol="0">
            <a:spAutoFit/>
          </a:bodyPr>
          <a:lstStyle/>
          <a:p>
            <a:r>
              <a:rPr lang="en-US" sz="1350" dirty="0"/>
              <a:t>Player </a:t>
            </a:r>
            <a:r>
              <a:rPr lang="en-US" sz="1350" dirty="0">
                <a:sym typeface="Wingdings" panose="05000000000000000000" pitchFamily="2" charset="2"/>
              </a:rPr>
              <a:t> </a:t>
            </a:r>
            <a:r>
              <a:rPr lang="en-US" sz="1350" dirty="0"/>
              <a:t>O</a:t>
            </a:r>
            <a:r>
              <a:rPr lang="en-US" sz="1350" baseline="-25000" dirty="0"/>
              <a:t>3</a:t>
            </a:r>
            <a:endParaRPr lang="en-US" sz="1350" dirty="0">
              <a:sym typeface="Wingdings" panose="05000000000000000000" pitchFamily="2" charset="2"/>
            </a:endParaRPr>
          </a:p>
          <a:p>
            <a:r>
              <a:rPr lang="en-US" sz="1350" dirty="0">
                <a:sym typeface="Wingdings" panose="05000000000000000000" pitchFamily="2" charset="2"/>
              </a:rPr>
              <a:t>Action  3</a:t>
            </a:r>
          </a:p>
        </p:txBody>
      </p:sp>
    </p:spTree>
    <p:extLst>
      <p:ext uri="{BB962C8B-B14F-4D97-AF65-F5344CB8AC3E}">
        <p14:creationId xmlns:p14="http://schemas.microsoft.com/office/powerpoint/2010/main" val="3400758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D5EA9-4FEF-4A17-A6CB-B828996C1738}"/>
              </a:ext>
            </a:extLst>
          </p:cNvPr>
          <p:cNvSpPr>
            <a:spLocks noGrp="1"/>
          </p:cNvSpPr>
          <p:nvPr>
            <p:ph idx="1"/>
          </p:nvPr>
        </p:nvSpPr>
        <p:spPr>
          <a:xfrm>
            <a:off x="3138489" y="2777061"/>
            <a:ext cx="5915025" cy="3136708"/>
          </a:xfrm>
        </p:spPr>
        <p:txBody>
          <a:bodyPr>
            <a:noAutofit/>
          </a:bodyPr>
          <a:lstStyle/>
          <a:p>
            <a:pPr marL="0" indent="0">
              <a:buNone/>
            </a:pPr>
            <a:r>
              <a:rPr lang="en-US" sz="1500" dirty="0"/>
              <a:t>        Corner		              Center</a:t>
            </a:r>
          </a:p>
          <a:p>
            <a:pPr marL="0" indent="0">
              <a:buNone/>
            </a:pPr>
            <a:r>
              <a:rPr lang="en-US" sz="1500" dirty="0"/>
              <a:t>       X</a:t>
            </a:r>
            <a:r>
              <a:rPr lang="en-US" sz="1500" baseline="-25000" dirty="0"/>
              <a:t>1  </a:t>
            </a:r>
            <a:r>
              <a:rPr lang="en-US" sz="1500" dirty="0"/>
              <a:t>X</a:t>
            </a:r>
            <a:r>
              <a:rPr lang="en-US" sz="1500" baseline="-25000" dirty="0"/>
              <a:t>2 </a:t>
            </a:r>
            <a:r>
              <a:rPr lang="en-US" sz="1500" dirty="0"/>
              <a:t> X</a:t>
            </a:r>
            <a:r>
              <a:rPr lang="en-US" sz="1500" baseline="-25000" dirty="0"/>
              <a:t>3 		                   </a:t>
            </a:r>
            <a:r>
              <a:rPr lang="en-US" sz="1500" dirty="0"/>
              <a:t>O</a:t>
            </a:r>
            <a:r>
              <a:rPr lang="en-US" sz="1500" baseline="-25000" dirty="0"/>
              <a:t>1  </a:t>
            </a:r>
            <a:r>
              <a:rPr lang="en-US" sz="1500" dirty="0"/>
              <a:t>O</a:t>
            </a:r>
            <a:r>
              <a:rPr lang="en-US" sz="1500" baseline="-25000" dirty="0"/>
              <a:t>2 </a:t>
            </a:r>
            <a:r>
              <a:rPr lang="en-US" sz="1500" dirty="0"/>
              <a:t>O</a:t>
            </a:r>
            <a:r>
              <a:rPr lang="en-US" sz="1500" baseline="-25000" dirty="0"/>
              <a:t>3  </a:t>
            </a:r>
          </a:p>
          <a:p>
            <a:pPr marL="0" indent="0">
              <a:buNone/>
            </a:pPr>
            <a:r>
              <a:rPr lang="en-US" sz="1500" dirty="0"/>
              <a:t>       8 , 7,  1  		             5 ,  3,  9</a:t>
            </a:r>
          </a:p>
          <a:p>
            <a:pPr marL="0" indent="0">
              <a:buNone/>
            </a:pPr>
            <a:r>
              <a:rPr lang="en-US" sz="1500" dirty="0"/>
              <a:t>(8,7),(8,1),(7,1)	                        (5,3),(5,9),(3,9)</a:t>
            </a:r>
          </a:p>
          <a:p>
            <a:pPr marL="0" indent="0">
              <a:buNone/>
            </a:pPr>
            <a:r>
              <a:rPr lang="en-US" sz="1500" dirty="0"/>
              <a:t>____________________________________________________________</a:t>
            </a:r>
          </a:p>
          <a:p>
            <a:pPr marL="0" indent="0" defTabSz="685800">
              <a:spcBef>
                <a:spcPts val="750"/>
              </a:spcBef>
              <a:buNone/>
              <a:defRPr/>
            </a:pPr>
            <a:r>
              <a:rPr lang="en-US" sz="1500" dirty="0"/>
              <a:t>X</a:t>
            </a:r>
            <a:r>
              <a:rPr lang="en-US" sz="1500" baseline="-25000" dirty="0"/>
              <a:t>3  </a:t>
            </a:r>
            <a:r>
              <a:rPr lang="en-US" sz="1600" dirty="0"/>
              <a:t>=</a:t>
            </a:r>
            <a:r>
              <a:rPr lang="en-US" sz="1500" dirty="0">
                <a:solidFill>
                  <a:prstClr val="black"/>
                </a:solidFill>
                <a:latin typeface="Aptos" panose="02110004020202020204"/>
              </a:rPr>
              <a:t>15 – (5+3) = 7 ; </a:t>
            </a:r>
            <a:r>
              <a:rPr lang="en-US" sz="1050" dirty="0">
                <a:solidFill>
                  <a:prstClr val="black"/>
                </a:solidFill>
                <a:latin typeface="Aptos" panose="02110004020202020204"/>
              </a:rPr>
              <a:t>7 is already occupied</a:t>
            </a:r>
          </a:p>
          <a:p>
            <a:pPr marL="0" indent="0">
              <a:buNone/>
              <a:defRPr/>
            </a:pPr>
            <a:r>
              <a:rPr lang="en-US" sz="1500" dirty="0"/>
              <a:t>X</a:t>
            </a:r>
            <a:r>
              <a:rPr lang="en-US" sz="1500" baseline="-25000" dirty="0"/>
              <a:t>3  </a:t>
            </a:r>
            <a:r>
              <a:rPr lang="en-US" sz="1050" dirty="0"/>
              <a:t>=</a:t>
            </a:r>
            <a:r>
              <a:rPr lang="en-US" sz="1500" dirty="0">
                <a:solidFill>
                  <a:prstClr val="black"/>
                </a:solidFill>
                <a:latin typeface="Aptos" panose="02110004020202020204"/>
              </a:rPr>
              <a:t>15 – (3+9) = 3 ; </a:t>
            </a:r>
            <a:r>
              <a:rPr lang="en-US" sz="1050" dirty="0">
                <a:solidFill>
                  <a:prstClr val="black"/>
                </a:solidFill>
                <a:latin typeface="Aptos" panose="02110004020202020204"/>
              </a:rPr>
              <a:t>3 is already occupied</a:t>
            </a:r>
          </a:p>
          <a:p>
            <a:pPr marL="0" indent="0" defTabSz="685800">
              <a:spcBef>
                <a:spcPts val="750"/>
              </a:spcBef>
              <a:buNone/>
              <a:defRPr/>
            </a:pPr>
            <a:r>
              <a:rPr lang="en-US" sz="1500" dirty="0">
                <a:solidFill>
                  <a:prstClr val="black"/>
                </a:solidFill>
                <a:latin typeface="Aptos" panose="02110004020202020204"/>
              </a:rPr>
              <a:t>X</a:t>
            </a:r>
            <a:r>
              <a:rPr lang="en-US" sz="1500" baseline="-25000" dirty="0">
                <a:solidFill>
                  <a:prstClr val="black"/>
                </a:solidFill>
                <a:latin typeface="Aptos" panose="02110004020202020204"/>
              </a:rPr>
              <a:t>3  </a:t>
            </a:r>
            <a:r>
              <a:rPr lang="en-US" sz="2100" dirty="0">
                <a:solidFill>
                  <a:prstClr val="black"/>
                </a:solidFill>
                <a:latin typeface="Aptos" panose="02110004020202020204"/>
              </a:rPr>
              <a:t>=</a:t>
            </a:r>
            <a:r>
              <a:rPr lang="en-US" sz="1500" dirty="0">
                <a:solidFill>
                  <a:prstClr val="black"/>
                </a:solidFill>
                <a:latin typeface="Aptos" panose="02110004020202020204"/>
              </a:rPr>
              <a:t>15 – (5+9) = 1 ; </a:t>
            </a:r>
            <a:r>
              <a:rPr lang="en-US" sz="1050" dirty="0">
                <a:solidFill>
                  <a:prstClr val="black"/>
                </a:solidFill>
                <a:latin typeface="Aptos" panose="02110004020202020204"/>
              </a:rPr>
              <a:t> X moves at 1</a:t>
            </a:r>
            <a:endParaRPr lang="en-US" sz="750" dirty="0">
              <a:solidFill>
                <a:prstClr val="black"/>
              </a:solidFill>
              <a:latin typeface="Aptos" panose="02110004020202020204"/>
            </a:endParaRPr>
          </a:p>
          <a:p>
            <a:pPr marL="0" indent="0">
              <a:buNone/>
            </a:pPr>
            <a:r>
              <a:rPr lang="en-US" sz="1200" dirty="0">
                <a:solidFill>
                  <a:prstClr val="black"/>
                </a:solidFill>
                <a:latin typeface="Aptos" panose="02110004020202020204"/>
              </a:rPr>
              <a:t> This is X’s Turn</a:t>
            </a:r>
            <a:endParaRPr lang="en-US" sz="1200" dirty="0"/>
          </a:p>
          <a:p>
            <a:pPr marL="0" indent="0">
              <a:buNone/>
            </a:pPr>
            <a:r>
              <a:rPr lang="en-US" sz="1500" dirty="0"/>
              <a:t>Next Turn Is for O</a:t>
            </a:r>
          </a:p>
        </p:txBody>
      </p:sp>
      <p:graphicFrame>
        <p:nvGraphicFramePr>
          <p:cNvPr id="5" name="Table 4">
            <a:extLst>
              <a:ext uri="{FF2B5EF4-FFF2-40B4-BE49-F238E27FC236}">
                <a16:creationId xmlns:a16="http://schemas.microsoft.com/office/drawing/2014/main" id="{68688B85-8CBB-4543-B76C-54857482CA98}"/>
              </a:ext>
            </a:extLst>
          </p:cNvPr>
          <p:cNvGraphicFramePr>
            <a:graphicFrameLocks noGrp="1"/>
          </p:cNvGraphicFramePr>
          <p:nvPr/>
        </p:nvGraphicFramePr>
        <p:xfrm>
          <a:off x="5008883" y="1398161"/>
          <a:ext cx="2071689" cy="1160148"/>
        </p:xfrm>
        <a:graphic>
          <a:graphicData uri="http://schemas.openxmlformats.org/drawingml/2006/table">
            <a:tbl>
              <a:tblPr firstRow="1" bandRow="1">
                <a:tableStyleId>{0505E3EF-67EA-436B-97B2-0124C06EBD24}</a:tableStyleId>
              </a:tblPr>
              <a:tblGrid>
                <a:gridCol w="690563">
                  <a:extLst>
                    <a:ext uri="{9D8B030D-6E8A-4147-A177-3AD203B41FA5}">
                      <a16:colId xmlns:a16="http://schemas.microsoft.com/office/drawing/2014/main" val="3464880107"/>
                    </a:ext>
                  </a:extLst>
                </a:gridCol>
                <a:gridCol w="690563">
                  <a:extLst>
                    <a:ext uri="{9D8B030D-6E8A-4147-A177-3AD203B41FA5}">
                      <a16:colId xmlns:a16="http://schemas.microsoft.com/office/drawing/2014/main" val="3813991982"/>
                    </a:ext>
                  </a:extLst>
                </a:gridCol>
                <a:gridCol w="690563">
                  <a:extLst>
                    <a:ext uri="{9D8B030D-6E8A-4147-A177-3AD203B41FA5}">
                      <a16:colId xmlns:a16="http://schemas.microsoft.com/office/drawing/2014/main" val="4160510696"/>
                    </a:ext>
                  </a:extLst>
                </a:gridCol>
              </a:tblGrid>
              <a:tr h="371475">
                <a:tc>
                  <a:txBody>
                    <a:bodyPr/>
                    <a:lstStyle/>
                    <a:p>
                      <a:pPr algn="l"/>
                      <a:r>
                        <a:rPr lang="en-US" sz="1100" b="1" dirty="0"/>
                        <a:t>8</a:t>
                      </a:r>
                    </a:p>
                    <a:p>
                      <a:pPr algn="ctr"/>
                      <a:r>
                        <a:rPr lang="en-US" sz="1100" b="1" dirty="0"/>
                        <a:t>X</a:t>
                      </a:r>
                      <a:r>
                        <a:rPr lang="en-US" sz="1100" b="1" baseline="-25000" dirty="0"/>
                        <a:t>1</a:t>
                      </a:r>
                      <a:endParaRPr lang="en-US" sz="1100" b="1" dirty="0"/>
                    </a:p>
                  </a:txBody>
                  <a:tcPr marL="51435" marR="51435" marT="25718" marB="25718"/>
                </a:tc>
                <a:tc>
                  <a:txBody>
                    <a:bodyPr/>
                    <a:lstStyle/>
                    <a:p>
                      <a:pPr algn="l"/>
                      <a:r>
                        <a:rPr lang="en-US" sz="1100" b="1" dirty="0"/>
                        <a:t>3</a:t>
                      </a:r>
                    </a:p>
                    <a:p>
                      <a:pPr algn="ctr"/>
                      <a:r>
                        <a:rPr lang="en-US" sz="1100" b="1" dirty="0"/>
                        <a:t>O</a:t>
                      </a:r>
                      <a:r>
                        <a:rPr lang="en-US" sz="1100" b="1" baseline="-25000" dirty="0"/>
                        <a:t>2</a:t>
                      </a:r>
                      <a:endParaRPr lang="en-US" sz="1100" b="1" dirty="0"/>
                    </a:p>
                  </a:txBody>
                  <a:tcPr marL="51435" marR="51435" marT="25718" marB="25718"/>
                </a:tc>
                <a:tc>
                  <a:txBody>
                    <a:bodyPr/>
                    <a:lstStyle/>
                    <a:p>
                      <a:r>
                        <a:rPr lang="en-US" sz="1100" b="1" dirty="0"/>
                        <a:t>4</a:t>
                      </a:r>
                    </a:p>
                    <a:p>
                      <a:pPr algn="ctr"/>
                      <a:endParaRPr lang="en-US" sz="1100" b="1" dirty="0"/>
                    </a:p>
                  </a:txBody>
                  <a:tcPr marL="51435" marR="51435" marT="25718" marB="25718"/>
                </a:tc>
                <a:extLst>
                  <a:ext uri="{0D108BD9-81ED-4DB2-BD59-A6C34878D82A}">
                    <a16:rowId xmlns:a16="http://schemas.microsoft.com/office/drawing/2014/main" val="847099619"/>
                  </a:ext>
                </a:extLst>
              </a:tr>
              <a:tr h="371475">
                <a:tc>
                  <a:txBody>
                    <a:bodyPr/>
                    <a:lstStyle/>
                    <a:p>
                      <a:r>
                        <a:rPr lang="en-US" sz="1100" b="1" dirty="0"/>
                        <a:t>1</a:t>
                      </a:r>
                    </a:p>
                    <a:p>
                      <a:pPr algn="ctr"/>
                      <a:r>
                        <a:rPr lang="en-US" sz="1100" b="1" dirty="0"/>
                        <a:t>X</a:t>
                      </a:r>
                      <a:r>
                        <a:rPr lang="en-US" sz="1100" b="1" baseline="-25000" dirty="0"/>
                        <a:t>3</a:t>
                      </a:r>
                      <a:endParaRPr lang="en-US" sz="1100" b="0" dirty="0"/>
                    </a:p>
                  </a:txBody>
                  <a:tcPr marL="51435" marR="51435" marT="25718" marB="25718"/>
                </a:tc>
                <a:tc>
                  <a:txBody>
                    <a:bodyPr/>
                    <a:lstStyle/>
                    <a:p>
                      <a:r>
                        <a:rPr lang="en-US" sz="1100" b="1" dirty="0"/>
                        <a:t>5</a:t>
                      </a:r>
                    </a:p>
                    <a:p>
                      <a:pPr algn="ctr"/>
                      <a:r>
                        <a:rPr lang="en-US" sz="1100" b="1" dirty="0"/>
                        <a:t>O</a:t>
                      </a:r>
                      <a:r>
                        <a:rPr lang="en-US" sz="1100" b="1" baseline="-25000" dirty="0"/>
                        <a:t>1</a:t>
                      </a:r>
                      <a:endParaRPr lang="en-US" sz="1100" b="1" dirty="0"/>
                    </a:p>
                  </a:txBody>
                  <a:tcPr marL="51435" marR="51435" marT="25718" marB="25718"/>
                </a:tc>
                <a:tc>
                  <a:txBody>
                    <a:bodyPr/>
                    <a:lstStyle/>
                    <a:p>
                      <a:r>
                        <a:rPr lang="en-US" sz="1100" b="1" dirty="0"/>
                        <a:t>9</a:t>
                      </a:r>
                    </a:p>
                    <a:p>
                      <a:pPr algn="ctr"/>
                      <a:r>
                        <a:rPr lang="en-US" sz="1100" b="1" dirty="0"/>
                        <a:t>O</a:t>
                      </a:r>
                      <a:r>
                        <a:rPr lang="en-US" sz="1100" b="1" baseline="-25000" dirty="0"/>
                        <a:t>3</a:t>
                      </a:r>
                      <a:endParaRPr lang="en-US" sz="1100" b="1" dirty="0"/>
                    </a:p>
                  </a:txBody>
                  <a:tcPr marL="51435" marR="51435" marT="25718" marB="25718"/>
                </a:tc>
                <a:extLst>
                  <a:ext uri="{0D108BD9-81ED-4DB2-BD59-A6C34878D82A}">
                    <a16:rowId xmlns:a16="http://schemas.microsoft.com/office/drawing/2014/main" val="164704671"/>
                  </a:ext>
                </a:extLst>
              </a:tr>
              <a:tr h="371475">
                <a:tc>
                  <a:txBody>
                    <a:bodyPr/>
                    <a:lstStyle/>
                    <a:p>
                      <a:r>
                        <a:rPr lang="en-US" sz="1100" b="1" dirty="0"/>
                        <a:t>6</a:t>
                      </a:r>
                    </a:p>
                  </a:txBody>
                  <a:tcPr marL="51435" marR="51435" marT="25718" marB="25718"/>
                </a:tc>
                <a:tc>
                  <a:txBody>
                    <a:bodyPr/>
                    <a:lstStyle/>
                    <a:p>
                      <a:r>
                        <a:rPr lang="en-US" sz="1100" b="1" dirty="0"/>
                        <a:t>7</a:t>
                      </a:r>
                    </a:p>
                    <a:p>
                      <a:pPr algn="ctr"/>
                      <a:r>
                        <a:rPr lang="en-US" sz="1100" b="1" dirty="0"/>
                        <a:t>X</a:t>
                      </a:r>
                      <a:r>
                        <a:rPr lang="en-US" sz="1100" b="1" baseline="-25000" dirty="0"/>
                        <a:t>2</a:t>
                      </a:r>
                      <a:endParaRPr lang="en-US" sz="1100" b="1" dirty="0"/>
                    </a:p>
                  </a:txBody>
                  <a:tcPr marL="51435" marR="51435" marT="25718" marB="25718"/>
                </a:tc>
                <a:tc>
                  <a:txBody>
                    <a:bodyPr/>
                    <a:lstStyle/>
                    <a:p>
                      <a:r>
                        <a:rPr lang="en-US" sz="1100" b="1" dirty="0"/>
                        <a:t>2</a:t>
                      </a:r>
                    </a:p>
                  </a:txBody>
                  <a:tcPr marL="51435" marR="51435" marT="25718" marB="25718"/>
                </a:tc>
                <a:extLst>
                  <a:ext uri="{0D108BD9-81ED-4DB2-BD59-A6C34878D82A}">
                    <a16:rowId xmlns:a16="http://schemas.microsoft.com/office/drawing/2014/main" val="887646109"/>
                  </a:ext>
                </a:extLst>
              </a:tr>
            </a:tbl>
          </a:graphicData>
        </a:graphic>
      </p:graphicFrame>
      <p:sp>
        <p:nvSpPr>
          <p:cNvPr id="2" name="TextBox 1">
            <a:extLst>
              <a:ext uri="{FF2B5EF4-FFF2-40B4-BE49-F238E27FC236}">
                <a16:creationId xmlns:a16="http://schemas.microsoft.com/office/drawing/2014/main" id="{0590DFBC-3AD4-86D9-8173-BF9FD7AB8083}"/>
              </a:ext>
            </a:extLst>
          </p:cNvPr>
          <p:cNvSpPr txBox="1"/>
          <p:nvPr/>
        </p:nvSpPr>
        <p:spPr>
          <a:xfrm>
            <a:off x="7767762" y="1955375"/>
            <a:ext cx="1884460" cy="507831"/>
          </a:xfrm>
          <a:prstGeom prst="rect">
            <a:avLst/>
          </a:prstGeom>
          <a:noFill/>
        </p:spPr>
        <p:txBody>
          <a:bodyPr wrap="square" rtlCol="0">
            <a:spAutoFit/>
          </a:bodyPr>
          <a:lstStyle/>
          <a:p>
            <a:r>
              <a:rPr lang="en-US" sz="1350" dirty="0"/>
              <a:t>Player </a:t>
            </a:r>
            <a:r>
              <a:rPr lang="en-US" sz="1350" dirty="0">
                <a:sym typeface="Wingdings" panose="05000000000000000000" pitchFamily="2" charset="2"/>
              </a:rPr>
              <a:t> </a:t>
            </a:r>
            <a:r>
              <a:rPr lang="en-US" sz="1350" dirty="0"/>
              <a:t>X</a:t>
            </a:r>
            <a:r>
              <a:rPr lang="en-US" sz="1350" baseline="-25000" dirty="0"/>
              <a:t>3 </a:t>
            </a:r>
          </a:p>
          <a:p>
            <a:r>
              <a:rPr lang="en-US" sz="1350" dirty="0">
                <a:sym typeface="Wingdings" panose="05000000000000000000" pitchFamily="2" charset="2"/>
              </a:rPr>
              <a:t>Action  3</a:t>
            </a:r>
          </a:p>
        </p:txBody>
      </p:sp>
    </p:spTree>
    <p:extLst>
      <p:ext uri="{BB962C8B-B14F-4D97-AF65-F5344CB8AC3E}">
        <p14:creationId xmlns:p14="http://schemas.microsoft.com/office/powerpoint/2010/main" val="2057722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D5EA9-4FEF-4A17-A6CB-B828996C1738}"/>
              </a:ext>
            </a:extLst>
          </p:cNvPr>
          <p:cNvSpPr>
            <a:spLocks noGrp="1"/>
          </p:cNvSpPr>
          <p:nvPr>
            <p:ph idx="1"/>
          </p:nvPr>
        </p:nvSpPr>
        <p:spPr>
          <a:xfrm>
            <a:off x="3138489" y="2206192"/>
            <a:ext cx="5915025" cy="3746488"/>
          </a:xfrm>
        </p:spPr>
        <p:txBody>
          <a:bodyPr>
            <a:noAutofit/>
          </a:bodyPr>
          <a:lstStyle/>
          <a:p>
            <a:pPr marL="0" indent="0">
              <a:buNone/>
            </a:pPr>
            <a:r>
              <a:rPr lang="en-US" sz="1500" dirty="0"/>
              <a:t>        Corner		 Center(non-Corner)</a:t>
            </a:r>
          </a:p>
          <a:p>
            <a:pPr marL="0" indent="0">
              <a:buNone/>
            </a:pPr>
            <a:r>
              <a:rPr lang="en-US" sz="1500" dirty="0"/>
              <a:t>       X</a:t>
            </a:r>
            <a:r>
              <a:rPr lang="en-US" sz="1500" baseline="-25000" dirty="0"/>
              <a:t>1  </a:t>
            </a:r>
            <a:r>
              <a:rPr lang="en-US" sz="1500" dirty="0"/>
              <a:t>X</a:t>
            </a:r>
            <a:r>
              <a:rPr lang="en-US" sz="1500" baseline="-25000" dirty="0"/>
              <a:t>2 </a:t>
            </a:r>
            <a:r>
              <a:rPr lang="en-US" sz="1500" dirty="0"/>
              <a:t> X</a:t>
            </a:r>
            <a:r>
              <a:rPr lang="en-US" sz="1500" baseline="-25000" dirty="0"/>
              <a:t>3 		               </a:t>
            </a:r>
            <a:r>
              <a:rPr lang="en-US" sz="1500" dirty="0"/>
              <a:t>O</a:t>
            </a:r>
            <a:r>
              <a:rPr lang="en-US" sz="1500" baseline="-25000" dirty="0"/>
              <a:t>1  </a:t>
            </a:r>
            <a:r>
              <a:rPr lang="en-US" sz="1500" dirty="0"/>
              <a:t>O</a:t>
            </a:r>
            <a:r>
              <a:rPr lang="en-US" sz="1500" baseline="-25000" dirty="0"/>
              <a:t>2 </a:t>
            </a:r>
            <a:r>
              <a:rPr lang="en-US" sz="1500" dirty="0"/>
              <a:t>O</a:t>
            </a:r>
            <a:r>
              <a:rPr lang="en-US" sz="1500" baseline="-25000" dirty="0"/>
              <a:t>3 </a:t>
            </a:r>
            <a:r>
              <a:rPr lang="en-US" sz="1500" dirty="0"/>
              <a:t>O</a:t>
            </a:r>
            <a:r>
              <a:rPr lang="en-US" sz="1500" baseline="-25000" dirty="0"/>
              <a:t>4</a:t>
            </a:r>
          </a:p>
          <a:p>
            <a:pPr marL="0" indent="0">
              <a:buNone/>
            </a:pPr>
            <a:r>
              <a:rPr lang="en-US" sz="1500" dirty="0"/>
              <a:t>       8 , 7,  1  		          5 ,  3,  9,  6</a:t>
            </a:r>
          </a:p>
          <a:p>
            <a:pPr marL="0" indent="0">
              <a:buNone/>
            </a:pPr>
            <a:r>
              <a:rPr lang="en-US" sz="1500" dirty="0"/>
              <a:t>(8,7),(8,1),(7,1)	                        (5,3),(5,9),(3,9),</a:t>
            </a:r>
          </a:p>
          <a:p>
            <a:pPr marL="0" indent="0">
              <a:buNone/>
            </a:pPr>
            <a:r>
              <a:rPr lang="en-US" sz="1500" dirty="0"/>
              <a:t>			       (5,6),(3,6),(9,6)</a:t>
            </a:r>
          </a:p>
          <a:p>
            <a:pPr marL="0" indent="0">
              <a:buNone/>
            </a:pPr>
            <a:r>
              <a:rPr lang="en-US" sz="1500" dirty="0"/>
              <a:t>_________________________________________</a:t>
            </a:r>
          </a:p>
          <a:p>
            <a:pPr marL="0" indent="0">
              <a:buNone/>
              <a:defRPr/>
            </a:pPr>
            <a:r>
              <a:rPr lang="en-US" sz="1500" dirty="0"/>
              <a:t>O</a:t>
            </a:r>
            <a:r>
              <a:rPr lang="en-US" sz="1500" baseline="-25000" dirty="0"/>
              <a:t>4 </a:t>
            </a:r>
            <a:r>
              <a:rPr lang="en-US" sz="1600" dirty="0"/>
              <a:t>=</a:t>
            </a:r>
            <a:r>
              <a:rPr lang="en-US" sz="1500" dirty="0">
                <a:solidFill>
                  <a:prstClr val="black"/>
                </a:solidFill>
                <a:latin typeface="Aptos" panose="02110004020202020204"/>
              </a:rPr>
              <a:t>15 – (8+7) = 0 ; </a:t>
            </a:r>
            <a:r>
              <a:rPr lang="en-US" sz="1050" dirty="0">
                <a:solidFill>
                  <a:prstClr val="black"/>
                </a:solidFill>
                <a:latin typeface="Aptos" panose="02110004020202020204"/>
              </a:rPr>
              <a:t>0 is out of range</a:t>
            </a:r>
          </a:p>
          <a:p>
            <a:pPr marL="0" indent="0">
              <a:buNone/>
              <a:defRPr/>
            </a:pPr>
            <a:r>
              <a:rPr lang="en-US" sz="1500" dirty="0"/>
              <a:t>O</a:t>
            </a:r>
            <a:r>
              <a:rPr lang="en-US" sz="1500" baseline="-25000" dirty="0"/>
              <a:t>4  </a:t>
            </a:r>
            <a:r>
              <a:rPr lang="en-US" sz="1600" dirty="0"/>
              <a:t>=</a:t>
            </a:r>
            <a:r>
              <a:rPr lang="en-US" sz="1500" dirty="0">
                <a:solidFill>
                  <a:prstClr val="black"/>
                </a:solidFill>
                <a:latin typeface="Aptos" panose="02110004020202020204"/>
              </a:rPr>
              <a:t>15 – (8+1) = 6 ; O moves to 6</a:t>
            </a:r>
            <a:endParaRPr lang="en-US" sz="1050" dirty="0">
              <a:solidFill>
                <a:prstClr val="black"/>
              </a:solidFill>
              <a:latin typeface="Aptos" panose="02110004020202020204"/>
            </a:endParaRPr>
          </a:p>
          <a:p>
            <a:pPr marL="0" indent="0" defTabSz="685800">
              <a:spcBef>
                <a:spcPts val="750"/>
              </a:spcBef>
              <a:buNone/>
              <a:defRPr/>
            </a:pPr>
            <a:r>
              <a:rPr lang="en-US" sz="1500" dirty="0"/>
              <a:t>O</a:t>
            </a:r>
            <a:r>
              <a:rPr lang="en-US" sz="1500" baseline="-25000" dirty="0"/>
              <a:t>4</a:t>
            </a:r>
            <a:r>
              <a:rPr lang="en-US" sz="1500" baseline="-25000" dirty="0">
                <a:solidFill>
                  <a:prstClr val="black"/>
                </a:solidFill>
                <a:latin typeface="Aptos" panose="02110004020202020204"/>
              </a:rPr>
              <a:t>  </a:t>
            </a:r>
            <a:r>
              <a:rPr lang="en-US" sz="2100" dirty="0">
                <a:solidFill>
                  <a:prstClr val="black"/>
                </a:solidFill>
                <a:latin typeface="Aptos" panose="02110004020202020204"/>
              </a:rPr>
              <a:t>=</a:t>
            </a:r>
            <a:r>
              <a:rPr lang="en-US" sz="1500" dirty="0">
                <a:solidFill>
                  <a:prstClr val="black"/>
                </a:solidFill>
                <a:latin typeface="Aptos" panose="02110004020202020204"/>
              </a:rPr>
              <a:t>15 – (7+1) = 7 ; </a:t>
            </a:r>
            <a:r>
              <a:rPr lang="en-US" sz="1050" dirty="0">
                <a:solidFill>
                  <a:prstClr val="black"/>
                </a:solidFill>
                <a:latin typeface="Aptos" panose="02110004020202020204"/>
              </a:rPr>
              <a:t> 7 is already occupied</a:t>
            </a:r>
          </a:p>
          <a:p>
            <a:pPr marL="0" indent="0" defTabSz="685800">
              <a:spcBef>
                <a:spcPts val="750"/>
              </a:spcBef>
              <a:buNone/>
              <a:defRPr/>
            </a:pPr>
            <a:r>
              <a:rPr lang="en-US" sz="1500" dirty="0">
                <a:solidFill>
                  <a:prstClr val="black"/>
                </a:solidFill>
                <a:latin typeface="Aptos" panose="02110004020202020204"/>
              </a:rPr>
              <a:t>So, O chooses 6 </a:t>
            </a:r>
            <a:endParaRPr lang="en-US" sz="750" dirty="0">
              <a:solidFill>
                <a:prstClr val="black"/>
              </a:solidFill>
              <a:latin typeface="Aptos" panose="02110004020202020204"/>
            </a:endParaRPr>
          </a:p>
          <a:p>
            <a:pPr marL="0" indent="0">
              <a:buNone/>
            </a:pPr>
            <a:r>
              <a:rPr lang="en-US" sz="750" dirty="0">
                <a:solidFill>
                  <a:prstClr val="black"/>
                </a:solidFill>
                <a:latin typeface="Aptos" panose="02110004020202020204"/>
              </a:rPr>
              <a:t> </a:t>
            </a:r>
            <a:r>
              <a:rPr lang="en-US" sz="1200" dirty="0">
                <a:solidFill>
                  <a:prstClr val="black"/>
                </a:solidFill>
                <a:latin typeface="Aptos" panose="02110004020202020204"/>
              </a:rPr>
              <a:t>This is O’s Turn</a:t>
            </a:r>
            <a:endParaRPr lang="en-US" sz="1200" dirty="0"/>
          </a:p>
          <a:p>
            <a:pPr marL="0" indent="0">
              <a:buNone/>
            </a:pPr>
            <a:r>
              <a:rPr lang="en-US" sz="1500" dirty="0"/>
              <a:t>Next Turn Is X</a:t>
            </a:r>
          </a:p>
        </p:txBody>
      </p:sp>
      <p:graphicFrame>
        <p:nvGraphicFramePr>
          <p:cNvPr id="5" name="Table 4">
            <a:extLst>
              <a:ext uri="{FF2B5EF4-FFF2-40B4-BE49-F238E27FC236}">
                <a16:creationId xmlns:a16="http://schemas.microsoft.com/office/drawing/2014/main" id="{68688B85-8CBB-4543-B76C-54857482CA98}"/>
              </a:ext>
            </a:extLst>
          </p:cNvPr>
          <p:cNvGraphicFramePr>
            <a:graphicFrameLocks noGrp="1"/>
          </p:cNvGraphicFramePr>
          <p:nvPr/>
        </p:nvGraphicFramePr>
        <p:xfrm>
          <a:off x="5060157" y="997424"/>
          <a:ext cx="2071689" cy="1160148"/>
        </p:xfrm>
        <a:graphic>
          <a:graphicData uri="http://schemas.openxmlformats.org/drawingml/2006/table">
            <a:tbl>
              <a:tblPr firstRow="1" bandRow="1">
                <a:tableStyleId>{0505E3EF-67EA-436B-97B2-0124C06EBD24}</a:tableStyleId>
              </a:tblPr>
              <a:tblGrid>
                <a:gridCol w="690563">
                  <a:extLst>
                    <a:ext uri="{9D8B030D-6E8A-4147-A177-3AD203B41FA5}">
                      <a16:colId xmlns:a16="http://schemas.microsoft.com/office/drawing/2014/main" val="3464880107"/>
                    </a:ext>
                  </a:extLst>
                </a:gridCol>
                <a:gridCol w="690563">
                  <a:extLst>
                    <a:ext uri="{9D8B030D-6E8A-4147-A177-3AD203B41FA5}">
                      <a16:colId xmlns:a16="http://schemas.microsoft.com/office/drawing/2014/main" val="3813991982"/>
                    </a:ext>
                  </a:extLst>
                </a:gridCol>
                <a:gridCol w="690563">
                  <a:extLst>
                    <a:ext uri="{9D8B030D-6E8A-4147-A177-3AD203B41FA5}">
                      <a16:colId xmlns:a16="http://schemas.microsoft.com/office/drawing/2014/main" val="4160510696"/>
                    </a:ext>
                  </a:extLst>
                </a:gridCol>
              </a:tblGrid>
              <a:tr h="371475">
                <a:tc>
                  <a:txBody>
                    <a:bodyPr/>
                    <a:lstStyle/>
                    <a:p>
                      <a:pPr algn="l"/>
                      <a:r>
                        <a:rPr lang="en-US" sz="1100" b="1" dirty="0"/>
                        <a:t>8</a:t>
                      </a:r>
                    </a:p>
                    <a:p>
                      <a:pPr algn="ctr"/>
                      <a:r>
                        <a:rPr lang="en-US" sz="1100" b="1" dirty="0"/>
                        <a:t>X</a:t>
                      </a:r>
                      <a:r>
                        <a:rPr lang="en-US" sz="1100" b="1" baseline="-25000" dirty="0"/>
                        <a:t>1</a:t>
                      </a:r>
                      <a:endParaRPr lang="en-US" sz="1100" b="1" dirty="0"/>
                    </a:p>
                  </a:txBody>
                  <a:tcPr marL="51435" marR="51435" marT="25718" marB="25718"/>
                </a:tc>
                <a:tc>
                  <a:txBody>
                    <a:bodyPr/>
                    <a:lstStyle/>
                    <a:p>
                      <a:pPr algn="l"/>
                      <a:r>
                        <a:rPr lang="en-US" sz="1100" b="1" dirty="0"/>
                        <a:t>3</a:t>
                      </a:r>
                    </a:p>
                    <a:p>
                      <a:pPr algn="ctr"/>
                      <a:r>
                        <a:rPr lang="en-US" sz="1100" b="1" dirty="0"/>
                        <a:t>O</a:t>
                      </a:r>
                      <a:r>
                        <a:rPr lang="en-US" sz="1100" b="1" baseline="-25000" dirty="0"/>
                        <a:t>2</a:t>
                      </a:r>
                      <a:endParaRPr lang="en-US" sz="1100" b="1" dirty="0"/>
                    </a:p>
                  </a:txBody>
                  <a:tcPr marL="51435" marR="51435" marT="25718" marB="25718"/>
                </a:tc>
                <a:tc>
                  <a:txBody>
                    <a:bodyPr/>
                    <a:lstStyle/>
                    <a:p>
                      <a:r>
                        <a:rPr lang="en-US" sz="1100" b="1" dirty="0"/>
                        <a:t>4</a:t>
                      </a:r>
                    </a:p>
                    <a:p>
                      <a:pPr algn="ctr"/>
                      <a:endParaRPr lang="en-US" sz="1100" b="1" dirty="0"/>
                    </a:p>
                  </a:txBody>
                  <a:tcPr marL="51435" marR="51435" marT="25718" marB="25718"/>
                </a:tc>
                <a:extLst>
                  <a:ext uri="{0D108BD9-81ED-4DB2-BD59-A6C34878D82A}">
                    <a16:rowId xmlns:a16="http://schemas.microsoft.com/office/drawing/2014/main" val="847099619"/>
                  </a:ext>
                </a:extLst>
              </a:tr>
              <a:tr h="371475">
                <a:tc>
                  <a:txBody>
                    <a:bodyPr/>
                    <a:lstStyle/>
                    <a:p>
                      <a:r>
                        <a:rPr lang="en-US" sz="1100" b="1" dirty="0"/>
                        <a:t>1</a:t>
                      </a:r>
                    </a:p>
                    <a:p>
                      <a:pPr algn="ctr"/>
                      <a:r>
                        <a:rPr lang="en-US" sz="1100" b="1" dirty="0"/>
                        <a:t>X</a:t>
                      </a:r>
                      <a:r>
                        <a:rPr lang="en-US" sz="1100" b="1" baseline="-25000" dirty="0"/>
                        <a:t>3</a:t>
                      </a:r>
                      <a:endParaRPr lang="en-US" sz="1100" b="0" dirty="0"/>
                    </a:p>
                  </a:txBody>
                  <a:tcPr marL="51435" marR="51435" marT="25718" marB="25718"/>
                </a:tc>
                <a:tc>
                  <a:txBody>
                    <a:bodyPr/>
                    <a:lstStyle/>
                    <a:p>
                      <a:r>
                        <a:rPr lang="en-US" sz="1100" b="1" dirty="0"/>
                        <a:t>5</a:t>
                      </a:r>
                    </a:p>
                    <a:p>
                      <a:pPr algn="ctr"/>
                      <a:r>
                        <a:rPr lang="en-US" sz="1100" b="1" dirty="0"/>
                        <a:t>O</a:t>
                      </a:r>
                      <a:r>
                        <a:rPr lang="en-US" sz="1100" b="1" baseline="-25000" dirty="0"/>
                        <a:t>1</a:t>
                      </a:r>
                      <a:endParaRPr lang="en-US" sz="1100" b="1" dirty="0"/>
                    </a:p>
                  </a:txBody>
                  <a:tcPr marL="51435" marR="51435" marT="25718" marB="25718"/>
                </a:tc>
                <a:tc>
                  <a:txBody>
                    <a:bodyPr/>
                    <a:lstStyle/>
                    <a:p>
                      <a:r>
                        <a:rPr lang="en-US" sz="1100" b="1" dirty="0"/>
                        <a:t>9</a:t>
                      </a:r>
                    </a:p>
                    <a:p>
                      <a:pPr algn="ctr"/>
                      <a:r>
                        <a:rPr lang="en-US" sz="1100" b="1" dirty="0"/>
                        <a:t>O</a:t>
                      </a:r>
                      <a:r>
                        <a:rPr lang="en-US" sz="1100" b="1" baseline="-25000" dirty="0"/>
                        <a:t>3</a:t>
                      </a:r>
                      <a:endParaRPr lang="en-US" sz="1100" b="1" dirty="0"/>
                    </a:p>
                  </a:txBody>
                  <a:tcPr marL="51435" marR="51435" marT="25718" marB="25718"/>
                </a:tc>
                <a:extLst>
                  <a:ext uri="{0D108BD9-81ED-4DB2-BD59-A6C34878D82A}">
                    <a16:rowId xmlns:a16="http://schemas.microsoft.com/office/drawing/2014/main" val="164704671"/>
                  </a:ext>
                </a:extLst>
              </a:tr>
              <a:tr h="371475">
                <a:tc>
                  <a:txBody>
                    <a:bodyPr/>
                    <a:lstStyle/>
                    <a:p>
                      <a:r>
                        <a:rPr lang="en-US" sz="1100" b="1" dirty="0"/>
                        <a:t>6</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O</a:t>
                      </a:r>
                      <a:r>
                        <a:rPr lang="en-US" sz="1100" b="1" baseline="-25000" dirty="0"/>
                        <a:t>4</a:t>
                      </a:r>
                    </a:p>
                  </a:txBody>
                  <a:tcPr marL="51435" marR="51435" marT="25718" marB="25718"/>
                </a:tc>
                <a:tc>
                  <a:txBody>
                    <a:bodyPr/>
                    <a:lstStyle/>
                    <a:p>
                      <a:r>
                        <a:rPr lang="en-US" sz="1100" b="1" dirty="0"/>
                        <a:t>7</a:t>
                      </a:r>
                    </a:p>
                    <a:p>
                      <a:pPr algn="ctr"/>
                      <a:r>
                        <a:rPr lang="en-US" sz="1100" b="1" dirty="0"/>
                        <a:t>X</a:t>
                      </a:r>
                      <a:r>
                        <a:rPr lang="en-US" sz="1100" b="1" baseline="-25000" dirty="0"/>
                        <a:t>2</a:t>
                      </a:r>
                      <a:endParaRPr lang="en-US" sz="1100" b="1" dirty="0"/>
                    </a:p>
                  </a:txBody>
                  <a:tcPr marL="51435" marR="51435" marT="25718" marB="25718"/>
                </a:tc>
                <a:tc>
                  <a:txBody>
                    <a:bodyPr/>
                    <a:lstStyle/>
                    <a:p>
                      <a:r>
                        <a:rPr lang="en-US" sz="1100" b="1" dirty="0"/>
                        <a:t>2</a:t>
                      </a:r>
                    </a:p>
                  </a:txBody>
                  <a:tcPr marL="51435" marR="51435" marT="25718" marB="25718"/>
                </a:tc>
                <a:extLst>
                  <a:ext uri="{0D108BD9-81ED-4DB2-BD59-A6C34878D82A}">
                    <a16:rowId xmlns:a16="http://schemas.microsoft.com/office/drawing/2014/main" val="887646109"/>
                  </a:ext>
                </a:extLst>
              </a:tr>
            </a:tbl>
          </a:graphicData>
        </a:graphic>
      </p:graphicFrame>
      <p:sp>
        <p:nvSpPr>
          <p:cNvPr id="2" name="TextBox 1">
            <a:extLst>
              <a:ext uri="{FF2B5EF4-FFF2-40B4-BE49-F238E27FC236}">
                <a16:creationId xmlns:a16="http://schemas.microsoft.com/office/drawing/2014/main" id="{0590DFBC-3AD4-86D9-8173-BF9FD7AB8083}"/>
              </a:ext>
            </a:extLst>
          </p:cNvPr>
          <p:cNvSpPr txBox="1"/>
          <p:nvPr/>
        </p:nvSpPr>
        <p:spPr>
          <a:xfrm>
            <a:off x="7457661" y="1398162"/>
            <a:ext cx="1884460" cy="507831"/>
          </a:xfrm>
          <a:prstGeom prst="rect">
            <a:avLst/>
          </a:prstGeom>
          <a:noFill/>
        </p:spPr>
        <p:txBody>
          <a:bodyPr wrap="square" rtlCol="0">
            <a:spAutoFit/>
          </a:bodyPr>
          <a:lstStyle/>
          <a:p>
            <a:r>
              <a:rPr lang="en-US" sz="1350" dirty="0"/>
              <a:t>Player </a:t>
            </a:r>
            <a:r>
              <a:rPr lang="en-US" sz="1350" dirty="0">
                <a:sym typeface="Wingdings" panose="05000000000000000000" pitchFamily="2" charset="2"/>
              </a:rPr>
              <a:t> </a:t>
            </a:r>
            <a:r>
              <a:rPr lang="en-US" sz="1350" dirty="0"/>
              <a:t>O</a:t>
            </a:r>
            <a:r>
              <a:rPr lang="en-US" sz="1350" baseline="-25000" dirty="0"/>
              <a:t>4 </a:t>
            </a:r>
          </a:p>
          <a:p>
            <a:r>
              <a:rPr lang="en-US" sz="1350" dirty="0">
                <a:sym typeface="Wingdings" panose="05000000000000000000" pitchFamily="2" charset="2"/>
              </a:rPr>
              <a:t>Action  4</a:t>
            </a:r>
          </a:p>
        </p:txBody>
      </p:sp>
    </p:spTree>
    <p:extLst>
      <p:ext uri="{BB962C8B-B14F-4D97-AF65-F5344CB8AC3E}">
        <p14:creationId xmlns:p14="http://schemas.microsoft.com/office/powerpoint/2010/main" val="696483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D5EA9-4FEF-4A17-A6CB-B828996C1738}"/>
              </a:ext>
            </a:extLst>
          </p:cNvPr>
          <p:cNvSpPr>
            <a:spLocks noGrp="1"/>
          </p:cNvSpPr>
          <p:nvPr>
            <p:ph idx="1"/>
          </p:nvPr>
        </p:nvSpPr>
        <p:spPr>
          <a:xfrm>
            <a:off x="3138489" y="2340790"/>
            <a:ext cx="5915025" cy="3755211"/>
          </a:xfrm>
        </p:spPr>
        <p:txBody>
          <a:bodyPr>
            <a:noAutofit/>
          </a:bodyPr>
          <a:lstStyle/>
          <a:p>
            <a:pPr marL="0" indent="0">
              <a:buNone/>
            </a:pPr>
            <a:r>
              <a:rPr lang="en-US" sz="1500" dirty="0"/>
              <a:t>        Corner		 Center(non-Corner)</a:t>
            </a:r>
          </a:p>
          <a:p>
            <a:pPr marL="0" indent="0">
              <a:buNone/>
            </a:pPr>
            <a:r>
              <a:rPr lang="en-US" sz="1500" dirty="0"/>
              <a:t>     X</a:t>
            </a:r>
            <a:r>
              <a:rPr lang="en-US" sz="1500" baseline="-25000" dirty="0"/>
              <a:t>1  </a:t>
            </a:r>
            <a:r>
              <a:rPr lang="en-US" sz="1500" dirty="0"/>
              <a:t>X</a:t>
            </a:r>
            <a:r>
              <a:rPr lang="en-US" sz="1500" baseline="-25000" dirty="0"/>
              <a:t>2 </a:t>
            </a:r>
            <a:r>
              <a:rPr lang="en-US" sz="1500" dirty="0"/>
              <a:t> X</a:t>
            </a:r>
            <a:r>
              <a:rPr lang="en-US" sz="1500" baseline="-25000" dirty="0"/>
              <a:t>3 </a:t>
            </a:r>
            <a:r>
              <a:rPr lang="en-US" sz="1500" b="1" dirty="0"/>
              <a:t> </a:t>
            </a:r>
            <a:r>
              <a:rPr lang="en-US" sz="1500" dirty="0"/>
              <a:t>X</a:t>
            </a:r>
            <a:r>
              <a:rPr lang="en-US" sz="1500" baseline="-25000" dirty="0"/>
              <a:t>4		               </a:t>
            </a:r>
            <a:r>
              <a:rPr lang="en-US" sz="1500" dirty="0"/>
              <a:t>O</a:t>
            </a:r>
            <a:r>
              <a:rPr lang="en-US" sz="1500" baseline="-25000" dirty="0"/>
              <a:t>1  </a:t>
            </a:r>
            <a:r>
              <a:rPr lang="en-US" sz="1500" dirty="0"/>
              <a:t>O</a:t>
            </a:r>
            <a:r>
              <a:rPr lang="en-US" sz="1500" baseline="-25000" dirty="0"/>
              <a:t>2 </a:t>
            </a:r>
            <a:r>
              <a:rPr lang="en-US" sz="1500" dirty="0"/>
              <a:t>O</a:t>
            </a:r>
            <a:r>
              <a:rPr lang="en-US" sz="1500" baseline="-25000" dirty="0"/>
              <a:t>3 </a:t>
            </a:r>
            <a:r>
              <a:rPr lang="en-US" sz="1500" dirty="0"/>
              <a:t>O</a:t>
            </a:r>
            <a:r>
              <a:rPr lang="en-US" sz="1500" baseline="-25000" dirty="0"/>
              <a:t>4</a:t>
            </a:r>
          </a:p>
          <a:p>
            <a:pPr marL="0" indent="0">
              <a:buNone/>
            </a:pPr>
            <a:r>
              <a:rPr lang="en-US" sz="1500" dirty="0"/>
              <a:t>     8 , 7,  1,  4  		          5 ,  3,  9,  6</a:t>
            </a:r>
          </a:p>
          <a:p>
            <a:pPr marL="0" indent="0">
              <a:buNone/>
            </a:pPr>
            <a:r>
              <a:rPr lang="en-US" sz="1500" dirty="0"/>
              <a:t>(8,7),(8,1),(7,1),	                        (5,3),(5,9),(3,9),</a:t>
            </a:r>
          </a:p>
          <a:p>
            <a:pPr marL="0" indent="0">
              <a:buNone/>
            </a:pPr>
            <a:r>
              <a:rPr lang="en-US" sz="1500" dirty="0"/>
              <a:t>(8,4),(7,4),(1,4)		       (5,6),(3,6),(9,6)</a:t>
            </a:r>
          </a:p>
          <a:p>
            <a:pPr marL="0" indent="0">
              <a:buNone/>
            </a:pPr>
            <a:r>
              <a:rPr lang="en-US" sz="1500" dirty="0"/>
              <a:t>____________________________________________________________</a:t>
            </a:r>
          </a:p>
          <a:p>
            <a:pPr marL="0" indent="0">
              <a:buNone/>
              <a:defRPr/>
            </a:pPr>
            <a:r>
              <a:rPr lang="en-US" sz="1500" dirty="0"/>
              <a:t>X</a:t>
            </a:r>
            <a:r>
              <a:rPr lang="en-US" sz="1500" baseline="-25000" dirty="0"/>
              <a:t>4 </a:t>
            </a:r>
            <a:r>
              <a:rPr lang="en-US" sz="1800" dirty="0"/>
              <a:t>=</a:t>
            </a:r>
            <a:r>
              <a:rPr lang="en-US" sz="1500" dirty="0">
                <a:solidFill>
                  <a:prstClr val="black"/>
                </a:solidFill>
                <a:latin typeface="Aptos" panose="02110004020202020204"/>
              </a:rPr>
              <a:t>15 – (5+3) = 7 ; </a:t>
            </a:r>
            <a:r>
              <a:rPr lang="en-US" sz="1050" dirty="0">
                <a:solidFill>
                  <a:prstClr val="black"/>
                </a:solidFill>
                <a:latin typeface="Aptos" panose="02110004020202020204"/>
              </a:rPr>
              <a:t>7 is already occupied</a:t>
            </a:r>
          </a:p>
          <a:p>
            <a:pPr marL="0" indent="0">
              <a:buNone/>
              <a:defRPr/>
            </a:pPr>
            <a:r>
              <a:rPr lang="en-US" sz="1500" dirty="0"/>
              <a:t>X</a:t>
            </a:r>
            <a:r>
              <a:rPr lang="en-US" sz="1500" baseline="-25000" dirty="0"/>
              <a:t>4  </a:t>
            </a:r>
            <a:r>
              <a:rPr lang="en-US" sz="1800" dirty="0"/>
              <a:t>=</a:t>
            </a:r>
            <a:r>
              <a:rPr lang="en-US" sz="1500" dirty="0">
                <a:solidFill>
                  <a:prstClr val="black"/>
                </a:solidFill>
                <a:latin typeface="Aptos" panose="02110004020202020204"/>
              </a:rPr>
              <a:t>15 – (5+9) = 1 ; </a:t>
            </a:r>
            <a:r>
              <a:rPr lang="en-US" sz="1050" dirty="0">
                <a:solidFill>
                  <a:prstClr val="black"/>
                </a:solidFill>
                <a:latin typeface="Aptos" panose="02110004020202020204"/>
              </a:rPr>
              <a:t>1 is already occupied</a:t>
            </a:r>
          </a:p>
          <a:p>
            <a:pPr marL="0" indent="0" defTabSz="685800">
              <a:spcBef>
                <a:spcPts val="750"/>
              </a:spcBef>
              <a:buNone/>
              <a:defRPr/>
            </a:pPr>
            <a:r>
              <a:rPr lang="en-US" sz="1500" dirty="0"/>
              <a:t>X</a:t>
            </a:r>
            <a:r>
              <a:rPr lang="en-US" sz="1500" baseline="-25000" dirty="0"/>
              <a:t>4</a:t>
            </a:r>
            <a:r>
              <a:rPr lang="en-US" sz="1500" baseline="-25000" dirty="0">
                <a:solidFill>
                  <a:prstClr val="black"/>
                </a:solidFill>
                <a:latin typeface="Aptos" panose="02110004020202020204"/>
              </a:rPr>
              <a:t>  </a:t>
            </a:r>
            <a:r>
              <a:rPr lang="en-US" sz="2100" dirty="0">
                <a:solidFill>
                  <a:prstClr val="black"/>
                </a:solidFill>
                <a:latin typeface="Aptos" panose="02110004020202020204"/>
              </a:rPr>
              <a:t>=</a:t>
            </a:r>
            <a:r>
              <a:rPr lang="en-US" sz="1500" dirty="0">
                <a:solidFill>
                  <a:prstClr val="black"/>
                </a:solidFill>
                <a:latin typeface="Aptos" panose="02110004020202020204"/>
              </a:rPr>
              <a:t>15 – (5+6) = 4 ; </a:t>
            </a:r>
            <a:r>
              <a:rPr lang="en-US" sz="1050" dirty="0">
                <a:solidFill>
                  <a:prstClr val="black"/>
                </a:solidFill>
                <a:latin typeface="Aptos" panose="02110004020202020204"/>
              </a:rPr>
              <a:t> X chooses 4</a:t>
            </a:r>
          </a:p>
          <a:p>
            <a:pPr marL="0" indent="0" defTabSz="685800">
              <a:spcBef>
                <a:spcPts val="750"/>
              </a:spcBef>
              <a:buNone/>
              <a:defRPr/>
            </a:pPr>
            <a:r>
              <a:rPr lang="en-US" sz="1500" dirty="0">
                <a:solidFill>
                  <a:prstClr val="black"/>
                </a:solidFill>
                <a:latin typeface="Aptos" panose="02110004020202020204"/>
              </a:rPr>
              <a:t>So, X chooses 4 to block O’s win</a:t>
            </a:r>
            <a:endParaRPr lang="en-US" sz="750" dirty="0">
              <a:solidFill>
                <a:prstClr val="black"/>
              </a:solidFill>
              <a:latin typeface="Aptos" panose="02110004020202020204"/>
            </a:endParaRPr>
          </a:p>
          <a:p>
            <a:pPr marL="0" indent="0">
              <a:buNone/>
            </a:pPr>
            <a:r>
              <a:rPr lang="en-US" sz="750" dirty="0">
                <a:solidFill>
                  <a:prstClr val="black"/>
                </a:solidFill>
                <a:latin typeface="Aptos" panose="02110004020202020204"/>
              </a:rPr>
              <a:t> </a:t>
            </a:r>
            <a:r>
              <a:rPr lang="en-US" sz="1200" dirty="0">
                <a:solidFill>
                  <a:prstClr val="black"/>
                </a:solidFill>
                <a:latin typeface="Aptos" panose="02110004020202020204"/>
              </a:rPr>
              <a:t>This is X’s Turn</a:t>
            </a:r>
            <a:endParaRPr lang="en-US" sz="1200" dirty="0"/>
          </a:p>
          <a:p>
            <a:pPr marL="0" indent="0">
              <a:buNone/>
            </a:pPr>
            <a:r>
              <a:rPr lang="en-US" sz="1500" dirty="0"/>
              <a:t>Next Turn Is O</a:t>
            </a:r>
          </a:p>
        </p:txBody>
      </p:sp>
      <p:graphicFrame>
        <p:nvGraphicFramePr>
          <p:cNvPr id="5" name="Table 4">
            <a:extLst>
              <a:ext uri="{FF2B5EF4-FFF2-40B4-BE49-F238E27FC236}">
                <a16:creationId xmlns:a16="http://schemas.microsoft.com/office/drawing/2014/main" id="{68688B85-8CBB-4543-B76C-54857482CA98}"/>
              </a:ext>
            </a:extLst>
          </p:cNvPr>
          <p:cNvGraphicFramePr>
            <a:graphicFrameLocks noGrp="1"/>
          </p:cNvGraphicFramePr>
          <p:nvPr/>
        </p:nvGraphicFramePr>
        <p:xfrm>
          <a:off x="5060157" y="1083323"/>
          <a:ext cx="2071689" cy="1160148"/>
        </p:xfrm>
        <a:graphic>
          <a:graphicData uri="http://schemas.openxmlformats.org/drawingml/2006/table">
            <a:tbl>
              <a:tblPr firstRow="1" bandRow="1">
                <a:tableStyleId>{0505E3EF-67EA-436B-97B2-0124C06EBD24}</a:tableStyleId>
              </a:tblPr>
              <a:tblGrid>
                <a:gridCol w="690563">
                  <a:extLst>
                    <a:ext uri="{9D8B030D-6E8A-4147-A177-3AD203B41FA5}">
                      <a16:colId xmlns:a16="http://schemas.microsoft.com/office/drawing/2014/main" val="3464880107"/>
                    </a:ext>
                  </a:extLst>
                </a:gridCol>
                <a:gridCol w="690563">
                  <a:extLst>
                    <a:ext uri="{9D8B030D-6E8A-4147-A177-3AD203B41FA5}">
                      <a16:colId xmlns:a16="http://schemas.microsoft.com/office/drawing/2014/main" val="3813991982"/>
                    </a:ext>
                  </a:extLst>
                </a:gridCol>
                <a:gridCol w="690563">
                  <a:extLst>
                    <a:ext uri="{9D8B030D-6E8A-4147-A177-3AD203B41FA5}">
                      <a16:colId xmlns:a16="http://schemas.microsoft.com/office/drawing/2014/main" val="4160510696"/>
                    </a:ext>
                  </a:extLst>
                </a:gridCol>
              </a:tblGrid>
              <a:tr h="371475">
                <a:tc>
                  <a:txBody>
                    <a:bodyPr/>
                    <a:lstStyle/>
                    <a:p>
                      <a:pPr algn="l"/>
                      <a:r>
                        <a:rPr lang="en-US" sz="1100" b="1" dirty="0"/>
                        <a:t>8</a:t>
                      </a:r>
                    </a:p>
                    <a:p>
                      <a:pPr algn="ctr"/>
                      <a:r>
                        <a:rPr lang="en-US" sz="1100" b="1" dirty="0"/>
                        <a:t>X</a:t>
                      </a:r>
                      <a:r>
                        <a:rPr lang="en-US" sz="1100" b="1" baseline="-25000" dirty="0"/>
                        <a:t>1</a:t>
                      </a:r>
                      <a:endParaRPr lang="en-US" sz="1100" b="1" dirty="0"/>
                    </a:p>
                  </a:txBody>
                  <a:tcPr marL="51435" marR="51435" marT="25718" marB="25718"/>
                </a:tc>
                <a:tc>
                  <a:txBody>
                    <a:bodyPr/>
                    <a:lstStyle/>
                    <a:p>
                      <a:pPr algn="l"/>
                      <a:r>
                        <a:rPr lang="en-US" sz="1100" b="1" dirty="0"/>
                        <a:t>3</a:t>
                      </a:r>
                    </a:p>
                    <a:p>
                      <a:pPr algn="ctr"/>
                      <a:r>
                        <a:rPr lang="en-US" sz="1100" b="1" dirty="0"/>
                        <a:t>O</a:t>
                      </a:r>
                      <a:r>
                        <a:rPr lang="en-US" sz="1100" b="1" baseline="-25000" dirty="0"/>
                        <a:t>2</a:t>
                      </a:r>
                      <a:endParaRPr lang="en-US" sz="1100" b="1" dirty="0"/>
                    </a:p>
                  </a:txBody>
                  <a:tcPr marL="51435" marR="51435" marT="25718" marB="25718"/>
                </a:tc>
                <a:tc>
                  <a:txBody>
                    <a:bodyPr/>
                    <a:lstStyle/>
                    <a:p>
                      <a:r>
                        <a:rPr lang="en-US" sz="1100" b="1" dirty="0"/>
                        <a:t>4</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X</a:t>
                      </a:r>
                      <a:r>
                        <a:rPr lang="en-US" sz="1100" b="1" baseline="-25000" dirty="0"/>
                        <a:t>4</a:t>
                      </a:r>
                      <a:endParaRPr lang="en-US" sz="1100" b="0" dirty="0"/>
                    </a:p>
                  </a:txBody>
                  <a:tcPr marL="51435" marR="51435" marT="25718" marB="25718"/>
                </a:tc>
                <a:extLst>
                  <a:ext uri="{0D108BD9-81ED-4DB2-BD59-A6C34878D82A}">
                    <a16:rowId xmlns:a16="http://schemas.microsoft.com/office/drawing/2014/main" val="847099619"/>
                  </a:ext>
                </a:extLst>
              </a:tr>
              <a:tr h="371475">
                <a:tc>
                  <a:txBody>
                    <a:bodyPr/>
                    <a:lstStyle/>
                    <a:p>
                      <a:r>
                        <a:rPr lang="en-US" sz="1100" b="1" dirty="0"/>
                        <a:t>1</a:t>
                      </a:r>
                    </a:p>
                    <a:p>
                      <a:pPr algn="ctr"/>
                      <a:r>
                        <a:rPr lang="en-US" sz="1100" b="1" dirty="0"/>
                        <a:t>X</a:t>
                      </a:r>
                      <a:r>
                        <a:rPr lang="en-US" sz="1100" b="1" baseline="-25000" dirty="0"/>
                        <a:t>3</a:t>
                      </a:r>
                      <a:endParaRPr lang="en-US" sz="1100" b="0" dirty="0"/>
                    </a:p>
                  </a:txBody>
                  <a:tcPr marL="51435" marR="51435" marT="25718" marB="25718"/>
                </a:tc>
                <a:tc>
                  <a:txBody>
                    <a:bodyPr/>
                    <a:lstStyle/>
                    <a:p>
                      <a:r>
                        <a:rPr lang="en-US" sz="1100" b="1" dirty="0"/>
                        <a:t>5</a:t>
                      </a:r>
                    </a:p>
                    <a:p>
                      <a:pPr algn="ctr"/>
                      <a:r>
                        <a:rPr lang="en-US" sz="1100" b="1" dirty="0"/>
                        <a:t>O</a:t>
                      </a:r>
                      <a:r>
                        <a:rPr lang="en-US" sz="1100" b="1" baseline="-25000" dirty="0"/>
                        <a:t>1</a:t>
                      </a:r>
                      <a:endParaRPr lang="en-US" sz="1100" b="1" dirty="0"/>
                    </a:p>
                  </a:txBody>
                  <a:tcPr marL="51435" marR="51435" marT="25718" marB="25718"/>
                </a:tc>
                <a:tc>
                  <a:txBody>
                    <a:bodyPr/>
                    <a:lstStyle/>
                    <a:p>
                      <a:r>
                        <a:rPr lang="en-US" sz="1100" b="1" dirty="0"/>
                        <a:t>9</a:t>
                      </a:r>
                    </a:p>
                    <a:p>
                      <a:pPr algn="ctr"/>
                      <a:r>
                        <a:rPr lang="en-US" sz="1100" b="1" dirty="0"/>
                        <a:t>O</a:t>
                      </a:r>
                      <a:r>
                        <a:rPr lang="en-US" sz="1100" b="1" baseline="-25000" dirty="0"/>
                        <a:t>3</a:t>
                      </a:r>
                      <a:endParaRPr lang="en-US" sz="1100" b="1" dirty="0"/>
                    </a:p>
                  </a:txBody>
                  <a:tcPr marL="51435" marR="51435" marT="25718" marB="25718"/>
                </a:tc>
                <a:extLst>
                  <a:ext uri="{0D108BD9-81ED-4DB2-BD59-A6C34878D82A}">
                    <a16:rowId xmlns:a16="http://schemas.microsoft.com/office/drawing/2014/main" val="164704671"/>
                  </a:ext>
                </a:extLst>
              </a:tr>
              <a:tr h="371475">
                <a:tc>
                  <a:txBody>
                    <a:bodyPr/>
                    <a:lstStyle/>
                    <a:p>
                      <a:r>
                        <a:rPr lang="en-US" sz="1100" b="1" dirty="0"/>
                        <a:t>6</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O</a:t>
                      </a:r>
                      <a:r>
                        <a:rPr lang="en-US" sz="1100" b="1" baseline="-25000" dirty="0"/>
                        <a:t>4</a:t>
                      </a:r>
                    </a:p>
                  </a:txBody>
                  <a:tcPr marL="51435" marR="51435" marT="25718" marB="25718"/>
                </a:tc>
                <a:tc>
                  <a:txBody>
                    <a:bodyPr/>
                    <a:lstStyle/>
                    <a:p>
                      <a:r>
                        <a:rPr lang="en-US" sz="1100" b="1" dirty="0"/>
                        <a:t>7</a:t>
                      </a:r>
                    </a:p>
                    <a:p>
                      <a:pPr algn="ctr"/>
                      <a:r>
                        <a:rPr lang="en-US" sz="1100" b="1" dirty="0"/>
                        <a:t>X</a:t>
                      </a:r>
                      <a:r>
                        <a:rPr lang="en-US" sz="1100" b="1" baseline="-25000" dirty="0"/>
                        <a:t>2</a:t>
                      </a:r>
                      <a:endParaRPr lang="en-US" sz="1100" b="1" dirty="0"/>
                    </a:p>
                  </a:txBody>
                  <a:tcPr marL="51435" marR="51435" marT="25718" marB="25718"/>
                </a:tc>
                <a:tc>
                  <a:txBody>
                    <a:bodyPr/>
                    <a:lstStyle/>
                    <a:p>
                      <a:r>
                        <a:rPr lang="en-US" sz="1100" b="1" dirty="0"/>
                        <a:t>2</a:t>
                      </a:r>
                    </a:p>
                  </a:txBody>
                  <a:tcPr marL="51435" marR="51435" marT="25718" marB="25718"/>
                </a:tc>
                <a:extLst>
                  <a:ext uri="{0D108BD9-81ED-4DB2-BD59-A6C34878D82A}">
                    <a16:rowId xmlns:a16="http://schemas.microsoft.com/office/drawing/2014/main" val="887646109"/>
                  </a:ext>
                </a:extLst>
              </a:tr>
            </a:tbl>
          </a:graphicData>
        </a:graphic>
      </p:graphicFrame>
      <p:sp>
        <p:nvSpPr>
          <p:cNvPr id="2" name="TextBox 1">
            <a:extLst>
              <a:ext uri="{FF2B5EF4-FFF2-40B4-BE49-F238E27FC236}">
                <a16:creationId xmlns:a16="http://schemas.microsoft.com/office/drawing/2014/main" id="{0590DFBC-3AD4-86D9-8173-BF9FD7AB8083}"/>
              </a:ext>
            </a:extLst>
          </p:cNvPr>
          <p:cNvSpPr txBox="1"/>
          <p:nvPr/>
        </p:nvSpPr>
        <p:spPr>
          <a:xfrm>
            <a:off x="7457661" y="1398162"/>
            <a:ext cx="1884460" cy="507831"/>
          </a:xfrm>
          <a:prstGeom prst="rect">
            <a:avLst/>
          </a:prstGeom>
          <a:noFill/>
        </p:spPr>
        <p:txBody>
          <a:bodyPr wrap="square" rtlCol="0">
            <a:spAutoFit/>
          </a:bodyPr>
          <a:lstStyle/>
          <a:p>
            <a:r>
              <a:rPr lang="en-US" sz="1350" dirty="0"/>
              <a:t>Player </a:t>
            </a:r>
            <a:r>
              <a:rPr lang="en-US" sz="1350" dirty="0">
                <a:sym typeface="Wingdings" panose="05000000000000000000" pitchFamily="2" charset="2"/>
              </a:rPr>
              <a:t> </a:t>
            </a:r>
            <a:r>
              <a:rPr lang="en-US" sz="1350" dirty="0"/>
              <a:t>X</a:t>
            </a:r>
            <a:r>
              <a:rPr lang="en-US" sz="1350" baseline="-25000" dirty="0"/>
              <a:t>4 </a:t>
            </a:r>
          </a:p>
          <a:p>
            <a:r>
              <a:rPr lang="en-US" sz="1350" dirty="0">
                <a:sym typeface="Wingdings" panose="05000000000000000000" pitchFamily="2" charset="2"/>
              </a:rPr>
              <a:t>Action  4</a:t>
            </a:r>
          </a:p>
        </p:txBody>
      </p:sp>
      <p:sp>
        <p:nvSpPr>
          <p:cNvPr id="4" name="TextBox 3">
            <a:extLst>
              <a:ext uri="{FF2B5EF4-FFF2-40B4-BE49-F238E27FC236}">
                <a16:creationId xmlns:a16="http://schemas.microsoft.com/office/drawing/2014/main" id="{F52DB226-266F-151A-3EF3-EE2F2ED52601}"/>
              </a:ext>
            </a:extLst>
          </p:cNvPr>
          <p:cNvSpPr txBox="1"/>
          <p:nvPr/>
        </p:nvSpPr>
        <p:spPr>
          <a:xfrm>
            <a:off x="6217257" y="4193132"/>
            <a:ext cx="3017520" cy="1188274"/>
          </a:xfrm>
          <a:prstGeom prst="rect">
            <a:avLst/>
          </a:prstGeom>
          <a:noFill/>
        </p:spPr>
        <p:txBody>
          <a:bodyPr wrap="square" rtlCol="0">
            <a:spAutoFit/>
          </a:bodyPr>
          <a:lstStyle/>
          <a:p>
            <a:pPr>
              <a:defRPr/>
            </a:pPr>
            <a:r>
              <a:rPr lang="en-US" sz="1500" dirty="0"/>
              <a:t>X</a:t>
            </a:r>
            <a:r>
              <a:rPr lang="en-US" sz="1500" baseline="-25000" dirty="0"/>
              <a:t>4 </a:t>
            </a:r>
            <a:r>
              <a:rPr lang="en-US" sz="1500" dirty="0"/>
              <a:t>=</a:t>
            </a:r>
            <a:r>
              <a:rPr lang="en-US" sz="1500" dirty="0">
                <a:solidFill>
                  <a:prstClr val="black"/>
                </a:solidFill>
                <a:latin typeface="Aptos" panose="02110004020202020204"/>
              </a:rPr>
              <a:t>15 – (3+9) = 3 ; </a:t>
            </a:r>
            <a:r>
              <a:rPr lang="en-US" sz="1050" dirty="0">
                <a:solidFill>
                  <a:prstClr val="black"/>
                </a:solidFill>
                <a:latin typeface="Aptos" panose="02110004020202020204"/>
              </a:rPr>
              <a:t>3 is already occupied</a:t>
            </a:r>
          </a:p>
          <a:p>
            <a:pPr>
              <a:defRPr/>
            </a:pPr>
            <a:endParaRPr lang="en-US" sz="1050" dirty="0">
              <a:solidFill>
                <a:prstClr val="black"/>
              </a:solidFill>
              <a:latin typeface="Aptos" panose="02110004020202020204"/>
            </a:endParaRPr>
          </a:p>
          <a:p>
            <a:pPr>
              <a:defRPr/>
            </a:pPr>
            <a:r>
              <a:rPr lang="en-US" sz="1500" dirty="0"/>
              <a:t>X</a:t>
            </a:r>
            <a:r>
              <a:rPr lang="en-US" sz="1500" baseline="-25000" dirty="0"/>
              <a:t>4  </a:t>
            </a:r>
            <a:r>
              <a:rPr lang="en-US" sz="1500" dirty="0"/>
              <a:t>=</a:t>
            </a:r>
            <a:r>
              <a:rPr lang="en-US" sz="1500" dirty="0">
                <a:solidFill>
                  <a:prstClr val="black"/>
                </a:solidFill>
                <a:latin typeface="Aptos" panose="02110004020202020204"/>
              </a:rPr>
              <a:t>15 – (3+6) = 6 ; </a:t>
            </a:r>
            <a:r>
              <a:rPr lang="en-US" sz="1050" dirty="0">
                <a:solidFill>
                  <a:prstClr val="black"/>
                </a:solidFill>
                <a:latin typeface="Aptos" panose="02110004020202020204"/>
              </a:rPr>
              <a:t>6 is already occupied</a:t>
            </a:r>
          </a:p>
          <a:p>
            <a:pPr>
              <a:defRPr/>
            </a:pPr>
            <a:endParaRPr lang="en-US" sz="1050" dirty="0">
              <a:solidFill>
                <a:prstClr val="black"/>
              </a:solidFill>
              <a:latin typeface="Aptos" panose="02110004020202020204"/>
            </a:endParaRPr>
          </a:p>
          <a:p>
            <a:pPr defTabSz="685800">
              <a:lnSpc>
                <a:spcPct val="90000"/>
              </a:lnSpc>
              <a:spcBef>
                <a:spcPts val="750"/>
              </a:spcBef>
              <a:defRPr/>
            </a:pPr>
            <a:r>
              <a:rPr lang="en-US" sz="1500" dirty="0"/>
              <a:t>X</a:t>
            </a:r>
            <a:r>
              <a:rPr lang="en-US" sz="1500" baseline="-25000" dirty="0"/>
              <a:t>4</a:t>
            </a:r>
            <a:r>
              <a:rPr lang="en-US" sz="1500" baseline="-25000" dirty="0">
                <a:solidFill>
                  <a:prstClr val="black"/>
                </a:solidFill>
                <a:latin typeface="Aptos" panose="02110004020202020204"/>
              </a:rPr>
              <a:t>  </a:t>
            </a:r>
            <a:r>
              <a:rPr lang="en-US" sz="1500" dirty="0">
                <a:solidFill>
                  <a:prstClr val="black"/>
                </a:solidFill>
                <a:latin typeface="Aptos" panose="02110004020202020204"/>
              </a:rPr>
              <a:t>=15 – (9+6) = 0 ;  </a:t>
            </a:r>
            <a:r>
              <a:rPr lang="en-US" sz="1050" dirty="0">
                <a:solidFill>
                  <a:prstClr val="black"/>
                </a:solidFill>
                <a:latin typeface="Aptos" panose="02110004020202020204"/>
              </a:rPr>
              <a:t>0 is out of range</a:t>
            </a:r>
          </a:p>
        </p:txBody>
      </p:sp>
    </p:spTree>
    <p:extLst>
      <p:ext uri="{BB962C8B-B14F-4D97-AF65-F5344CB8AC3E}">
        <p14:creationId xmlns:p14="http://schemas.microsoft.com/office/powerpoint/2010/main" val="1318760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D5EA9-4FEF-4A17-A6CB-B828996C1738}"/>
              </a:ext>
            </a:extLst>
          </p:cNvPr>
          <p:cNvSpPr>
            <a:spLocks noGrp="1"/>
          </p:cNvSpPr>
          <p:nvPr>
            <p:ph idx="1"/>
          </p:nvPr>
        </p:nvSpPr>
        <p:spPr>
          <a:xfrm>
            <a:off x="3138488" y="2340790"/>
            <a:ext cx="6051090" cy="3573491"/>
          </a:xfrm>
        </p:spPr>
        <p:txBody>
          <a:bodyPr>
            <a:noAutofit/>
          </a:bodyPr>
          <a:lstStyle/>
          <a:p>
            <a:pPr marL="0" indent="0">
              <a:buNone/>
            </a:pPr>
            <a:r>
              <a:rPr lang="en-US" sz="1500" dirty="0"/>
              <a:t>        Corner		 Center(non-Corner)</a:t>
            </a:r>
          </a:p>
          <a:p>
            <a:pPr marL="0" indent="0">
              <a:buNone/>
            </a:pPr>
            <a:r>
              <a:rPr lang="en-US" sz="1500" dirty="0"/>
              <a:t>     X</a:t>
            </a:r>
            <a:r>
              <a:rPr lang="en-US" sz="1500" baseline="-25000" dirty="0"/>
              <a:t>1  </a:t>
            </a:r>
            <a:r>
              <a:rPr lang="en-US" sz="1500" dirty="0"/>
              <a:t>X</a:t>
            </a:r>
            <a:r>
              <a:rPr lang="en-US" sz="1500" baseline="-25000" dirty="0"/>
              <a:t>2 </a:t>
            </a:r>
            <a:r>
              <a:rPr lang="en-US" sz="1500" dirty="0"/>
              <a:t> X</a:t>
            </a:r>
            <a:r>
              <a:rPr lang="en-US" sz="1500" baseline="-25000" dirty="0"/>
              <a:t>3 </a:t>
            </a:r>
            <a:r>
              <a:rPr lang="en-US" sz="1500" b="1" dirty="0"/>
              <a:t> </a:t>
            </a:r>
            <a:r>
              <a:rPr lang="en-US" sz="1500" dirty="0"/>
              <a:t>X</a:t>
            </a:r>
            <a:r>
              <a:rPr lang="en-US" sz="1500" baseline="-25000" dirty="0"/>
              <a:t>4		               </a:t>
            </a:r>
            <a:r>
              <a:rPr lang="en-US" sz="1500" dirty="0"/>
              <a:t>O</a:t>
            </a:r>
            <a:r>
              <a:rPr lang="en-US" sz="1500" baseline="-25000" dirty="0"/>
              <a:t>1  </a:t>
            </a:r>
            <a:r>
              <a:rPr lang="en-US" sz="1500" dirty="0"/>
              <a:t>O</a:t>
            </a:r>
            <a:r>
              <a:rPr lang="en-US" sz="1500" baseline="-25000" dirty="0"/>
              <a:t>2 </a:t>
            </a:r>
            <a:r>
              <a:rPr lang="en-US" sz="1500" dirty="0"/>
              <a:t>O</a:t>
            </a:r>
            <a:r>
              <a:rPr lang="en-US" sz="1500" baseline="-25000" dirty="0"/>
              <a:t>3 </a:t>
            </a:r>
            <a:r>
              <a:rPr lang="en-US" sz="1500" dirty="0"/>
              <a:t>O</a:t>
            </a:r>
            <a:r>
              <a:rPr lang="en-US" sz="1500" baseline="-25000" dirty="0"/>
              <a:t>4</a:t>
            </a:r>
          </a:p>
          <a:p>
            <a:pPr marL="0" indent="0">
              <a:buNone/>
            </a:pPr>
            <a:r>
              <a:rPr lang="en-US" sz="1500" dirty="0"/>
              <a:t>     8 , 7,  1,  4  		          5 ,  3,  9,  6</a:t>
            </a:r>
          </a:p>
          <a:p>
            <a:pPr marL="0" indent="0">
              <a:buNone/>
            </a:pPr>
            <a:r>
              <a:rPr lang="en-US" sz="1500" dirty="0"/>
              <a:t>(8,7),(8,1),(7,1),	                        (5,3),(5,9),(3,9),</a:t>
            </a:r>
          </a:p>
          <a:p>
            <a:pPr marL="0" indent="0">
              <a:buNone/>
            </a:pPr>
            <a:r>
              <a:rPr lang="en-US" sz="1500" dirty="0"/>
              <a:t>(8,4),(7,4),(1,4)		       (5,6),(3,6),(9,6)</a:t>
            </a:r>
          </a:p>
          <a:p>
            <a:pPr marL="0" indent="0">
              <a:buNone/>
            </a:pPr>
            <a:r>
              <a:rPr lang="en-US" sz="1500" dirty="0"/>
              <a:t>_____________________________________________________________</a:t>
            </a:r>
          </a:p>
          <a:p>
            <a:pPr marL="0" indent="0">
              <a:buNone/>
              <a:defRPr/>
            </a:pPr>
            <a:r>
              <a:rPr lang="en-US" sz="1500" dirty="0"/>
              <a:t>O</a:t>
            </a:r>
            <a:r>
              <a:rPr lang="en-US" sz="1500" baseline="-25000" dirty="0"/>
              <a:t>5 </a:t>
            </a:r>
            <a:r>
              <a:rPr lang="en-US" sz="1800" dirty="0"/>
              <a:t>=</a:t>
            </a:r>
            <a:r>
              <a:rPr lang="en-US" sz="1500" dirty="0">
                <a:solidFill>
                  <a:prstClr val="black"/>
                </a:solidFill>
                <a:latin typeface="Aptos" panose="02110004020202020204"/>
              </a:rPr>
              <a:t>15 – (8 +7) = 0 ; </a:t>
            </a:r>
            <a:r>
              <a:rPr lang="en-US" sz="1050" dirty="0">
                <a:solidFill>
                  <a:prstClr val="black"/>
                </a:solidFill>
                <a:latin typeface="Aptos" panose="02110004020202020204"/>
              </a:rPr>
              <a:t>0 is out of range</a:t>
            </a:r>
          </a:p>
          <a:p>
            <a:pPr marL="0" indent="0">
              <a:buNone/>
              <a:defRPr/>
            </a:pPr>
            <a:r>
              <a:rPr lang="en-US" sz="1500" dirty="0"/>
              <a:t>O</a:t>
            </a:r>
            <a:r>
              <a:rPr lang="en-US" sz="1500" baseline="-25000" dirty="0"/>
              <a:t>5  </a:t>
            </a:r>
            <a:r>
              <a:rPr lang="en-US" sz="1800" dirty="0"/>
              <a:t>=</a:t>
            </a:r>
            <a:r>
              <a:rPr lang="en-US" sz="1500" dirty="0">
                <a:solidFill>
                  <a:prstClr val="black"/>
                </a:solidFill>
                <a:latin typeface="Aptos" panose="02110004020202020204"/>
              </a:rPr>
              <a:t>15 – (8 +1) = 6 ; </a:t>
            </a:r>
            <a:r>
              <a:rPr lang="en-US" sz="1050" dirty="0">
                <a:solidFill>
                  <a:prstClr val="black"/>
                </a:solidFill>
                <a:latin typeface="Aptos" panose="02110004020202020204"/>
              </a:rPr>
              <a:t>6 is already occupied</a:t>
            </a:r>
          </a:p>
          <a:p>
            <a:pPr marL="0" indent="0" defTabSz="685800">
              <a:spcBef>
                <a:spcPts val="750"/>
              </a:spcBef>
              <a:buNone/>
              <a:defRPr/>
            </a:pPr>
            <a:r>
              <a:rPr lang="en-US" sz="1500" dirty="0"/>
              <a:t>O</a:t>
            </a:r>
            <a:r>
              <a:rPr lang="en-US" sz="1500" baseline="-25000" dirty="0"/>
              <a:t>5</a:t>
            </a:r>
            <a:r>
              <a:rPr lang="en-US" sz="1500" baseline="-25000" dirty="0">
                <a:solidFill>
                  <a:prstClr val="black"/>
                </a:solidFill>
                <a:latin typeface="Aptos" panose="02110004020202020204"/>
              </a:rPr>
              <a:t>  </a:t>
            </a:r>
            <a:r>
              <a:rPr lang="en-US" sz="2100" dirty="0">
                <a:solidFill>
                  <a:prstClr val="black"/>
                </a:solidFill>
                <a:latin typeface="Aptos" panose="02110004020202020204"/>
              </a:rPr>
              <a:t>=</a:t>
            </a:r>
            <a:r>
              <a:rPr lang="en-US" sz="1500" dirty="0">
                <a:solidFill>
                  <a:prstClr val="black"/>
                </a:solidFill>
                <a:latin typeface="Aptos" panose="02110004020202020204"/>
              </a:rPr>
              <a:t>15 – (7 + 1) = 7 ; </a:t>
            </a:r>
            <a:r>
              <a:rPr lang="en-US" sz="1050" dirty="0">
                <a:solidFill>
                  <a:prstClr val="black"/>
                </a:solidFill>
                <a:latin typeface="Aptos" panose="02110004020202020204"/>
              </a:rPr>
              <a:t> 7 is already occupied</a:t>
            </a:r>
          </a:p>
          <a:p>
            <a:pPr marL="0" indent="0" defTabSz="685800">
              <a:spcBef>
                <a:spcPts val="750"/>
              </a:spcBef>
              <a:buNone/>
              <a:defRPr/>
            </a:pPr>
            <a:r>
              <a:rPr lang="en-US" sz="1500" dirty="0">
                <a:solidFill>
                  <a:prstClr val="black"/>
                </a:solidFill>
                <a:latin typeface="Aptos" panose="02110004020202020204"/>
              </a:rPr>
              <a:t>Since only 2 is left, O</a:t>
            </a:r>
            <a:r>
              <a:rPr lang="en-US" sz="1500" baseline="-25000" dirty="0">
                <a:solidFill>
                  <a:prstClr val="black"/>
                </a:solidFill>
                <a:latin typeface="Aptos" panose="02110004020202020204"/>
              </a:rPr>
              <a:t>5 </a:t>
            </a:r>
            <a:r>
              <a:rPr lang="en-US" sz="1500" dirty="0"/>
              <a:t>chooses 2</a:t>
            </a:r>
          </a:p>
          <a:p>
            <a:pPr marL="0" indent="0">
              <a:buNone/>
            </a:pPr>
            <a:r>
              <a:rPr lang="en-US" sz="750" dirty="0">
                <a:solidFill>
                  <a:prstClr val="black"/>
                </a:solidFill>
                <a:latin typeface="Aptos" panose="02110004020202020204"/>
              </a:rPr>
              <a:t> </a:t>
            </a:r>
            <a:r>
              <a:rPr lang="en-US" sz="1200" dirty="0">
                <a:solidFill>
                  <a:prstClr val="black"/>
                </a:solidFill>
                <a:latin typeface="Aptos" panose="02110004020202020204"/>
              </a:rPr>
              <a:t>This is O’s Turn</a:t>
            </a:r>
            <a:endParaRPr lang="en-US" sz="1200" dirty="0"/>
          </a:p>
        </p:txBody>
      </p:sp>
      <p:graphicFrame>
        <p:nvGraphicFramePr>
          <p:cNvPr id="5" name="Table 4">
            <a:extLst>
              <a:ext uri="{FF2B5EF4-FFF2-40B4-BE49-F238E27FC236}">
                <a16:creationId xmlns:a16="http://schemas.microsoft.com/office/drawing/2014/main" id="{68688B85-8CBB-4543-B76C-54857482CA98}"/>
              </a:ext>
            </a:extLst>
          </p:cNvPr>
          <p:cNvGraphicFramePr>
            <a:graphicFrameLocks noGrp="1"/>
          </p:cNvGraphicFramePr>
          <p:nvPr/>
        </p:nvGraphicFramePr>
        <p:xfrm>
          <a:off x="5060157" y="1083323"/>
          <a:ext cx="2071689" cy="1160148"/>
        </p:xfrm>
        <a:graphic>
          <a:graphicData uri="http://schemas.openxmlformats.org/drawingml/2006/table">
            <a:tbl>
              <a:tblPr firstRow="1" bandRow="1">
                <a:tableStyleId>{0505E3EF-67EA-436B-97B2-0124C06EBD24}</a:tableStyleId>
              </a:tblPr>
              <a:tblGrid>
                <a:gridCol w="690563">
                  <a:extLst>
                    <a:ext uri="{9D8B030D-6E8A-4147-A177-3AD203B41FA5}">
                      <a16:colId xmlns:a16="http://schemas.microsoft.com/office/drawing/2014/main" val="3464880107"/>
                    </a:ext>
                  </a:extLst>
                </a:gridCol>
                <a:gridCol w="690563">
                  <a:extLst>
                    <a:ext uri="{9D8B030D-6E8A-4147-A177-3AD203B41FA5}">
                      <a16:colId xmlns:a16="http://schemas.microsoft.com/office/drawing/2014/main" val="3813991982"/>
                    </a:ext>
                  </a:extLst>
                </a:gridCol>
                <a:gridCol w="690563">
                  <a:extLst>
                    <a:ext uri="{9D8B030D-6E8A-4147-A177-3AD203B41FA5}">
                      <a16:colId xmlns:a16="http://schemas.microsoft.com/office/drawing/2014/main" val="4160510696"/>
                    </a:ext>
                  </a:extLst>
                </a:gridCol>
              </a:tblGrid>
              <a:tr h="371475">
                <a:tc>
                  <a:txBody>
                    <a:bodyPr/>
                    <a:lstStyle/>
                    <a:p>
                      <a:pPr algn="l"/>
                      <a:r>
                        <a:rPr lang="en-US" sz="1100" b="1" dirty="0"/>
                        <a:t>8</a:t>
                      </a:r>
                    </a:p>
                    <a:p>
                      <a:pPr algn="ctr"/>
                      <a:r>
                        <a:rPr lang="en-US" sz="1100" b="1" dirty="0"/>
                        <a:t>X</a:t>
                      </a:r>
                      <a:r>
                        <a:rPr lang="en-US" sz="1100" b="1" baseline="-25000" dirty="0"/>
                        <a:t>1</a:t>
                      </a:r>
                      <a:endParaRPr lang="en-US" sz="1100" b="1" dirty="0"/>
                    </a:p>
                  </a:txBody>
                  <a:tcPr marL="51435" marR="51435" marT="25718" marB="25718"/>
                </a:tc>
                <a:tc>
                  <a:txBody>
                    <a:bodyPr/>
                    <a:lstStyle/>
                    <a:p>
                      <a:pPr algn="l"/>
                      <a:r>
                        <a:rPr lang="en-US" sz="1100" b="1" dirty="0"/>
                        <a:t>3</a:t>
                      </a:r>
                    </a:p>
                    <a:p>
                      <a:pPr algn="ctr"/>
                      <a:r>
                        <a:rPr lang="en-US" sz="1100" b="1" dirty="0"/>
                        <a:t>O</a:t>
                      </a:r>
                      <a:r>
                        <a:rPr lang="en-US" sz="1100" b="1" baseline="-25000" dirty="0"/>
                        <a:t>2</a:t>
                      </a:r>
                      <a:endParaRPr lang="en-US" sz="1100" b="1" dirty="0"/>
                    </a:p>
                  </a:txBody>
                  <a:tcPr marL="51435" marR="51435" marT="25718" marB="25718"/>
                </a:tc>
                <a:tc>
                  <a:txBody>
                    <a:bodyPr/>
                    <a:lstStyle/>
                    <a:p>
                      <a:r>
                        <a:rPr lang="en-US" sz="1100" b="1" dirty="0"/>
                        <a:t>4</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X</a:t>
                      </a:r>
                      <a:r>
                        <a:rPr lang="en-US" sz="1100" b="1" baseline="-25000" dirty="0"/>
                        <a:t>4</a:t>
                      </a:r>
                      <a:endParaRPr lang="en-US" sz="1100" b="0" dirty="0"/>
                    </a:p>
                  </a:txBody>
                  <a:tcPr marL="51435" marR="51435" marT="25718" marB="25718"/>
                </a:tc>
                <a:extLst>
                  <a:ext uri="{0D108BD9-81ED-4DB2-BD59-A6C34878D82A}">
                    <a16:rowId xmlns:a16="http://schemas.microsoft.com/office/drawing/2014/main" val="847099619"/>
                  </a:ext>
                </a:extLst>
              </a:tr>
              <a:tr h="371475">
                <a:tc>
                  <a:txBody>
                    <a:bodyPr/>
                    <a:lstStyle/>
                    <a:p>
                      <a:r>
                        <a:rPr lang="en-US" sz="1100" b="1" dirty="0"/>
                        <a:t>1</a:t>
                      </a:r>
                    </a:p>
                    <a:p>
                      <a:pPr algn="ctr"/>
                      <a:r>
                        <a:rPr lang="en-US" sz="1100" b="1" dirty="0"/>
                        <a:t>X</a:t>
                      </a:r>
                      <a:r>
                        <a:rPr lang="en-US" sz="1100" b="1" baseline="-25000" dirty="0"/>
                        <a:t>3</a:t>
                      </a:r>
                      <a:endParaRPr lang="en-US" sz="1100" b="0" dirty="0"/>
                    </a:p>
                  </a:txBody>
                  <a:tcPr marL="51435" marR="51435" marT="25718" marB="25718"/>
                </a:tc>
                <a:tc>
                  <a:txBody>
                    <a:bodyPr/>
                    <a:lstStyle/>
                    <a:p>
                      <a:r>
                        <a:rPr lang="en-US" sz="1100" b="1" dirty="0"/>
                        <a:t>5</a:t>
                      </a:r>
                    </a:p>
                    <a:p>
                      <a:pPr algn="ctr"/>
                      <a:r>
                        <a:rPr lang="en-US" sz="1100" b="1" dirty="0"/>
                        <a:t>O</a:t>
                      </a:r>
                      <a:r>
                        <a:rPr lang="en-US" sz="1100" b="1" baseline="-25000" dirty="0"/>
                        <a:t>1</a:t>
                      </a:r>
                      <a:endParaRPr lang="en-US" sz="1100" b="1" dirty="0"/>
                    </a:p>
                  </a:txBody>
                  <a:tcPr marL="51435" marR="51435" marT="25718" marB="25718"/>
                </a:tc>
                <a:tc>
                  <a:txBody>
                    <a:bodyPr/>
                    <a:lstStyle/>
                    <a:p>
                      <a:r>
                        <a:rPr lang="en-US" sz="1100" b="1" dirty="0"/>
                        <a:t>9</a:t>
                      </a:r>
                    </a:p>
                    <a:p>
                      <a:pPr algn="ctr"/>
                      <a:r>
                        <a:rPr lang="en-US" sz="1100" b="1" dirty="0"/>
                        <a:t>O</a:t>
                      </a:r>
                      <a:r>
                        <a:rPr lang="en-US" sz="1100" b="1" baseline="-25000" dirty="0"/>
                        <a:t>3</a:t>
                      </a:r>
                      <a:endParaRPr lang="en-US" sz="1100" b="1" dirty="0"/>
                    </a:p>
                  </a:txBody>
                  <a:tcPr marL="51435" marR="51435" marT="25718" marB="25718"/>
                </a:tc>
                <a:extLst>
                  <a:ext uri="{0D108BD9-81ED-4DB2-BD59-A6C34878D82A}">
                    <a16:rowId xmlns:a16="http://schemas.microsoft.com/office/drawing/2014/main" val="164704671"/>
                  </a:ext>
                </a:extLst>
              </a:tr>
              <a:tr h="371475">
                <a:tc>
                  <a:txBody>
                    <a:bodyPr/>
                    <a:lstStyle/>
                    <a:p>
                      <a:r>
                        <a:rPr lang="en-US" sz="1100" b="1" dirty="0"/>
                        <a:t>6</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O</a:t>
                      </a:r>
                      <a:r>
                        <a:rPr lang="en-US" sz="1100" b="1" baseline="-25000" dirty="0"/>
                        <a:t>4</a:t>
                      </a:r>
                    </a:p>
                  </a:txBody>
                  <a:tcPr marL="51435" marR="51435" marT="25718" marB="25718"/>
                </a:tc>
                <a:tc>
                  <a:txBody>
                    <a:bodyPr/>
                    <a:lstStyle/>
                    <a:p>
                      <a:r>
                        <a:rPr lang="en-US" sz="1100" b="1" dirty="0"/>
                        <a:t>7</a:t>
                      </a:r>
                    </a:p>
                    <a:p>
                      <a:pPr algn="ctr"/>
                      <a:r>
                        <a:rPr lang="en-US" sz="1100" b="1" dirty="0"/>
                        <a:t>X</a:t>
                      </a:r>
                      <a:r>
                        <a:rPr lang="en-US" sz="1100" b="1" baseline="-25000" dirty="0"/>
                        <a:t>2</a:t>
                      </a:r>
                      <a:endParaRPr lang="en-US" sz="1100" b="1" dirty="0"/>
                    </a:p>
                  </a:txBody>
                  <a:tcPr marL="51435" marR="51435" marT="25718" marB="25718"/>
                </a:tc>
                <a:tc>
                  <a:txBody>
                    <a:bodyPr/>
                    <a:lstStyle/>
                    <a:p>
                      <a:r>
                        <a:rPr lang="en-US" sz="1100" b="1" dirty="0"/>
                        <a:t>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O</a:t>
                      </a:r>
                      <a:r>
                        <a:rPr lang="en-US" sz="1100" b="1" baseline="-25000" dirty="0"/>
                        <a:t>5</a:t>
                      </a:r>
                      <a:endParaRPr lang="en-US" sz="1100" b="1" dirty="0"/>
                    </a:p>
                  </a:txBody>
                  <a:tcPr marL="51435" marR="51435" marT="25718" marB="25718"/>
                </a:tc>
                <a:extLst>
                  <a:ext uri="{0D108BD9-81ED-4DB2-BD59-A6C34878D82A}">
                    <a16:rowId xmlns:a16="http://schemas.microsoft.com/office/drawing/2014/main" val="887646109"/>
                  </a:ext>
                </a:extLst>
              </a:tr>
            </a:tbl>
          </a:graphicData>
        </a:graphic>
      </p:graphicFrame>
      <p:sp>
        <p:nvSpPr>
          <p:cNvPr id="2" name="TextBox 1">
            <a:extLst>
              <a:ext uri="{FF2B5EF4-FFF2-40B4-BE49-F238E27FC236}">
                <a16:creationId xmlns:a16="http://schemas.microsoft.com/office/drawing/2014/main" id="{0590DFBC-3AD4-86D9-8173-BF9FD7AB8083}"/>
              </a:ext>
            </a:extLst>
          </p:cNvPr>
          <p:cNvSpPr txBox="1"/>
          <p:nvPr/>
        </p:nvSpPr>
        <p:spPr>
          <a:xfrm>
            <a:off x="7457661" y="1394514"/>
            <a:ext cx="1884460" cy="507831"/>
          </a:xfrm>
          <a:prstGeom prst="rect">
            <a:avLst/>
          </a:prstGeom>
          <a:noFill/>
        </p:spPr>
        <p:txBody>
          <a:bodyPr wrap="square" rtlCol="0">
            <a:spAutoFit/>
          </a:bodyPr>
          <a:lstStyle/>
          <a:p>
            <a:r>
              <a:rPr lang="en-US" sz="1350" dirty="0"/>
              <a:t>Player </a:t>
            </a:r>
            <a:r>
              <a:rPr lang="en-US" sz="1350" dirty="0">
                <a:sym typeface="Wingdings" panose="05000000000000000000" pitchFamily="2" charset="2"/>
              </a:rPr>
              <a:t> </a:t>
            </a:r>
            <a:r>
              <a:rPr lang="en-US" sz="1350" dirty="0"/>
              <a:t>O</a:t>
            </a:r>
            <a:r>
              <a:rPr lang="en-US" sz="1350" baseline="-25000" dirty="0"/>
              <a:t>5 </a:t>
            </a:r>
          </a:p>
          <a:p>
            <a:r>
              <a:rPr lang="en-US" sz="1350" dirty="0">
                <a:sym typeface="Wingdings" panose="05000000000000000000" pitchFamily="2" charset="2"/>
              </a:rPr>
              <a:t>Action  5</a:t>
            </a:r>
          </a:p>
        </p:txBody>
      </p:sp>
      <p:sp>
        <p:nvSpPr>
          <p:cNvPr id="4" name="TextBox 3">
            <a:extLst>
              <a:ext uri="{FF2B5EF4-FFF2-40B4-BE49-F238E27FC236}">
                <a16:creationId xmlns:a16="http://schemas.microsoft.com/office/drawing/2014/main" id="{F52DB226-266F-151A-3EF3-EE2F2ED52601}"/>
              </a:ext>
            </a:extLst>
          </p:cNvPr>
          <p:cNvSpPr txBox="1"/>
          <p:nvPr/>
        </p:nvSpPr>
        <p:spPr>
          <a:xfrm>
            <a:off x="6217257" y="4193132"/>
            <a:ext cx="3017520" cy="1188274"/>
          </a:xfrm>
          <a:prstGeom prst="rect">
            <a:avLst/>
          </a:prstGeom>
          <a:noFill/>
        </p:spPr>
        <p:txBody>
          <a:bodyPr wrap="square" rtlCol="0">
            <a:spAutoFit/>
          </a:bodyPr>
          <a:lstStyle/>
          <a:p>
            <a:pPr>
              <a:defRPr/>
            </a:pPr>
            <a:r>
              <a:rPr lang="en-US" sz="1500" dirty="0"/>
              <a:t>O</a:t>
            </a:r>
            <a:r>
              <a:rPr lang="en-US" sz="1500" baseline="-25000" dirty="0"/>
              <a:t>5 </a:t>
            </a:r>
            <a:r>
              <a:rPr lang="en-US" sz="1500" dirty="0"/>
              <a:t>=</a:t>
            </a:r>
            <a:r>
              <a:rPr lang="en-US" sz="1500" dirty="0">
                <a:solidFill>
                  <a:prstClr val="black"/>
                </a:solidFill>
                <a:latin typeface="Aptos" panose="02110004020202020204"/>
              </a:rPr>
              <a:t>15 – (8 +4) = 3 ; </a:t>
            </a:r>
            <a:r>
              <a:rPr lang="en-US" sz="1050" dirty="0">
                <a:solidFill>
                  <a:prstClr val="black"/>
                </a:solidFill>
                <a:latin typeface="Aptos" panose="02110004020202020204"/>
              </a:rPr>
              <a:t>3 is already occupied</a:t>
            </a:r>
          </a:p>
          <a:p>
            <a:pPr>
              <a:defRPr/>
            </a:pPr>
            <a:endParaRPr lang="en-US" sz="1050" dirty="0">
              <a:solidFill>
                <a:prstClr val="black"/>
              </a:solidFill>
              <a:latin typeface="Aptos" panose="02110004020202020204"/>
            </a:endParaRPr>
          </a:p>
          <a:p>
            <a:pPr>
              <a:defRPr/>
            </a:pPr>
            <a:r>
              <a:rPr lang="en-US" sz="1500" dirty="0"/>
              <a:t>O</a:t>
            </a:r>
            <a:r>
              <a:rPr lang="en-US" sz="1500" baseline="-25000" dirty="0"/>
              <a:t>5  </a:t>
            </a:r>
            <a:r>
              <a:rPr lang="en-US" sz="1500" dirty="0"/>
              <a:t>=</a:t>
            </a:r>
            <a:r>
              <a:rPr lang="en-US" sz="1500" dirty="0">
                <a:solidFill>
                  <a:prstClr val="black"/>
                </a:solidFill>
                <a:latin typeface="Aptos" panose="02110004020202020204"/>
              </a:rPr>
              <a:t>15 – (7 +4) = 4; </a:t>
            </a:r>
            <a:r>
              <a:rPr lang="en-US" sz="1050" dirty="0">
                <a:solidFill>
                  <a:prstClr val="black"/>
                </a:solidFill>
                <a:latin typeface="Aptos" panose="02110004020202020204"/>
              </a:rPr>
              <a:t>4 is already occupied</a:t>
            </a:r>
          </a:p>
          <a:p>
            <a:pPr>
              <a:defRPr/>
            </a:pPr>
            <a:endParaRPr lang="en-US" sz="1050" dirty="0">
              <a:solidFill>
                <a:prstClr val="black"/>
              </a:solidFill>
              <a:latin typeface="Aptos" panose="02110004020202020204"/>
            </a:endParaRPr>
          </a:p>
          <a:p>
            <a:pPr defTabSz="685800">
              <a:lnSpc>
                <a:spcPct val="90000"/>
              </a:lnSpc>
              <a:spcBef>
                <a:spcPts val="750"/>
              </a:spcBef>
              <a:defRPr/>
            </a:pPr>
            <a:r>
              <a:rPr lang="en-US" sz="1500" dirty="0"/>
              <a:t>O</a:t>
            </a:r>
            <a:r>
              <a:rPr lang="en-US" sz="1500" baseline="-25000" dirty="0"/>
              <a:t>5</a:t>
            </a:r>
            <a:r>
              <a:rPr lang="en-US" sz="1500" baseline="-25000" dirty="0">
                <a:solidFill>
                  <a:prstClr val="black"/>
                </a:solidFill>
                <a:latin typeface="Aptos" panose="02110004020202020204"/>
              </a:rPr>
              <a:t>  </a:t>
            </a:r>
            <a:r>
              <a:rPr lang="en-US" sz="1500" dirty="0">
                <a:solidFill>
                  <a:prstClr val="black"/>
                </a:solidFill>
                <a:latin typeface="Aptos" panose="02110004020202020204"/>
              </a:rPr>
              <a:t>=15 – (1 +4) = 10 ;  1</a:t>
            </a:r>
            <a:r>
              <a:rPr lang="en-US" sz="1050" dirty="0">
                <a:solidFill>
                  <a:prstClr val="black"/>
                </a:solidFill>
                <a:latin typeface="Aptos" panose="02110004020202020204"/>
              </a:rPr>
              <a:t>0 is out of range</a:t>
            </a:r>
          </a:p>
        </p:txBody>
      </p:sp>
      <p:sp>
        <p:nvSpPr>
          <p:cNvPr id="6" name="TextBox 5">
            <a:extLst>
              <a:ext uri="{FF2B5EF4-FFF2-40B4-BE49-F238E27FC236}">
                <a16:creationId xmlns:a16="http://schemas.microsoft.com/office/drawing/2014/main" id="{9AF147BB-6F2C-4DE7-5677-D5F0DCC33D20}"/>
              </a:ext>
            </a:extLst>
          </p:cNvPr>
          <p:cNvSpPr txBox="1"/>
          <p:nvPr/>
        </p:nvSpPr>
        <p:spPr>
          <a:xfrm>
            <a:off x="8152407" y="2449499"/>
            <a:ext cx="2379428" cy="954107"/>
          </a:xfrm>
          <a:prstGeom prst="rect">
            <a:avLst/>
          </a:prstGeom>
          <a:noFill/>
          <a:ln>
            <a:solidFill>
              <a:schemeClr val="tx2"/>
            </a:solidFill>
          </a:ln>
        </p:spPr>
        <p:txBody>
          <a:bodyPr wrap="square" rtlCol="0">
            <a:spAutoFit/>
          </a:bodyPr>
          <a:lstStyle/>
          <a:p>
            <a:pPr algn="ctr"/>
            <a:r>
              <a:rPr lang="en-US" sz="2100" dirty="0"/>
              <a:t>O</a:t>
            </a:r>
            <a:r>
              <a:rPr lang="en-US" sz="2100" baseline="-25000" dirty="0"/>
              <a:t>5 </a:t>
            </a:r>
            <a:r>
              <a:rPr lang="en-US" sz="2100" dirty="0"/>
              <a:t>= 2</a:t>
            </a:r>
          </a:p>
          <a:p>
            <a:pPr algn="ctr"/>
            <a:r>
              <a:rPr lang="en-US" sz="2100" baseline="-25000" dirty="0"/>
              <a:t>The game is completed and it is a Draw.</a:t>
            </a:r>
            <a:endParaRPr lang="en-US" sz="2100" dirty="0"/>
          </a:p>
        </p:txBody>
      </p:sp>
    </p:spTree>
    <p:extLst>
      <p:ext uri="{BB962C8B-B14F-4D97-AF65-F5344CB8AC3E}">
        <p14:creationId xmlns:p14="http://schemas.microsoft.com/office/powerpoint/2010/main" val="2638736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2BF02A-AB26-493A-8EA9-CEE09525E9D4}"/>
              </a:ext>
            </a:extLst>
          </p:cNvPr>
          <p:cNvSpPr txBox="1"/>
          <p:nvPr/>
        </p:nvSpPr>
        <p:spPr>
          <a:xfrm>
            <a:off x="1752600" y="41255"/>
            <a:ext cx="8458200" cy="3416320"/>
          </a:xfrm>
          <a:prstGeom prst="rect">
            <a:avLst/>
          </a:prstGeom>
          <a:noFill/>
        </p:spPr>
        <p:txBody>
          <a:bodyPr wrap="square">
            <a:spAutoFit/>
          </a:bodyPr>
          <a:lstStyle/>
          <a:p>
            <a:r>
              <a:rPr lang="en-US" dirty="0"/>
              <a:t>Comments on Program #3</a:t>
            </a:r>
          </a:p>
          <a:p>
            <a:r>
              <a:rPr lang="en-US" dirty="0"/>
              <a:t>This comparison raises an interesting question about the relationship between the way</a:t>
            </a:r>
          </a:p>
          <a:p>
            <a:r>
              <a:rPr lang="en-US" dirty="0"/>
              <a:t>people solve problems and the way computers do. Why do people find the row-scan</a:t>
            </a:r>
          </a:p>
          <a:p>
            <a:r>
              <a:rPr lang="en-US" dirty="0"/>
              <a:t>approach easier while the number-counting approach is more efficient for a computer?</a:t>
            </a:r>
          </a:p>
          <a:p>
            <a:r>
              <a:rPr lang="en-US" dirty="0"/>
              <a:t>We do not know enough about how people work to answer that question completely.</a:t>
            </a:r>
          </a:p>
          <a:p>
            <a:r>
              <a:rPr lang="en-US" dirty="0"/>
              <a:t>One part of the answer is that people are parallel processors and can look at several</a:t>
            </a:r>
          </a:p>
          <a:p>
            <a:r>
              <a:rPr lang="en-US" dirty="0"/>
              <a:t>parts of the board at once, whereas the conventional computer must look at the squares</a:t>
            </a:r>
          </a:p>
          <a:p>
            <a:r>
              <a:rPr lang="en-US" dirty="0"/>
              <a:t>one at a time. Sometimes an investigation of how people solve problems sheds great</a:t>
            </a:r>
          </a:p>
          <a:p>
            <a:r>
              <a:rPr lang="en-US" dirty="0"/>
              <a:t>light on how computers should do so. At other times, the differences in the hardware</a:t>
            </a:r>
          </a:p>
          <a:p>
            <a:r>
              <a:rPr lang="en-US" dirty="0"/>
              <a:t>of the two seem so great that different strategies seem best. As we learn more about</a:t>
            </a:r>
          </a:p>
          <a:p>
            <a:r>
              <a:rPr lang="en-US" dirty="0"/>
              <a:t>problem solving both by people and by machines, we may know better whether the same representations and algorithms are best for both people and machines. </a:t>
            </a:r>
          </a:p>
        </p:txBody>
      </p:sp>
    </p:spTree>
    <p:extLst>
      <p:ext uri="{BB962C8B-B14F-4D97-AF65-F5344CB8AC3E}">
        <p14:creationId xmlns:p14="http://schemas.microsoft.com/office/powerpoint/2010/main" val="1210288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06EFC-47C4-46E6-A4F9-2282F7AAE3B1}"/>
              </a:ext>
            </a:extLst>
          </p:cNvPr>
          <p:cNvSpPr>
            <a:spLocks noGrp="1"/>
          </p:cNvSpPr>
          <p:nvPr>
            <p:ph type="title"/>
          </p:nvPr>
        </p:nvSpPr>
        <p:spPr/>
        <p:txBody>
          <a:bodyPr/>
          <a:lstStyle/>
          <a:p>
            <a:r>
              <a:rPr lang="en-US" b="1" dirty="0"/>
              <a:t>Imperfect Real-Time Decisions in Games Using Intelligent Methods Version #4</a:t>
            </a:r>
          </a:p>
        </p:txBody>
      </p:sp>
      <p:sp>
        <p:nvSpPr>
          <p:cNvPr id="3" name="Content Placeholder 2">
            <a:extLst>
              <a:ext uri="{FF2B5EF4-FFF2-40B4-BE49-F238E27FC236}">
                <a16:creationId xmlns:a16="http://schemas.microsoft.com/office/drawing/2014/main" id="{14B8E95B-1D2A-42EA-B87C-395CF91106C4}"/>
              </a:ext>
            </a:extLst>
          </p:cNvPr>
          <p:cNvSpPr>
            <a:spLocks noGrp="1"/>
          </p:cNvSpPr>
          <p:nvPr>
            <p:ph idx="1"/>
          </p:nvPr>
        </p:nvSpPr>
        <p:spPr/>
        <p:txBody>
          <a:bodyPr>
            <a:normAutofit/>
          </a:bodyPr>
          <a:lstStyle/>
          <a:p>
            <a:pPr marL="0" indent="0">
              <a:buNone/>
            </a:pPr>
            <a:r>
              <a:rPr lang="en-US" dirty="0"/>
              <a:t>In Imperfect Real-Time Decisions in Games, the depth of tree is too large to see the outcome of the game. The simplest example is the game of Tic-Tac-toe. The tree is shown in the next slide. The following two steps are used these games.</a:t>
            </a:r>
          </a:p>
          <a:p>
            <a:pPr marL="514350" indent="-514350">
              <a:buFont typeface="+mj-lt"/>
              <a:buAutoNum type="arabicPeriod"/>
            </a:pPr>
            <a:r>
              <a:rPr lang="en-US" dirty="0"/>
              <a:t>Cut Off Search</a:t>
            </a:r>
          </a:p>
          <a:p>
            <a:pPr marL="514350" indent="-514350">
              <a:buFont typeface="+mj-lt"/>
              <a:buAutoNum type="arabicPeriod"/>
            </a:pPr>
            <a:r>
              <a:rPr lang="en-US" dirty="0"/>
              <a:t>Evaluation Functions</a:t>
            </a:r>
          </a:p>
          <a:p>
            <a:pPr marL="514350" indent="-514350">
              <a:buFont typeface="+mj-lt"/>
              <a:buAutoNum type="arabicPeriod"/>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608467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97BE2-E7D6-41DB-5F84-32450A25673E}"/>
              </a:ext>
            </a:extLst>
          </p:cNvPr>
          <p:cNvSpPr>
            <a:spLocks noGrp="1"/>
          </p:cNvSpPr>
          <p:nvPr>
            <p:ph type="title"/>
          </p:nvPr>
        </p:nvSpPr>
        <p:spPr/>
        <p:txBody>
          <a:bodyPr/>
          <a:lstStyle/>
          <a:p>
            <a:r>
              <a:rPr lang="en-US" dirty="0"/>
              <a:t>Cutting off search at the depth of ‘d’</a:t>
            </a:r>
          </a:p>
        </p:txBody>
      </p:sp>
      <p:sp>
        <p:nvSpPr>
          <p:cNvPr id="3" name="Content Placeholder 2">
            <a:extLst>
              <a:ext uri="{FF2B5EF4-FFF2-40B4-BE49-F238E27FC236}">
                <a16:creationId xmlns:a16="http://schemas.microsoft.com/office/drawing/2014/main" id="{C9AFC896-77BD-784E-82A4-018315645F56}"/>
              </a:ext>
            </a:extLst>
          </p:cNvPr>
          <p:cNvSpPr>
            <a:spLocks noGrp="1"/>
          </p:cNvSpPr>
          <p:nvPr>
            <p:ph idx="1"/>
          </p:nvPr>
        </p:nvSpPr>
        <p:spPr/>
        <p:txBody>
          <a:bodyPr/>
          <a:lstStyle/>
          <a:p>
            <a:pPr marL="0" indent="0">
              <a:buNone/>
            </a:pPr>
            <a:r>
              <a:rPr lang="en-US" dirty="0"/>
              <a:t>We can cutoff tree at the depth of ‘d’. The depth d is chosen so that a move is selected within the allocated time.</a:t>
            </a:r>
          </a:p>
        </p:txBody>
      </p:sp>
    </p:spTree>
    <p:extLst>
      <p:ext uri="{BB962C8B-B14F-4D97-AF65-F5344CB8AC3E}">
        <p14:creationId xmlns:p14="http://schemas.microsoft.com/office/powerpoint/2010/main" val="3444586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75865-63C6-4640-BEBD-B69091E7C60B}"/>
              </a:ext>
            </a:extLst>
          </p:cNvPr>
          <p:cNvSpPr>
            <a:spLocks noGrp="1"/>
          </p:cNvSpPr>
          <p:nvPr>
            <p:ph type="title"/>
          </p:nvPr>
        </p:nvSpPr>
        <p:spPr/>
        <p:txBody>
          <a:bodyPr>
            <a:normAutofit fontScale="90000"/>
          </a:bodyPr>
          <a:lstStyle/>
          <a:p>
            <a:r>
              <a:rPr lang="en-US" sz="5400" b="0" i="0" u="none" strike="noStrike" baseline="0" dirty="0">
                <a:latin typeface="Times-Roman"/>
              </a:rPr>
              <a:t>I</a:t>
            </a:r>
            <a:r>
              <a:rPr lang="en-US" sz="4400" b="0" i="0" u="none" strike="noStrike" baseline="0" dirty="0">
                <a:latin typeface="Times-Roman"/>
              </a:rPr>
              <a:t>MPERFECT </a:t>
            </a:r>
            <a:r>
              <a:rPr lang="en-US" sz="5400" b="0" i="0" u="none" strike="noStrike" baseline="0" dirty="0">
                <a:latin typeface="Times-Roman"/>
              </a:rPr>
              <a:t>R</a:t>
            </a:r>
            <a:r>
              <a:rPr lang="en-US" sz="4400" b="0" i="0" u="none" strike="noStrike" baseline="0" dirty="0">
                <a:latin typeface="Times-Roman"/>
              </a:rPr>
              <a:t>EAL</a:t>
            </a:r>
            <a:r>
              <a:rPr lang="en-US" sz="5400" b="0" i="0" u="none" strike="noStrike" baseline="0" dirty="0">
                <a:latin typeface="Times-Roman"/>
              </a:rPr>
              <a:t>-T</a:t>
            </a:r>
            <a:r>
              <a:rPr lang="en-US" sz="4400" b="0" i="0" u="none" strike="noStrike" baseline="0" dirty="0">
                <a:latin typeface="Times-Roman"/>
              </a:rPr>
              <a:t>IME </a:t>
            </a:r>
            <a:r>
              <a:rPr lang="en-US" sz="5400" b="0" i="0" u="none" strike="noStrike" baseline="0" dirty="0">
                <a:latin typeface="Times-Roman"/>
              </a:rPr>
              <a:t>D</a:t>
            </a:r>
            <a:r>
              <a:rPr lang="en-US" sz="4400" b="0" i="0" u="none" strike="noStrike" baseline="0" dirty="0">
                <a:latin typeface="Times-Roman"/>
              </a:rPr>
              <a:t>ECISIONS Game-Continued</a:t>
            </a:r>
            <a:endParaRPr lang="en-US" dirty="0"/>
          </a:p>
        </p:txBody>
      </p:sp>
      <p:sp>
        <p:nvSpPr>
          <p:cNvPr id="3" name="Content Placeholder 2">
            <a:extLst>
              <a:ext uri="{FF2B5EF4-FFF2-40B4-BE49-F238E27FC236}">
                <a16:creationId xmlns:a16="http://schemas.microsoft.com/office/drawing/2014/main" id="{9FCD72A0-F6F9-497E-9C8E-0188236E6C6D}"/>
              </a:ext>
            </a:extLst>
          </p:cNvPr>
          <p:cNvSpPr>
            <a:spLocks noGrp="1"/>
          </p:cNvSpPr>
          <p:nvPr>
            <p:ph idx="1"/>
          </p:nvPr>
        </p:nvSpPr>
        <p:spPr/>
        <p:txBody>
          <a:bodyPr>
            <a:normAutofit/>
          </a:bodyPr>
          <a:lstStyle/>
          <a:p>
            <a:pPr algn="l">
              <a:buFont typeface="Courier New" panose="02070309020205020404" pitchFamily="49" charset="0"/>
              <a:buChar char="o"/>
            </a:pPr>
            <a:r>
              <a:rPr lang="en-US" sz="2800" b="0" i="0" u="none" strike="noStrike" baseline="0" dirty="0">
                <a:latin typeface="Times-Roman"/>
              </a:rPr>
              <a:t>As stated in the previous slide, the program cut off the search tree </a:t>
            </a:r>
            <a:r>
              <a:rPr lang="en-US" dirty="0">
                <a:latin typeface="Times-Roman"/>
              </a:rPr>
              <a:t>at certain depth. </a:t>
            </a:r>
            <a:r>
              <a:rPr lang="en-US" sz="2800" b="0" i="0" u="none" strike="noStrike" baseline="0" dirty="0">
                <a:latin typeface="Times-Roman"/>
              </a:rPr>
              <a:t> But we cannot apply utility functions to cutoff state nodes because they are not at the outcome terminal nodes of the game. </a:t>
            </a:r>
          </a:p>
          <a:p>
            <a:pPr algn="l">
              <a:buFont typeface="Courier New" panose="02070309020205020404" pitchFamily="49" charset="0"/>
              <a:buChar char="o"/>
            </a:pPr>
            <a:r>
              <a:rPr lang="en-US" sz="2800" b="0" i="0" u="none" strike="noStrike" baseline="0" dirty="0">
                <a:latin typeface="Times-Roman"/>
              </a:rPr>
              <a:t>So, we apply a heuristic </a:t>
            </a:r>
            <a:r>
              <a:rPr lang="en-US" sz="2800" b="1" i="0" u="none" strike="noStrike" baseline="0" dirty="0">
                <a:latin typeface="Times-Bold"/>
              </a:rPr>
              <a:t>evaluation function </a:t>
            </a:r>
            <a:r>
              <a:rPr lang="en-US" sz="2800" b="0" i="0" u="none" strike="noStrike" baseline="0" dirty="0">
                <a:latin typeface="Times-Roman"/>
              </a:rPr>
              <a:t>to the cutoff state nodes effectively turning nonterminal nodes into terminal leaves. </a:t>
            </a:r>
            <a:r>
              <a:rPr lang="en-US" b="1" dirty="0">
                <a:latin typeface="Times-Roman"/>
              </a:rPr>
              <a:t>Evaluation Function is the estimate of the utility function.</a:t>
            </a:r>
          </a:p>
          <a:p>
            <a:pPr algn="l">
              <a:buFont typeface="Courier New" panose="02070309020205020404" pitchFamily="49" charset="0"/>
              <a:buChar char="o"/>
            </a:pPr>
            <a:r>
              <a:rPr lang="en-US" b="1" dirty="0">
                <a:latin typeface="Times-Roman"/>
              </a:rPr>
              <a:t>Characteristics of the Evaluation:</a:t>
            </a:r>
            <a:r>
              <a:rPr lang="en-US" dirty="0">
                <a:latin typeface="Times-Roman"/>
              </a:rPr>
              <a:t> Continued on the next slide</a:t>
            </a:r>
          </a:p>
          <a:p>
            <a:pPr marL="0" indent="0" algn="l">
              <a:buNone/>
            </a:pPr>
            <a:endParaRPr lang="en-US" dirty="0"/>
          </a:p>
        </p:txBody>
      </p:sp>
    </p:spTree>
    <p:extLst>
      <p:ext uri="{BB962C8B-B14F-4D97-AF65-F5344CB8AC3E}">
        <p14:creationId xmlns:p14="http://schemas.microsoft.com/office/powerpoint/2010/main" val="29314773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AF15D-5833-31CB-D960-B60AE2588373}"/>
              </a:ext>
            </a:extLst>
          </p:cNvPr>
          <p:cNvSpPr>
            <a:spLocks noGrp="1"/>
          </p:cNvSpPr>
          <p:nvPr>
            <p:ph type="title"/>
          </p:nvPr>
        </p:nvSpPr>
        <p:spPr/>
        <p:txBody>
          <a:bodyPr/>
          <a:lstStyle/>
          <a:p>
            <a:r>
              <a:rPr lang="en-US" b="1" dirty="0">
                <a:latin typeface="Times-Roman"/>
              </a:rPr>
              <a:t>Characteristics of the Evaluation Function</a:t>
            </a:r>
            <a:endParaRPr lang="en-US" dirty="0"/>
          </a:p>
        </p:txBody>
      </p:sp>
      <p:sp>
        <p:nvSpPr>
          <p:cNvPr id="3" name="Content Placeholder 2">
            <a:extLst>
              <a:ext uri="{FF2B5EF4-FFF2-40B4-BE49-F238E27FC236}">
                <a16:creationId xmlns:a16="http://schemas.microsoft.com/office/drawing/2014/main" id="{4F4AD1BC-5398-8E31-20A1-2DF41EFFC3B3}"/>
              </a:ext>
            </a:extLst>
          </p:cNvPr>
          <p:cNvSpPr>
            <a:spLocks noGrp="1"/>
          </p:cNvSpPr>
          <p:nvPr>
            <p:ph idx="1"/>
          </p:nvPr>
        </p:nvSpPr>
        <p:spPr/>
        <p:txBody>
          <a:bodyPr/>
          <a:lstStyle/>
          <a:p>
            <a:pPr marL="514350" indent="-514350">
              <a:buFont typeface="+mj-lt"/>
              <a:buAutoNum type="arabicPeriod"/>
            </a:pPr>
            <a:r>
              <a:rPr lang="en-US" dirty="0"/>
              <a:t>First, the evaluation function should order the terminal states in the same way as the true utility function as it estimates it.: states that win must evaluate better than draws, which in turn must be better than losses. Otherwise, an agent using the evaluation function might err even if it can see ahead all the way to the end of the game. </a:t>
            </a:r>
          </a:p>
          <a:p>
            <a:pPr marL="514350" indent="-514350">
              <a:buFont typeface="+mj-lt"/>
              <a:buAutoNum type="arabicPeriod"/>
            </a:pPr>
            <a:r>
              <a:rPr lang="en-US" dirty="0"/>
              <a:t>Second, the computation must not take too long. (The whole point is to search faster.) </a:t>
            </a:r>
          </a:p>
          <a:p>
            <a:pPr marL="514350" indent="-514350">
              <a:buFont typeface="+mj-lt"/>
              <a:buAutoNum type="arabicPeriod"/>
            </a:pPr>
            <a:r>
              <a:rPr lang="en-US" dirty="0"/>
              <a:t>Third, for nonterminal states, the evaluation function should be strongly correlated with the actual chances of winning.</a:t>
            </a:r>
          </a:p>
        </p:txBody>
      </p:sp>
    </p:spTree>
    <p:extLst>
      <p:ext uri="{BB962C8B-B14F-4D97-AF65-F5344CB8AC3E}">
        <p14:creationId xmlns:p14="http://schemas.microsoft.com/office/powerpoint/2010/main" val="448059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lendar&#10;&#10;Description automatically generated">
            <a:extLst>
              <a:ext uri="{FF2B5EF4-FFF2-40B4-BE49-F238E27FC236}">
                <a16:creationId xmlns:a16="http://schemas.microsoft.com/office/drawing/2014/main" id="{F16D832D-4450-FA3F-8EC4-659993D6623F}"/>
              </a:ext>
            </a:extLst>
          </p:cNvPr>
          <p:cNvPicPr>
            <a:picLocks noChangeAspect="1"/>
          </p:cNvPicPr>
          <p:nvPr/>
        </p:nvPicPr>
        <p:blipFill rotWithShape="1">
          <a:blip r:embed="rId2"/>
          <a:srcRect l="30570" t="22723" b="28022"/>
          <a:stretch/>
        </p:blipFill>
        <p:spPr bwMode="auto">
          <a:xfrm>
            <a:off x="404734" y="104931"/>
            <a:ext cx="16414230" cy="675306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81657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ED386-EBBB-9E39-12F8-6B69244C974C}"/>
              </a:ext>
            </a:extLst>
          </p:cNvPr>
          <p:cNvSpPr>
            <a:spLocks noGrp="1"/>
          </p:cNvSpPr>
          <p:nvPr>
            <p:ph type="title"/>
          </p:nvPr>
        </p:nvSpPr>
        <p:spPr>
          <a:xfrm>
            <a:off x="838200" y="131762"/>
            <a:ext cx="10515600" cy="549275"/>
          </a:xfrm>
        </p:spPr>
        <p:txBody>
          <a:bodyPr>
            <a:normAutofit fontScale="90000"/>
          </a:bodyPr>
          <a:lstStyle/>
          <a:p>
            <a:r>
              <a:rPr lang="en-US" b="1" dirty="0">
                <a:latin typeface="Times-Roman"/>
              </a:rPr>
              <a:t>Evaluation Function</a:t>
            </a:r>
            <a:endParaRPr lang="en-US" dirty="0"/>
          </a:p>
        </p:txBody>
      </p:sp>
      <p:sp>
        <p:nvSpPr>
          <p:cNvPr id="3" name="Content Placeholder 2">
            <a:extLst>
              <a:ext uri="{FF2B5EF4-FFF2-40B4-BE49-F238E27FC236}">
                <a16:creationId xmlns:a16="http://schemas.microsoft.com/office/drawing/2014/main" id="{123109DD-6ACD-6609-C3E1-D9BE2D105E60}"/>
              </a:ext>
            </a:extLst>
          </p:cNvPr>
          <p:cNvSpPr>
            <a:spLocks noGrp="1"/>
          </p:cNvSpPr>
          <p:nvPr>
            <p:ph idx="1"/>
          </p:nvPr>
        </p:nvSpPr>
        <p:spPr>
          <a:xfrm>
            <a:off x="838200" y="681036"/>
            <a:ext cx="10515600" cy="6045201"/>
          </a:xfrm>
        </p:spPr>
        <p:txBody>
          <a:bodyPr>
            <a:normAutofit fontScale="92500" lnSpcReduction="20000"/>
          </a:bodyPr>
          <a:lstStyle/>
          <a:p>
            <a:pPr marL="0" indent="0">
              <a:buNone/>
            </a:pPr>
            <a:r>
              <a:rPr lang="en-US" dirty="0"/>
              <a:t>Most evaluation functions work by calculating various features of the state—for example, in chess, we would have features for the number of white pawns, black pawns, white queens, black queens, and so on. The features, taken together, define various categories or equivalence classes of states: the states in each category have the same values for all the features.</a:t>
            </a:r>
          </a:p>
          <a:p>
            <a:pPr marL="0" indent="0">
              <a:buNone/>
            </a:pPr>
            <a:r>
              <a:rPr lang="en-US" dirty="0"/>
              <a:t>Most evaluation functions compute separate numerical contributions from each feature and then combine them to find MATERIAL VALUE the total value. For example, introductory chess books give an approximate material </a:t>
            </a:r>
            <a:r>
              <a:rPr lang="en-US" b="1" dirty="0"/>
              <a:t>value for each piece: each pawn is worth 1, a knight or bishop is worth 3, a rook 5, and the queen 9</a:t>
            </a:r>
            <a:r>
              <a:rPr lang="en-US" dirty="0"/>
              <a:t>. Other features such as “good pawn structure” and “king safety” might be worth half a pawn, say. These feature values are then simply added up to obtain the evaluation of the position.</a:t>
            </a:r>
          </a:p>
          <a:p>
            <a:pPr marL="0" indent="0">
              <a:buNone/>
            </a:pPr>
            <a:r>
              <a:rPr lang="en-US" dirty="0"/>
              <a:t>Mathematically, this kind of evaluation function is called a weighted linear function because it can be expressed as:</a:t>
            </a:r>
          </a:p>
          <a:p>
            <a:pPr marL="0" indent="0">
              <a:buNone/>
            </a:pPr>
            <a:endParaRPr lang="en-US" dirty="0"/>
          </a:p>
          <a:p>
            <a:pPr marL="0" indent="0">
              <a:buNone/>
            </a:pPr>
            <a:r>
              <a:rPr lang="en-US" dirty="0"/>
              <a:t>where each wi is a weight and each fi is a feature of the position. For chess, </a:t>
            </a:r>
          </a:p>
          <a:p>
            <a:pPr marL="0" indent="0">
              <a:buNone/>
            </a:pPr>
            <a:r>
              <a:rPr lang="en-US" dirty="0"/>
              <a:t>the fi could be the numbers of each kind of piece on the board, and the wi could be the values of the pieces (1 for pawn, 3 for bishop, etc.).</a:t>
            </a:r>
          </a:p>
        </p:txBody>
      </p:sp>
      <p:sp>
        <p:nvSpPr>
          <p:cNvPr id="5" name="Rectangle 2">
            <a:extLst>
              <a:ext uri="{FF2B5EF4-FFF2-40B4-BE49-F238E27FC236}">
                <a16:creationId xmlns:a16="http://schemas.microsoft.com/office/drawing/2014/main" id="{B52443C1-3B0F-76CE-37E7-C4DF7978F3E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descr="Text&#10;&#10;Description automatically generated">
            <a:extLst>
              <a:ext uri="{FF2B5EF4-FFF2-40B4-BE49-F238E27FC236}">
                <a16:creationId xmlns:a16="http://schemas.microsoft.com/office/drawing/2014/main" id="{11F72323-A4DC-7D14-B189-0B19E8BC3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322" t="56123" r="33165" b="37090"/>
          <a:stretch>
            <a:fillRect/>
          </a:stretch>
        </p:blipFill>
        <p:spPr bwMode="auto">
          <a:xfrm>
            <a:off x="134911" y="4894288"/>
            <a:ext cx="10927830" cy="801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070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1ABE5-E55B-48A3-91AF-6D54FB9BF0BE}"/>
              </a:ext>
            </a:extLst>
          </p:cNvPr>
          <p:cNvSpPr>
            <a:spLocks noGrp="1"/>
          </p:cNvSpPr>
          <p:nvPr>
            <p:ph type="title"/>
          </p:nvPr>
        </p:nvSpPr>
        <p:spPr/>
        <p:txBody>
          <a:bodyPr/>
          <a:lstStyle/>
          <a:p>
            <a:r>
              <a:rPr lang="en-US" dirty="0"/>
              <a:t>		First a Hypothetical Examples</a:t>
            </a:r>
          </a:p>
        </p:txBody>
      </p:sp>
    </p:spTree>
    <p:extLst>
      <p:ext uri="{BB962C8B-B14F-4D97-AF65-F5344CB8AC3E}">
        <p14:creationId xmlns:p14="http://schemas.microsoft.com/office/powerpoint/2010/main" val="1607305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209800" y="1447801"/>
            <a:ext cx="8153400" cy="4038599"/>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C529F-D8A3-25F8-C051-A03DF1E2CF14}"/>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DD2E695-9CAF-A946-49D8-0E179F2309B2}"/>
              </a:ext>
            </a:extLst>
          </p:cNvPr>
          <p:cNvSpPr>
            <a:spLocks noGrp="1"/>
          </p:cNvSpPr>
          <p:nvPr>
            <p:ph type="subTitle" idx="1"/>
          </p:nvPr>
        </p:nvSpPr>
        <p:spPr/>
        <p:txBody>
          <a:bodyPr/>
          <a:lstStyle/>
          <a:p>
            <a:endParaRPr lang="en-US"/>
          </a:p>
        </p:txBody>
      </p:sp>
      <p:pic>
        <p:nvPicPr>
          <p:cNvPr id="4" name="Picture 3" descr="Diagram&#10;&#10;Description automatically generated">
            <a:extLst>
              <a:ext uri="{FF2B5EF4-FFF2-40B4-BE49-F238E27FC236}">
                <a16:creationId xmlns:a16="http://schemas.microsoft.com/office/drawing/2014/main" id="{1B70B911-7647-DA80-4EA8-F25C73AA3F56}"/>
              </a:ext>
            </a:extLst>
          </p:cNvPr>
          <p:cNvPicPr>
            <a:picLocks noChangeAspect="1"/>
          </p:cNvPicPr>
          <p:nvPr/>
        </p:nvPicPr>
        <p:blipFill>
          <a:blip r:embed="rId2"/>
          <a:stretch>
            <a:fillRect/>
          </a:stretch>
        </p:blipFill>
        <p:spPr>
          <a:xfrm>
            <a:off x="-22204" y="620486"/>
            <a:ext cx="11899729" cy="5617027"/>
          </a:xfrm>
          <a:prstGeom prst="rect">
            <a:avLst/>
          </a:prstGeom>
        </p:spPr>
      </p:pic>
      <p:sp>
        <p:nvSpPr>
          <p:cNvPr id="5" name="TextBox 4">
            <a:extLst>
              <a:ext uri="{FF2B5EF4-FFF2-40B4-BE49-F238E27FC236}">
                <a16:creationId xmlns:a16="http://schemas.microsoft.com/office/drawing/2014/main" id="{E78B5FFB-7AE1-1C7E-C0E1-3A99E77BE99E}"/>
              </a:ext>
            </a:extLst>
          </p:cNvPr>
          <p:cNvSpPr txBox="1"/>
          <p:nvPr/>
        </p:nvSpPr>
        <p:spPr>
          <a:xfrm>
            <a:off x="3405527" y="829618"/>
            <a:ext cx="2385673" cy="461665"/>
          </a:xfrm>
          <a:prstGeom prst="rect">
            <a:avLst/>
          </a:prstGeom>
          <a:solidFill>
            <a:schemeClr val="bg1"/>
          </a:solidFill>
        </p:spPr>
        <p:txBody>
          <a:bodyPr wrap="square" rtlCol="0">
            <a:spAutoFit/>
          </a:bodyPr>
          <a:lstStyle/>
          <a:p>
            <a:r>
              <a:rPr lang="en-US" sz="2400" dirty="0"/>
              <a:t>H – </a:t>
            </a:r>
            <a:r>
              <a:rPr lang="en-US" sz="2400" dirty="0" err="1"/>
              <a:t>MinMax</a:t>
            </a:r>
            <a:r>
              <a:rPr lang="en-US" sz="2400" dirty="0"/>
              <a:t> (A,0)</a:t>
            </a:r>
          </a:p>
        </p:txBody>
      </p:sp>
      <p:sp>
        <p:nvSpPr>
          <p:cNvPr id="6" name="TextBox 5">
            <a:extLst>
              <a:ext uri="{FF2B5EF4-FFF2-40B4-BE49-F238E27FC236}">
                <a16:creationId xmlns:a16="http://schemas.microsoft.com/office/drawing/2014/main" id="{3CE16287-092A-0261-DB05-85D302E4B264}"/>
              </a:ext>
            </a:extLst>
          </p:cNvPr>
          <p:cNvSpPr txBox="1"/>
          <p:nvPr/>
        </p:nvSpPr>
        <p:spPr>
          <a:xfrm rot="21119763">
            <a:off x="455806" y="2577583"/>
            <a:ext cx="3791544" cy="523220"/>
          </a:xfrm>
          <a:prstGeom prst="rect">
            <a:avLst/>
          </a:prstGeom>
          <a:solidFill>
            <a:schemeClr val="bg1"/>
          </a:solidFill>
        </p:spPr>
        <p:txBody>
          <a:bodyPr wrap="square" rtlCol="0">
            <a:spAutoFit/>
          </a:bodyPr>
          <a:lstStyle/>
          <a:p>
            <a:r>
              <a:rPr lang="en-US" sz="2800" dirty="0"/>
              <a:t>{Min[H – </a:t>
            </a:r>
            <a:r>
              <a:rPr lang="en-US" sz="2800" dirty="0" err="1"/>
              <a:t>MinMax</a:t>
            </a:r>
            <a:r>
              <a:rPr lang="en-US" sz="2800" dirty="0"/>
              <a:t> (B,1)]}</a:t>
            </a:r>
          </a:p>
        </p:txBody>
      </p:sp>
      <p:sp>
        <p:nvSpPr>
          <p:cNvPr id="7" name="TextBox 6">
            <a:extLst>
              <a:ext uri="{FF2B5EF4-FFF2-40B4-BE49-F238E27FC236}">
                <a16:creationId xmlns:a16="http://schemas.microsoft.com/office/drawing/2014/main" id="{225B09D9-BD09-24F7-FAB6-977CA9D2C787}"/>
              </a:ext>
            </a:extLst>
          </p:cNvPr>
          <p:cNvSpPr txBox="1"/>
          <p:nvPr/>
        </p:nvSpPr>
        <p:spPr>
          <a:xfrm>
            <a:off x="4725360" y="2258992"/>
            <a:ext cx="3254921" cy="461665"/>
          </a:xfrm>
          <a:prstGeom prst="rect">
            <a:avLst/>
          </a:prstGeom>
          <a:solidFill>
            <a:schemeClr val="bg1"/>
          </a:solidFill>
        </p:spPr>
        <p:txBody>
          <a:bodyPr wrap="square" rtlCol="0">
            <a:spAutoFit/>
          </a:bodyPr>
          <a:lstStyle/>
          <a:p>
            <a:r>
              <a:rPr lang="en-US" sz="2400" dirty="0"/>
              <a:t>{Min[H – </a:t>
            </a:r>
            <a:r>
              <a:rPr lang="en-US" sz="2400" dirty="0" err="1"/>
              <a:t>MinMax</a:t>
            </a:r>
            <a:r>
              <a:rPr lang="en-US" sz="2400" dirty="0"/>
              <a:t> (C,1)]}</a:t>
            </a:r>
          </a:p>
        </p:txBody>
      </p:sp>
      <p:sp>
        <p:nvSpPr>
          <p:cNvPr id="8" name="TextBox 7">
            <a:extLst>
              <a:ext uri="{FF2B5EF4-FFF2-40B4-BE49-F238E27FC236}">
                <a16:creationId xmlns:a16="http://schemas.microsoft.com/office/drawing/2014/main" id="{7D1EB583-DC44-FBEB-9125-276185F80332}"/>
              </a:ext>
            </a:extLst>
          </p:cNvPr>
          <p:cNvSpPr txBox="1"/>
          <p:nvPr/>
        </p:nvSpPr>
        <p:spPr>
          <a:xfrm>
            <a:off x="8465161" y="1989666"/>
            <a:ext cx="3254921" cy="830997"/>
          </a:xfrm>
          <a:prstGeom prst="rect">
            <a:avLst/>
          </a:prstGeom>
          <a:solidFill>
            <a:schemeClr val="bg1"/>
          </a:solidFill>
        </p:spPr>
        <p:txBody>
          <a:bodyPr wrap="square" rtlCol="0">
            <a:spAutoFit/>
          </a:bodyPr>
          <a:lstStyle/>
          <a:p>
            <a:endParaRPr lang="en-US" sz="2400" dirty="0"/>
          </a:p>
          <a:p>
            <a:r>
              <a:rPr lang="en-US" sz="2400" dirty="0"/>
              <a:t>{Min[H – </a:t>
            </a:r>
            <a:r>
              <a:rPr lang="en-US" sz="2400" dirty="0" err="1"/>
              <a:t>MinMax</a:t>
            </a:r>
            <a:r>
              <a:rPr lang="en-US" sz="2400" dirty="0"/>
              <a:t> (D,1)]}</a:t>
            </a:r>
          </a:p>
        </p:txBody>
      </p:sp>
      <p:sp>
        <p:nvSpPr>
          <p:cNvPr id="9" name="TextBox 8">
            <a:extLst>
              <a:ext uri="{FF2B5EF4-FFF2-40B4-BE49-F238E27FC236}">
                <a16:creationId xmlns:a16="http://schemas.microsoft.com/office/drawing/2014/main" id="{7D228989-7BA1-2C64-8F29-3349730DB213}"/>
              </a:ext>
            </a:extLst>
          </p:cNvPr>
          <p:cNvSpPr txBox="1"/>
          <p:nvPr/>
        </p:nvSpPr>
        <p:spPr>
          <a:xfrm>
            <a:off x="7452171" y="2720657"/>
            <a:ext cx="790129" cy="646331"/>
          </a:xfrm>
          <a:prstGeom prst="rect">
            <a:avLst/>
          </a:prstGeom>
          <a:solidFill>
            <a:schemeClr val="bg1"/>
          </a:solidFill>
        </p:spPr>
        <p:txBody>
          <a:bodyPr wrap="square" rtlCol="0">
            <a:spAutoFit/>
          </a:bodyPr>
          <a:lstStyle/>
          <a:p>
            <a:r>
              <a:rPr lang="en-US" dirty="0"/>
              <a:t>    </a:t>
            </a:r>
          </a:p>
          <a:p>
            <a:endParaRPr lang="en-US" dirty="0"/>
          </a:p>
        </p:txBody>
      </p:sp>
      <p:sp>
        <p:nvSpPr>
          <p:cNvPr id="10" name="TextBox 9">
            <a:extLst>
              <a:ext uri="{FF2B5EF4-FFF2-40B4-BE49-F238E27FC236}">
                <a16:creationId xmlns:a16="http://schemas.microsoft.com/office/drawing/2014/main" id="{CD2A7457-D2A6-4B10-1FA3-F12F13AC8C57}"/>
              </a:ext>
            </a:extLst>
          </p:cNvPr>
          <p:cNvSpPr txBox="1"/>
          <p:nvPr/>
        </p:nvSpPr>
        <p:spPr>
          <a:xfrm>
            <a:off x="-22204" y="4442151"/>
            <a:ext cx="2740003" cy="523220"/>
          </a:xfrm>
          <a:prstGeom prst="rect">
            <a:avLst/>
          </a:prstGeom>
          <a:solidFill>
            <a:schemeClr val="bg1"/>
          </a:solidFill>
        </p:spPr>
        <p:txBody>
          <a:bodyPr wrap="square" rtlCol="0">
            <a:spAutoFit/>
          </a:bodyPr>
          <a:lstStyle/>
          <a:p>
            <a:r>
              <a:rPr lang="en-US" sz="2800" dirty="0"/>
              <a:t>H – </a:t>
            </a:r>
            <a:r>
              <a:rPr lang="en-US" sz="2800" dirty="0" err="1"/>
              <a:t>MinMax</a:t>
            </a:r>
            <a:r>
              <a:rPr lang="en-US" sz="2800" dirty="0"/>
              <a:t> (E,2)</a:t>
            </a:r>
          </a:p>
        </p:txBody>
      </p:sp>
      <p:sp>
        <p:nvSpPr>
          <p:cNvPr id="11" name="TextBox 10">
            <a:extLst>
              <a:ext uri="{FF2B5EF4-FFF2-40B4-BE49-F238E27FC236}">
                <a16:creationId xmlns:a16="http://schemas.microsoft.com/office/drawing/2014/main" id="{123721F9-0DF3-0351-62D4-333BF5A2FFA5}"/>
              </a:ext>
            </a:extLst>
          </p:cNvPr>
          <p:cNvSpPr txBox="1"/>
          <p:nvPr/>
        </p:nvSpPr>
        <p:spPr>
          <a:xfrm>
            <a:off x="-22204" y="4842301"/>
            <a:ext cx="2009589" cy="830997"/>
          </a:xfrm>
          <a:prstGeom prst="rect">
            <a:avLst/>
          </a:prstGeom>
          <a:solidFill>
            <a:schemeClr val="bg1"/>
          </a:solidFill>
        </p:spPr>
        <p:txBody>
          <a:bodyPr wrap="none" rtlCol="0">
            <a:spAutoFit/>
          </a:bodyPr>
          <a:lstStyle/>
          <a:p>
            <a:endParaRPr lang="en-US" sz="2400" dirty="0"/>
          </a:p>
          <a:p>
            <a:r>
              <a:rPr lang="en-US" sz="2400" dirty="0"/>
              <a:t>Will return “9”</a:t>
            </a:r>
          </a:p>
        </p:txBody>
      </p:sp>
      <p:sp>
        <p:nvSpPr>
          <p:cNvPr id="12" name="TextBox 11">
            <a:extLst>
              <a:ext uri="{FF2B5EF4-FFF2-40B4-BE49-F238E27FC236}">
                <a16:creationId xmlns:a16="http://schemas.microsoft.com/office/drawing/2014/main" id="{A4EBA966-B781-817E-AF3F-AA60E0563736}"/>
              </a:ext>
            </a:extLst>
          </p:cNvPr>
          <p:cNvSpPr txBox="1"/>
          <p:nvPr/>
        </p:nvSpPr>
        <p:spPr>
          <a:xfrm>
            <a:off x="9297998" y="4458773"/>
            <a:ext cx="2740003" cy="523220"/>
          </a:xfrm>
          <a:prstGeom prst="rect">
            <a:avLst/>
          </a:prstGeom>
          <a:solidFill>
            <a:schemeClr val="bg1"/>
          </a:solidFill>
        </p:spPr>
        <p:txBody>
          <a:bodyPr wrap="square" rtlCol="0">
            <a:spAutoFit/>
          </a:bodyPr>
          <a:lstStyle/>
          <a:p>
            <a:r>
              <a:rPr lang="en-US" sz="2800" dirty="0"/>
              <a:t>H – </a:t>
            </a:r>
            <a:r>
              <a:rPr lang="en-US" sz="2800" dirty="0" err="1"/>
              <a:t>MinMax</a:t>
            </a:r>
            <a:r>
              <a:rPr lang="en-US" sz="2800" dirty="0"/>
              <a:t> (K,2)</a:t>
            </a:r>
          </a:p>
        </p:txBody>
      </p:sp>
      <p:sp>
        <p:nvSpPr>
          <p:cNvPr id="13" name="TextBox 12">
            <a:extLst>
              <a:ext uri="{FF2B5EF4-FFF2-40B4-BE49-F238E27FC236}">
                <a16:creationId xmlns:a16="http://schemas.microsoft.com/office/drawing/2014/main" id="{CB32DCE5-6C69-DE48-1B33-76C9667E460D}"/>
              </a:ext>
            </a:extLst>
          </p:cNvPr>
          <p:cNvSpPr txBox="1"/>
          <p:nvPr/>
        </p:nvSpPr>
        <p:spPr>
          <a:xfrm>
            <a:off x="9615916" y="4904543"/>
            <a:ext cx="2104166" cy="830997"/>
          </a:xfrm>
          <a:prstGeom prst="rect">
            <a:avLst/>
          </a:prstGeom>
          <a:solidFill>
            <a:schemeClr val="bg1"/>
          </a:solidFill>
        </p:spPr>
        <p:txBody>
          <a:bodyPr wrap="none" rtlCol="0">
            <a:spAutoFit/>
          </a:bodyPr>
          <a:lstStyle/>
          <a:p>
            <a:endParaRPr lang="en-US" sz="2400" dirty="0"/>
          </a:p>
          <a:p>
            <a:r>
              <a:rPr lang="en-US" sz="2400" dirty="0"/>
              <a:t>Will return “-3”</a:t>
            </a:r>
          </a:p>
        </p:txBody>
      </p:sp>
      <p:sp>
        <p:nvSpPr>
          <p:cNvPr id="14" name="TextBox 13">
            <a:extLst>
              <a:ext uri="{FF2B5EF4-FFF2-40B4-BE49-F238E27FC236}">
                <a16:creationId xmlns:a16="http://schemas.microsoft.com/office/drawing/2014/main" id="{7DF71609-23FE-223B-4F81-CBAEE6355D60}"/>
              </a:ext>
            </a:extLst>
          </p:cNvPr>
          <p:cNvSpPr txBox="1"/>
          <p:nvPr/>
        </p:nvSpPr>
        <p:spPr>
          <a:xfrm>
            <a:off x="9482148" y="1577625"/>
            <a:ext cx="2070100" cy="461665"/>
          </a:xfrm>
          <a:prstGeom prst="rect">
            <a:avLst/>
          </a:prstGeom>
          <a:solidFill>
            <a:schemeClr val="bg1"/>
          </a:solidFill>
        </p:spPr>
        <p:txBody>
          <a:bodyPr wrap="square" rtlCol="0">
            <a:spAutoFit/>
          </a:bodyPr>
          <a:lstStyle/>
          <a:p>
            <a:r>
              <a:rPr lang="en-US" sz="2400" dirty="0"/>
              <a:t>Maximizing ply</a:t>
            </a:r>
          </a:p>
        </p:txBody>
      </p:sp>
      <p:sp>
        <p:nvSpPr>
          <p:cNvPr id="15" name="TextBox 14">
            <a:extLst>
              <a:ext uri="{FF2B5EF4-FFF2-40B4-BE49-F238E27FC236}">
                <a16:creationId xmlns:a16="http://schemas.microsoft.com/office/drawing/2014/main" id="{A09D2F0F-F6B3-DA06-CD0B-FDB974C66C7C}"/>
              </a:ext>
            </a:extLst>
          </p:cNvPr>
          <p:cNvSpPr txBox="1"/>
          <p:nvPr/>
        </p:nvSpPr>
        <p:spPr>
          <a:xfrm>
            <a:off x="9632949" y="3653820"/>
            <a:ext cx="2070100" cy="830997"/>
          </a:xfrm>
          <a:prstGeom prst="rect">
            <a:avLst/>
          </a:prstGeom>
          <a:solidFill>
            <a:schemeClr val="bg1"/>
          </a:solidFill>
        </p:spPr>
        <p:txBody>
          <a:bodyPr wrap="square" rtlCol="0">
            <a:spAutoFit/>
          </a:bodyPr>
          <a:lstStyle/>
          <a:p>
            <a:endParaRPr lang="en-US" sz="2400" dirty="0"/>
          </a:p>
          <a:p>
            <a:r>
              <a:rPr lang="en-US" sz="2400" dirty="0"/>
              <a:t>Minimizing ply</a:t>
            </a:r>
          </a:p>
        </p:txBody>
      </p:sp>
    </p:spTree>
    <p:extLst>
      <p:ext uri="{BB962C8B-B14F-4D97-AF65-F5344CB8AC3E}">
        <p14:creationId xmlns:p14="http://schemas.microsoft.com/office/powerpoint/2010/main" val="1868267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StudentWorkers\ALI__AI_powerpoint\chapter parts\images\3_3.PNG"/>
          <p:cNvPicPr>
            <a:picLocks noChangeAspect="1" noChangeArrowheads="1"/>
          </p:cNvPicPr>
          <p:nvPr/>
        </p:nvPicPr>
        <p:blipFill>
          <a:blip r:embed="rId2" cstate="print"/>
          <a:srcRect/>
          <a:stretch>
            <a:fillRect/>
          </a:stretch>
        </p:blipFill>
        <p:spPr bwMode="auto">
          <a:xfrm>
            <a:off x="2286001" y="685800"/>
            <a:ext cx="7514167" cy="54102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72090-6E32-433A-AEE9-37C3381DEA17}"/>
              </a:ext>
            </a:extLst>
          </p:cNvPr>
          <p:cNvSpPr>
            <a:spLocks noGrp="1"/>
          </p:cNvSpPr>
          <p:nvPr>
            <p:ph type="title"/>
          </p:nvPr>
        </p:nvSpPr>
        <p:spPr/>
        <p:txBody>
          <a:bodyPr/>
          <a:lstStyle/>
          <a:p>
            <a:r>
              <a:rPr lang="en-US" dirty="0"/>
              <a:t>		Real Example of Tic-Tac-Toe</a:t>
            </a:r>
          </a:p>
        </p:txBody>
      </p:sp>
    </p:spTree>
    <p:extLst>
      <p:ext uri="{BB962C8B-B14F-4D97-AF65-F5344CB8AC3E}">
        <p14:creationId xmlns:p14="http://schemas.microsoft.com/office/powerpoint/2010/main" val="3409699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subTitle" idx="1"/>
          </p:nvPr>
        </p:nvSpPr>
        <p:spPr>
          <a:xfrm>
            <a:off x="1981200" y="304800"/>
            <a:ext cx="8229600" cy="6248400"/>
          </a:xfrm>
        </p:spPr>
        <p:txBody>
          <a:bodyPr>
            <a:noAutofit/>
          </a:bodyPr>
          <a:lstStyle/>
          <a:p>
            <a:pPr algn="l"/>
            <a:r>
              <a:rPr lang="en-US" sz="3200" dirty="0"/>
              <a:t>The discussion of minimax, we present an application to tic-tac-toe, A slightly more complex heuristic is used, one that attempts to measure the conflict in the game. The heuristic takes a state that is to be measured, counts all winning lines open to MAX, and then subtracts the total number of winning lines open to MIN. The search attempts to maximize this difference. If a state is a forced win for MAX, it is evaluated as +∞; a forced win for MIN, as -∞. Diagrams below show this heuristic applied to several sample states.</a:t>
            </a:r>
          </a:p>
          <a:p>
            <a:pPr algn="l"/>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StudentWorkers\ALI__AI_powerpoint\chapter parts\images\3_4.PNG"/>
          <p:cNvPicPr>
            <a:picLocks noChangeAspect="1" noChangeArrowheads="1"/>
          </p:cNvPicPr>
          <p:nvPr/>
        </p:nvPicPr>
        <p:blipFill>
          <a:blip r:embed="rId2" cstate="print"/>
          <a:srcRect/>
          <a:stretch>
            <a:fillRect/>
          </a:stretch>
        </p:blipFill>
        <p:spPr bwMode="auto">
          <a:xfrm>
            <a:off x="3581401" y="304800"/>
            <a:ext cx="4657725" cy="621030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StudentWorkers\ALI__AI_powerpoint\chapter parts\images\3_5.PNG"/>
          <p:cNvPicPr>
            <a:picLocks noChangeAspect="1" noChangeArrowheads="1"/>
          </p:cNvPicPr>
          <p:nvPr/>
        </p:nvPicPr>
        <p:blipFill>
          <a:blip r:embed="rId2" cstate="print"/>
          <a:srcRect/>
          <a:stretch>
            <a:fillRect/>
          </a:stretch>
        </p:blipFill>
        <p:spPr bwMode="auto">
          <a:xfrm>
            <a:off x="2209800" y="609600"/>
            <a:ext cx="7879292" cy="5454894"/>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StudentWorkers\ALI__AI_powerpoint\chapter parts\images\3_6.PNG"/>
          <p:cNvPicPr>
            <a:picLocks noChangeAspect="1" noChangeArrowheads="1"/>
          </p:cNvPicPr>
          <p:nvPr/>
        </p:nvPicPr>
        <p:blipFill>
          <a:blip r:embed="rId2" cstate="print"/>
          <a:srcRect/>
          <a:stretch>
            <a:fillRect/>
          </a:stretch>
        </p:blipFill>
        <p:spPr bwMode="auto">
          <a:xfrm>
            <a:off x="2514600" y="304801"/>
            <a:ext cx="7010400" cy="6231467"/>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StudentWorkers\ALI__AI_powerpoint\chapter parts\images\3_7.PNG"/>
          <p:cNvPicPr>
            <a:picLocks noChangeAspect="1" noChangeArrowheads="1"/>
          </p:cNvPicPr>
          <p:nvPr/>
        </p:nvPicPr>
        <p:blipFill>
          <a:blip r:embed="rId2" cstate="print"/>
          <a:srcRect/>
          <a:stretch>
            <a:fillRect/>
          </a:stretch>
        </p:blipFill>
        <p:spPr bwMode="auto">
          <a:xfrm>
            <a:off x="636607" y="533400"/>
            <a:ext cx="11262167" cy="5800726"/>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5A54C-BDE7-4B88-8000-BEAD42FA63A9}"/>
              </a:ext>
            </a:extLst>
          </p:cNvPr>
          <p:cNvSpPr>
            <a:spLocks noGrp="1"/>
          </p:cNvSpPr>
          <p:nvPr>
            <p:ph type="title"/>
          </p:nvPr>
        </p:nvSpPr>
        <p:spPr/>
        <p:txBody>
          <a:bodyPr/>
          <a:lstStyle/>
          <a:p>
            <a:r>
              <a:rPr lang="en-US" dirty="0"/>
              <a:t>MinMax Algorithm #1</a:t>
            </a:r>
          </a:p>
        </p:txBody>
      </p:sp>
    </p:spTree>
    <p:extLst>
      <p:ext uri="{BB962C8B-B14F-4D97-AF65-F5344CB8AC3E}">
        <p14:creationId xmlns:p14="http://schemas.microsoft.com/office/powerpoint/2010/main" val="18063345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61475" y="457200"/>
            <a:ext cx="11117178" cy="5943600"/>
          </a:xfrm>
        </p:spPr>
        <p:txBody>
          <a:bodyPr>
            <a:noAutofit/>
          </a:bodyPr>
          <a:lstStyle/>
          <a:p>
            <a:pPr algn="l"/>
            <a:r>
              <a:rPr lang="en-US" b="1" dirty="0"/>
              <a:t>Support Functions:</a:t>
            </a:r>
          </a:p>
          <a:p>
            <a:pPr lvl="1" algn="l"/>
            <a:r>
              <a:rPr lang="en-US" sz="1800" dirty="0"/>
              <a:t>1. MOVEGEN</a:t>
            </a:r>
            <a:r>
              <a:rPr lang="en-US" sz="1800" i="1" dirty="0"/>
              <a:t>( Position , Player</a:t>
            </a:r>
            <a:r>
              <a:rPr lang="en-US" sz="1800" dirty="0"/>
              <a:t>) Function-The plausible-move generator, which returns a list of nodes representing the moves that can be made by </a:t>
            </a:r>
            <a:r>
              <a:rPr lang="en-US" sz="1800" i="1" dirty="0"/>
              <a:t>Player </a:t>
            </a:r>
            <a:r>
              <a:rPr lang="en-US" sz="1800" dirty="0"/>
              <a:t>in </a:t>
            </a:r>
            <a:r>
              <a:rPr lang="en-US" sz="1800" i="1" dirty="0"/>
              <a:t>Position [Children]. </a:t>
            </a:r>
            <a:r>
              <a:rPr lang="en-US" sz="1800" dirty="0"/>
              <a:t>We call the two players </a:t>
            </a:r>
            <a:r>
              <a:rPr lang="en-US" sz="1800" b="1" dirty="0"/>
              <a:t>MAX</a:t>
            </a:r>
            <a:r>
              <a:rPr lang="en-US" sz="1800" dirty="0"/>
              <a:t> and </a:t>
            </a:r>
            <a:r>
              <a:rPr lang="en-US" sz="1800" b="1" dirty="0"/>
              <a:t>MIN </a:t>
            </a:r>
            <a:r>
              <a:rPr lang="en-US" sz="1800" dirty="0"/>
              <a:t>; in a chess program, we might use the names BLACK and WHITE instead.</a:t>
            </a:r>
          </a:p>
          <a:p>
            <a:pPr lvl="1" algn="l"/>
            <a:r>
              <a:rPr lang="en-US" sz="1800" i="1" dirty="0"/>
              <a:t>2. Evaluation Function: (Position , Player)</a:t>
            </a:r>
            <a:r>
              <a:rPr lang="en-US" sz="1800" dirty="0"/>
              <a:t> -The evaluation function, which returns a number representing the</a:t>
            </a:r>
          </a:p>
          <a:p>
            <a:pPr lvl="1" algn="l"/>
            <a:r>
              <a:rPr lang="en-US" sz="1800" dirty="0"/>
              <a:t>goodness of </a:t>
            </a:r>
            <a:r>
              <a:rPr lang="en-US" sz="1800" i="1" dirty="0"/>
              <a:t>Position</a:t>
            </a:r>
            <a:r>
              <a:rPr lang="en-US" sz="1800" dirty="0"/>
              <a:t> from the standpoint of Player.</a:t>
            </a:r>
          </a:p>
          <a:p>
            <a:pPr algn="l"/>
            <a:r>
              <a:rPr lang="en-US" b="1" dirty="0"/>
              <a:t>Deep-Enough Function: Uses following Cutoff Characterization:</a:t>
            </a:r>
          </a:p>
          <a:p>
            <a:pPr lvl="1" algn="l"/>
            <a:r>
              <a:rPr lang="en-US" sz="1800" dirty="0"/>
              <a:t>• Has one side won?</a:t>
            </a:r>
          </a:p>
          <a:p>
            <a:pPr lvl="1" algn="l"/>
            <a:r>
              <a:rPr lang="en-US" sz="1800" dirty="0"/>
              <a:t>• How many ply have we already explored?</a:t>
            </a:r>
          </a:p>
          <a:p>
            <a:pPr lvl="1" algn="l"/>
            <a:r>
              <a:rPr lang="en-US" sz="1800" dirty="0"/>
              <a:t>• How promising is this path?</a:t>
            </a:r>
          </a:p>
          <a:p>
            <a:pPr lvl="1" algn="l"/>
            <a:r>
              <a:rPr lang="en-US" sz="1800" dirty="0"/>
              <a:t>• How much time is left?</a:t>
            </a:r>
          </a:p>
          <a:p>
            <a:pPr lvl="1" algn="l"/>
            <a:r>
              <a:rPr lang="en-US" sz="1800" dirty="0"/>
              <a:t>• How stable is the configuration?</a:t>
            </a:r>
          </a:p>
          <a:p>
            <a:pPr algn="l"/>
            <a:r>
              <a:rPr lang="en-US" b="1" dirty="0"/>
              <a:t>Output of the algorithm:</a:t>
            </a:r>
          </a:p>
          <a:p>
            <a:pPr lvl="1" algn="l"/>
            <a:r>
              <a:rPr lang="en-US" sz="1800" dirty="0"/>
              <a:t>• The backed-up value of the path it chooses.</a:t>
            </a:r>
          </a:p>
          <a:p>
            <a:pPr lvl="1" algn="l"/>
            <a:r>
              <a:rPr lang="en-US" sz="1800" dirty="0"/>
              <a:t>• The path itself. We return the entire path even though probably only the first element, representing the best move from the current position, is actually needed.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00F771-2CBB-4DA4-9B31-1E416781499F}"/>
              </a:ext>
            </a:extLst>
          </p:cNvPr>
          <p:cNvSpPr>
            <a:spLocks noGrp="1"/>
          </p:cNvSpPr>
          <p:nvPr>
            <p:ph idx="1"/>
          </p:nvPr>
        </p:nvSpPr>
        <p:spPr>
          <a:xfrm>
            <a:off x="419100" y="200026"/>
            <a:ext cx="11563350" cy="6438900"/>
          </a:xfrm>
        </p:spPr>
        <p:txBody>
          <a:bodyPr>
            <a:normAutofit fontScale="25000" lnSpcReduction="20000"/>
          </a:bodyPr>
          <a:lstStyle/>
          <a:p>
            <a:pPr marL="0" indent="0">
              <a:buNone/>
            </a:pPr>
            <a:r>
              <a:rPr lang="en-US" sz="7200" dirty="0"/>
              <a:t>MINIMAX (CURRENT, 0 ,MAX)</a:t>
            </a:r>
          </a:p>
          <a:p>
            <a:pPr marL="0" indent="0">
              <a:buNone/>
            </a:pPr>
            <a:r>
              <a:rPr lang="en-US" sz="7200" dirty="0"/>
              <a:t>if PLAYER-ONE is to move, or</a:t>
            </a:r>
          </a:p>
          <a:p>
            <a:pPr marL="0" indent="0">
              <a:buNone/>
            </a:pPr>
            <a:r>
              <a:rPr lang="en-US" sz="7200" dirty="0"/>
              <a:t>         MINIMAX (CURRENT, 0 ,MIN)</a:t>
            </a:r>
          </a:p>
          <a:p>
            <a:pPr marL="0" indent="0">
              <a:buNone/>
            </a:pPr>
            <a:r>
              <a:rPr lang="en-US" sz="7200" dirty="0"/>
              <a:t>if PLAYER-TWO is to move.</a:t>
            </a:r>
          </a:p>
          <a:p>
            <a:pPr marL="0" indent="0">
              <a:buNone/>
            </a:pPr>
            <a:r>
              <a:rPr lang="en-US" sz="7200" b="1" i="1" dirty="0"/>
              <a:t>Algorithm: MINIMAX(Position, Depth, Player)</a:t>
            </a:r>
            <a:endParaRPr lang="en-US" sz="7200" dirty="0"/>
          </a:p>
          <a:p>
            <a:pPr marL="0" indent="0">
              <a:buNone/>
            </a:pPr>
            <a:r>
              <a:rPr lang="en-US" sz="7200" dirty="0"/>
              <a:t>	1. If DEEP-ENOUGH</a:t>
            </a:r>
            <a:r>
              <a:rPr lang="en-US" sz="7200" i="1" dirty="0"/>
              <a:t>(Position, Depth), </a:t>
            </a:r>
            <a:r>
              <a:rPr lang="en-US" sz="7200" dirty="0"/>
              <a:t>then return the structure</a:t>
            </a:r>
          </a:p>
          <a:p>
            <a:pPr marL="0" indent="0">
              <a:buNone/>
            </a:pPr>
            <a:r>
              <a:rPr lang="en-US" sz="7200" dirty="0"/>
              <a:t>	VALUE = EVALUATION- FUNCTION </a:t>
            </a:r>
            <a:r>
              <a:rPr lang="en-US" sz="7200" i="1" dirty="0"/>
              <a:t>(Position, Player);</a:t>
            </a:r>
            <a:endParaRPr lang="en-US" sz="7200" dirty="0"/>
          </a:p>
          <a:p>
            <a:pPr marL="0" indent="0">
              <a:buNone/>
            </a:pPr>
            <a:r>
              <a:rPr lang="en-US" sz="7200" dirty="0"/>
              <a:t>	PATH = nil</a:t>
            </a:r>
          </a:p>
          <a:p>
            <a:pPr marL="0" indent="0">
              <a:buNone/>
            </a:pPr>
            <a:r>
              <a:rPr lang="en-US" sz="7200" dirty="0"/>
              <a:t>	This indicates that there is no path from this node and that its value is that determined by the static evaluation function.</a:t>
            </a:r>
          </a:p>
          <a:p>
            <a:pPr marL="0" indent="0">
              <a:buNone/>
            </a:pPr>
            <a:r>
              <a:rPr lang="en-US" sz="7200" dirty="0"/>
              <a:t>	2. Otherwise, generate one more ply of the tree by calling the function MOVE-GEN(Position Player) and setting SUCCESSORS to the list it returns.</a:t>
            </a:r>
          </a:p>
          <a:p>
            <a:pPr marL="0" indent="0">
              <a:buNone/>
            </a:pPr>
            <a:r>
              <a:rPr lang="en-US" sz="7200" dirty="0"/>
              <a:t>	3. If SUCCESSORS is empty, then there are no moves to be made, so return the same structure that would have been returned if DEEP-ENOUGH had returned true.</a:t>
            </a:r>
          </a:p>
          <a:p>
            <a:pPr marL="0" indent="0">
              <a:buNone/>
            </a:pPr>
            <a:r>
              <a:rPr lang="en-US" sz="7200" dirty="0"/>
              <a:t>	4. If SUCCESSORS is not empty, then examine each element in turn and keep track of the best one. This is done as follows.  </a:t>
            </a:r>
          </a:p>
          <a:p>
            <a:pPr marL="0" indent="0">
              <a:buNone/>
            </a:pPr>
            <a:r>
              <a:rPr lang="en-US" sz="7200" dirty="0"/>
              <a:t>	Initialize BEST-SCORE to the minimum value that Evaluation-Function can return. It will be updated to reflect the best score that can be achieved by an element of SUCCESSORS.</a:t>
            </a:r>
          </a:p>
          <a:p>
            <a:pPr marL="0" indent="0">
              <a:buNone/>
            </a:pPr>
            <a:r>
              <a:rPr lang="en-US" sz="7200" dirty="0"/>
              <a:t>	For each element SUCC of SUCCESSORS, do the following:</a:t>
            </a:r>
          </a:p>
          <a:p>
            <a:pPr marL="0" lvl="0" indent="0">
              <a:buNone/>
            </a:pPr>
            <a:r>
              <a:rPr lang="en-US" sz="7200" dirty="0"/>
              <a:t>	    (a) Set RESULT-SUCC to </a:t>
            </a:r>
            <a:endParaRPr lang="en-US" sz="7200" dirty="0">
              <a:effectLst/>
            </a:endParaRPr>
          </a:p>
          <a:p>
            <a:pPr marL="0" indent="0">
              <a:buNone/>
            </a:pPr>
            <a:r>
              <a:rPr lang="en-US" sz="7200" dirty="0"/>
              <a:t>	MINIMAX(SUCC, </a:t>
            </a:r>
            <a:r>
              <a:rPr lang="en-US" sz="7200" i="1" dirty="0"/>
              <a:t>Depth </a:t>
            </a:r>
            <a:r>
              <a:rPr lang="en-US" sz="7200" dirty="0"/>
              <a:t>+ 1, OPPOSITE(</a:t>
            </a:r>
            <a:r>
              <a:rPr lang="en-US" sz="7200" i="1" dirty="0"/>
              <a:t>Player))</a:t>
            </a:r>
            <a:endParaRPr lang="en-US" sz="7200" dirty="0"/>
          </a:p>
          <a:p>
            <a:pPr marL="0" indent="0">
              <a:buNone/>
            </a:pPr>
            <a:r>
              <a:rPr lang="en-US" sz="7200" dirty="0"/>
              <a:t>       	This recursive call to MINIMAX will actually carry out the exploration of SUCCC.</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7255260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00F771-2CBB-4DA4-9B31-1E416781499F}"/>
              </a:ext>
            </a:extLst>
          </p:cNvPr>
          <p:cNvSpPr>
            <a:spLocks noGrp="1"/>
          </p:cNvSpPr>
          <p:nvPr>
            <p:ph idx="1"/>
          </p:nvPr>
        </p:nvSpPr>
        <p:spPr>
          <a:xfrm>
            <a:off x="419100" y="200026"/>
            <a:ext cx="11563350" cy="6438900"/>
          </a:xfrm>
        </p:spPr>
        <p:txBody>
          <a:bodyPr>
            <a:normAutofit/>
          </a:bodyPr>
          <a:lstStyle/>
          <a:p>
            <a:pPr marL="0" indent="0">
              <a:buNone/>
            </a:pPr>
            <a:r>
              <a:rPr lang="en-US" sz="1800" dirty="0"/>
              <a:t>(b) Set NEW-VALUE to - VALUE(RESULT-SUCC). This will cause it to reflect the merits of the</a:t>
            </a:r>
          </a:p>
          <a:p>
            <a:pPr marL="0" indent="0">
              <a:buNone/>
            </a:pPr>
            <a:r>
              <a:rPr lang="en-US" sz="1800" dirty="0"/>
              <a:t>       position from the opposite perspective from that of the next lower Ievel.</a:t>
            </a:r>
          </a:p>
          <a:p>
            <a:pPr marL="0" indent="0">
              <a:buNone/>
            </a:pPr>
            <a:r>
              <a:rPr lang="en-US" sz="1800" dirty="0"/>
              <a:t>(c) If NEW-VALUE&gt; BEST-SCORE, then we have found a successor that is better than any that</a:t>
            </a:r>
          </a:p>
          <a:p>
            <a:pPr marL="0" indent="0">
              <a:buNone/>
            </a:pPr>
            <a:r>
              <a:rPr lang="en-US" sz="1800" dirty="0"/>
              <a:t>       have been examined so far. Record this by doing the following:</a:t>
            </a:r>
          </a:p>
          <a:p>
            <a:pPr marL="0" indent="0">
              <a:buNone/>
            </a:pPr>
            <a:r>
              <a:rPr lang="en-US" sz="1800" dirty="0"/>
              <a:t>    	 (</a:t>
            </a:r>
            <a:r>
              <a:rPr lang="en-US" sz="1800" dirty="0" err="1"/>
              <a:t>i</a:t>
            </a:r>
            <a:r>
              <a:rPr lang="en-US" sz="1800" dirty="0"/>
              <a:t>) Set BEST-SCORE to NEW-VALUE.</a:t>
            </a:r>
          </a:p>
          <a:p>
            <a:pPr marL="0" indent="0">
              <a:buNone/>
            </a:pPr>
            <a:r>
              <a:rPr lang="en-US" sz="1800" dirty="0"/>
              <a:t>    	 (ii) The best-known path is now from CURRENT to SUCC and then on to the appropriate path down from SUCC as determined by the recursive call to MINIMAX. So set BEST-PATH to the result of attaching SUCC to the front of PATH(RESULT-SUCC).</a:t>
            </a:r>
          </a:p>
          <a:p>
            <a:pPr marL="0" indent="0">
              <a:buNone/>
            </a:pPr>
            <a:r>
              <a:rPr lang="en-US" sz="1800" dirty="0"/>
              <a:t>5. Now that all the successors have been examined, we know the value of Position as well as which path to take from it. So return the structure</a:t>
            </a:r>
          </a:p>
          <a:p>
            <a:pPr marL="0" indent="0">
              <a:buNone/>
            </a:pPr>
            <a:r>
              <a:rPr lang="en-US" sz="1800" dirty="0"/>
              <a:t>	     VALUE = BEST-SCORE</a:t>
            </a:r>
          </a:p>
          <a:p>
            <a:pPr marL="0" indent="0">
              <a:buNone/>
            </a:pPr>
            <a:r>
              <a:rPr lang="en-US" sz="1800" dirty="0"/>
              <a:t>	     PATH = BEST-PATH</a:t>
            </a:r>
          </a:p>
          <a:p>
            <a:pPr marL="0" indent="0">
              <a:buNone/>
            </a:pPr>
            <a:r>
              <a:rPr lang="en-US" sz="1800" dirty="0"/>
              <a:t> </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7702499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17F0A-7E76-46C0-9B12-D3FE62ECE5CE}"/>
              </a:ext>
            </a:extLst>
          </p:cNvPr>
          <p:cNvSpPr>
            <a:spLocks noGrp="1"/>
          </p:cNvSpPr>
          <p:nvPr>
            <p:ph type="title"/>
          </p:nvPr>
        </p:nvSpPr>
        <p:spPr/>
        <p:txBody>
          <a:bodyPr/>
          <a:lstStyle/>
          <a:p>
            <a:r>
              <a:rPr lang="en-US" dirty="0"/>
              <a:t>Reverting f Values at terminal node, if it is in Min’s term</a:t>
            </a:r>
          </a:p>
        </p:txBody>
      </p:sp>
      <p:sp>
        <p:nvSpPr>
          <p:cNvPr id="3" name="Content Placeholder 2">
            <a:extLst>
              <a:ext uri="{FF2B5EF4-FFF2-40B4-BE49-F238E27FC236}">
                <a16:creationId xmlns:a16="http://schemas.microsoft.com/office/drawing/2014/main" id="{5BD85E47-DCA8-47C0-8711-A2BBECE01B83}"/>
              </a:ext>
            </a:extLst>
          </p:cNvPr>
          <p:cNvSpPr>
            <a:spLocks noGrp="1"/>
          </p:cNvSpPr>
          <p:nvPr>
            <p:ph idx="1"/>
          </p:nvPr>
        </p:nvSpPr>
        <p:spPr/>
        <p:txBody>
          <a:bodyPr/>
          <a:lstStyle/>
          <a:p>
            <a:r>
              <a:rPr lang="en-US" dirty="0"/>
              <a:t>If the terminal node is in the turn of the Min, You must reverse th  F-value at the node before using the algorithm.</a:t>
            </a:r>
          </a:p>
        </p:txBody>
      </p:sp>
    </p:spTree>
    <p:extLst>
      <p:ext uri="{BB962C8B-B14F-4D97-AF65-F5344CB8AC3E}">
        <p14:creationId xmlns:p14="http://schemas.microsoft.com/office/powerpoint/2010/main" val="35166502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251F4-30EB-4449-BAA0-D6E95EF0FD13}"/>
              </a:ext>
            </a:extLst>
          </p:cNvPr>
          <p:cNvSpPr>
            <a:spLocks noGrp="1"/>
          </p:cNvSpPr>
          <p:nvPr>
            <p:ph type="title"/>
          </p:nvPr>
        </p:nvSpPr>
        <p:spPr/>
        <p:txBody>
          <a:bodyPr/>
          <a:lstStyle/>
          <a:p>
            <a:r>
              <a:rPr lang="en-US" dirty="0"/>
              <a:t>Example and Trace of MinMax Algorithm</a:t>
            </a:r>
          </a:p>
        </p:txBody>
      </p:sp>
    </p:spTree>
    <p:extLst>
      <p:ext uri="{BB962C8B-B14F-4D97-AF65-F5344CB8AC3E}">
        <p14:creationId xmlns:p14="http://schemas.microsoft.com/office/powerpoint/2010/main" val="2598175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209800" y="1447801"/>
            <a:ext cx="8153400" cy="4038599"/>
          </a:xfrm>
          <a:prstGeom prst="rect">
            <a:avLst/>
          </a:prstGeom>
          <a:noFill/>
          <a:ln w="9525">
            <a:noFill/>
            <a:miter lim="800000"/>
            <a:headEnd/>
            <a:tailEnd/>
          </a:ln>
        </p:spPr>
      </p:pic>
    </p:spTree>
    <p:extLst>
      <p:ext uri="{BB962C8B-B14F-4D97-AF65-F5344CB8AC3E}">
        <p14:creationId xmlns:p14="http://schemas.microsoft.com/office/powerpoint/2010/main" val="7669942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tree&#10;&#10;Description automatically generated">
            <a:extLst>
              <a:ext uri="{FF2B5EF4-FFF2-40B4-BE49-F238E27FC236}">
                <a16:creationId xmlns:a16="http://schemas.microsoft.com/office/drawing/2014/main" id="{5845EE5F-95FB-6E64-9EB3-E115870E71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
            <a:ext cx="12192000" cy="5608320"/>
          </a:xfrm>
          <a:prstGeom prst="rect">
            <a:avLst/>
          </a:prstGeom>
          <a:solidFill>
            <a:schemeClr val="bg1"/>
          </a:solidFill>
        </p:spPr>
      </p:pic>
      <p:sp>
        <p:nvSpPr>
          <p:cNvPr id="7" name="Rectangle 6">
            <a:extLst>
              <a:ext uri="{FF2B5EF4-FFF2-40B4-BE49-F238E27FC236}">
                <a16:creationId xmlns:a16="http://schemas.microsoft.com/office/drawing/2014/main" id="{1E012D95-1FA8-6A3A-C3F0-FCD416BF7D24}"/>
              </a:ext>
            </a:extLst>
          </p:cNvPr>
          <p:cNvSpPr/>
          <p:nvPr/>
        </p:nvSpPr>
        <p:spPr>
          <a:xfrm>
            <a:off x="3080082" y="786064"/>
            <a:ext cx="1732549" cy="4090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MinMax</a:t>
            </a:r>
            <a:r>
              <a:rPr lang="en-US" sz="1400" dirty="0">
                <a:solidFill>
                  <a:schemeClr val="tx1"/>
                </a:solidFill>
              </a:rPr>
              <a:t>(A, 0, MAX)</a:t>
            </a:r>
          </a:p>
        </p:txBody>
      </p:sp>
      <p:sp>
        <p:nvSpPr>
          <p:cNvPr id="8" name="Rectangle 7">
            <a:extLst>
              <a:ext uri="{FF2B5EF4-FFF2-40B4-BE49-F238E27FC236}">
                <a16:creationId xmlns:a16="http://schemas.microsoft.com/office/drawing/2014/main" id="{319E08D2-A0D4-C3E9-9D6C-3A1080881C92}"/>
              </a:ext>
            </a:extLst>
          </p:cNvPr>
          <p:cNvSpPr/>
          <p:nvPr/>
        </p:nvSpPr>
        <p:spPr>
          <a:xfrm>
            <a:off x="2839450" y="1475874"/>
            <a:ext cx="1732549" cy="4090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Succors-&gt;(B,C,D)</a:t>
            </a:r>
          </a:p>
        </p:txBody>
      </p:sp>
      <p:sp>
        <p:nvSpPr>
          <p:cNvPr id="9" name="Rectangle 8">
            <a:extLst>
              <a:ext uri="{FF2B5EF4-FFF2-40B4-BE49-F238E27FC236}">
                <a16:creationId xmlns:a16="http://schemas.microsoft.com/office/drawing/2014/main" id="{7D7AC286-EA71-5B3E-B93C-17723AE1BF5B}"/>
              </a:ext>
            </a:extLst>
          </p:cNvPr>
          <p:cNvSpPr/>
          <p:nvPr/>
        </p:nvSpPr>
        <p:spPr>
          <a:xfrm>
            <a:off x="2586784" y="1884947"/>
            <a:ext cx="986596" cy="4090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succ</a:t>
            </a:r>
            <a:r>
              <a:rPr lang="en-US" sz="1400" dirty="0">
                <a:solidFill>
                  <a:schemeClr val="tx1"/>
                </a:solidFill>
              </a:rPr>
              <a:t>-&gt;B</a:t>
            </a:r>
          </a:p>
        </p:txBody>
      </p:sp>
      <p:sp>
        <p:nvSpPr>
          <p:cNvPr id="10" name="Rectangle 9">
            <a:extLst>
              <a:ext uri="{FF2B5EF4-FFF2-40B4-BE49-F238E27FC236}">
                <a16:creationId xmlns:a16="http://schemas.microsoft.com/office/drawing/2014/main" id="{3F3B5232-A4ED-BE36-850C-93336AC05CEB}"/>
              </a:ext>
            </a:extLst>
          </p:cNvPr>
          <p:cNvSpPr/>
          <p:nvPr/>
        </p:nvSpPr>
        <p:spPr>
          <a:xfrm>
            <a:off x="633661" y="2538665"/>
            <a:ext cx="1732549" cy="4090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MinMax</a:t>
            </a:r>
            <a:r>
              <a:rPr lang="en-US" sz="1400" dirty="0">
                <a:solidFill>
                  <a:schemeClr val="tx1"/>
                </a:solidFill>
              </a:rPr>
              <a:t>(B, 1, MIN)</a:t>
            </a:r>
          </a:p>
        </p:txBody>
      </p:sp>
      <p:sp>
        <p:nvSpPr>
          <p:cNvPr id="11" name="Rectangle 10">
            <a:extLst>
              <a:ext uri="{FF2B5EF4-FFF2-40B4-BE49-F238E27FC236}">
                <a16:creationId xmlns:a16="http://schemas.microsoft.com/office/drawing/2014/main" id="{906FD94C-13F3-AA56-CC72-15CB0DA82FC0}"/>
              </a:ext>
            </a:extLst>
          </p:cNvPr>
          <p:cNvSpPr/>
          <p:nvPr/>
        </p:nvSpPr>
        <p:spPr>
          <a:xfrm>
            <a:off x="0" y="3104146"/>
            <a:ext cx="1435768" cy="2526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successors-&gt;(E,F,G)</a:t>
            </a:r>
          </a:p>
        </p:txBody>
      </p:sp>
      <p:sp>
        <p:nvSpPr>
          <p:cNvPr id="12" name="Rectangle 11">
            <a:extLst>
              <a:ext uri="{FF2B5EF4-FFF2-40B4-BE49-F238E27FC236}">
                <a16:creationId xmlns:a16="http://schemas.microsoft.com/office/drawing/2014/main" id="{3067600E-69E5-7505-5A93-DA4189F13F86}"/>
              </a:ext>
            </a:extLst>
          </p:cNvPr>
          <p:cNvSpPr/>
          <p:nvPr/>
        </p:nvSpPr>
        <p:spPr>
          <a:xfrm>
            <a:off x="328859" y="3665621"/>
            <a:ext cx="986596" cy="4090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succ</a:t>
            </a:r>
            <a:r>
              <a:rPr lang="en-US" sz="1400" dirty="0">
                <a:solidFill>
                  <a:schemeClr val="tx1"/>
                </a:solidFill>
              </a:rPr>
              <a:t>-&gt;E</a:t>
            </a:r>
          </a:p>
        </p:txBody>
      </p:sp>
      <p:sp>
        <p:nvSpPr>
          <p:cNvPr id="13" name="Rectangle 12">
            <a:extLst>
              <a:ext uri="{FF2B5EF4-FFF2-40B4-BE49-F238E27FC236}">
                <a16:creationId xmlns:a16="http://schemas.microsoft.com/office/drawing/2014/main" id="{1543E5E0-FFF5-9C45-5FA9-479E42C0D0B7}"/>
              </a:ext>
            </a:extLst>
          </p:cNvPr>
          <p:cNvSpPr/>
          <p:nvPr/>
        </p:nvSpPr>
        <p:spPr>
          <a:xfrm>
            <a:off x="5221700" y="3972426"/>
            <a:ext cx="641689" cy="2045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succ</a:t>
            </a:r>
            <a:r>
              <a:rPr lang="en-US" sz="1100" dirty="0">
                <a:solidFill>
                  <a:schemeClr val="tx1"/>
                </a:solidFill>
              </a:rPr>
              <a:t>-&gt;H</a:t>
            </a:r>
            <a:endParaRPr lang="en-US" sz="1400" dirty="0">
              <a:solidFill>
                <a:schemeClr val="tx1"/>
              </a:solidFill>
            </a:endParaRPr>
          </a:p>
        </p:txBody>
      </p:sp>
      <p:sp>
        <p:nvSpPr>
          <p:cNvPr id="14" name="Rectangle 13">
            <a:extLst>
              <a:ext uri="{FF2B5EF4-FFF2-40B4-BE49-F238E27FC236}">
                <a16:creationId xmlns:a16="http://schemas.microsoft.com/office/drawing/2014/main" id="{7FD91051-0803-87F0-C681-87B457381992}"/>
              </a:ext>
            </a:extLst>
          </p:cNvPr>
          <p:cNvSpPr/>
          <p:nvPr/>
        </p:nvSpPr>
        <p:spPr>
          <a:xfrm>
            <a:off x="6633406" y="4074694"/>
            <a:ext cx="986596" cy="4090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succ</a:t>
            </a:r>
            <a:r>
              <a:rPr lang="en-US" sz="1400" dirty="0">
                <a:solidFill>
                  <a:schemeClr val="tx1"/>
                </a:solidFill>
              </a:rPr>
              <a:t>-&gt;I</a:t>
            </a:r>
          </a:p>
        </p:txBody>
      </p:sp>
      <p:sp>
        <p:nvSpPr>
          <p:cNvPr id="15" name="Rectangle 14">
            <a:extLst>
              <a:ext uri="{FF2B5EF4-FFF2-40B4-BE49-F238E27FC236}">
                <a16:creationId xmlns:a16="http://schemas.microsoft.com/office/drawing/2014/main" id="{ED54F808-BE74-09AB-F6DB-F1B9036FC341}"/>
              </a:ext>
            </a:extLst>
          </p:cNvPr>
          <p:cNvSpPr/>
          <p:nvPr/>
        </p:nvSpPr>
        <p:spPr>
          <a:xfrm>
            <a:off x="9304417" y="4036594"/>
            <a:ext cx="601583" cy="2807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succ</a:t>
            </a:r>
            <a:r>
              <a:rPr lang="en-US" sz="1100" dirty="0">
                <a:solidFill>
                  <a:schemeClr val="tx1"/>
                </a:solidFill>
              </a:rPr>
              <a:t>-&gt;J</a:t>
            </a:r>
          </a:p>
        </p:txBody>
      </p:sp>
    </p:spTree>
    <p:extLst>
      <p:ext uri="{BB962C8B-B14F-4D97-AF65-F5344CB8AC3E}">
        <p14:creationId xmlns:p14="http://schemas.microsoft.com/office/powerpoint/2010/main" val="1188465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0DC19-732F-8DF7-19BB-5BE5C2983673}"/>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D8214201-5CB1-50D3-4D3F-77E2077809E1}"/>
              </a:ext>
            </a:extLst>
          </p:cNvPr>
          <p:cNvSpPr>
            <a:spLocks noGrp="1"/>
          </p:cNvSpPr>
          <p:nvPr>
            <p:ph idx="1"/>
          </p:nvPr>
        </p:nvSpPr>
        <p:spPr/>
        <p:txBody>
          <a:bodyPr/>
          <a:lstStyle/>
          <a:p>
            <a:pPr marL="0" indent="0">
              <a:buNone/>
            </a:pPr>
            <a:r>
              <a:rPr lang="en-US" dirty="0"/>
              <a:t>Best Path = ACI</a:t>
            </a:r>
          </a:p>
          <a:p>
            <a:pPr marL="0" indent="0">
              <a:buNone/>
            </a:pPr>
            <a:r>
              <a:rPr lang="en-US" dirty="0"/>
              <a:t>Best Score at the root is: -2</a:t>
            </a:r>
          </a:p>
        </p:txBody>
      </p:sp>
    </p:spTree>
    <p:extLst>
      <p:ext uri="{BB962C8B-B14F-4D97-AF65-F5344CB8AC3E}">
        <p14:creationId xmlns:p14="http://schemas.microsoft.com/office/powerpoint/2010/main" val="30391182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subTitle" idx="1"/>
          </p:nvPr>
        </p:nvSpPr>
        <p:spPr>
          <a:xfrm>
            <a:off x="1981200" y="304800"/>
            <a:ext cx="8229600" cy="6400800"/>
          </a:xfrm>
        </p:spPr>
        <p:txBody>
          <a:bodyPr>
            <a:normAutofit lnSpcReduction="10000"/>
          </a:bodyPr>
          <a:lstStyle/>
          <a:p>
            <a:pPr algn="l"/>
            <a:r>
              <a:rPr lang="en-US" sz="4400" b="1" dirty="0"/>
              <a:t>Intelligent Systems Version #5       </a:t>
            </a:r>
            <a:r>
              <a:rPr lang="en-US" sz="4800" b="1" dirty="0"/>
              <a:t>Alpha-Beta Search</a:t>
            </a:r>
          </a:p>
          <a:p>
            <a:pPr algn="l"/>
            <a:r>
              <a:rPr lang="en-US" sz="2700" dirty="0"/>
              <a:t>The idea for alpha-beta search is simple: rather than searching the entire space to the ply depth, alpha-beta search proceeds in a depth-first fashion. Two values, called </a:t>
            </a:r>
            <a:r>
              <a:rPr lang="en-US" sz="2700" i="1" dirty="0"/>
              <a:t>alpha </a:t>
            </a:r>
            <a:r>
              <a:rPr lang="en-US" sz="2700" dirty="0"/>
              <a:t>and </a:t>
            </a:r>
            <a:r>
              <a:rPr lang="en-US" sz="2700" i="1" dirty="0"/>
              <a:t>beta</a:t>
            </a:r>
            <a:r>
              <a:rPr lang="en-US" sz="2700" dirty="0"/>
              <a:t>, are created during the search. The alpha value, associated with MAX nodes, can never decrease, and the beta value, associated with MIN nodes, can never increase. Suppose a MAX node's alpha value is 6. Then MAX need not consider any backed-up value less than or equal to 6 that is associated with any MIN node below It. Alpha is the worst that MAX can "score" given that MIN will also do its "best." Similarly, if MIN has beta value 6, it does not need to consider any MAX node below that has a value of 6 or more.</a:t>
            </a:r>
          </a:p>
          <a:p>
            <a:pPr algn="l"/>
            <a:r>
              <a:rPr lang="en-US" sz="2700" dirty="0"/>
              <a:t>	</a:t>
            </a:r>
            <a:endParaRPr lang="en-US" dirty="0">
              <a:solidFill>
                <a:schemeClr val="tx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000124" y="1724024"/>
            <a:ext cx="10258425" cy="3876675"/>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CB474F-B1BC-4F7A-AD21-B4CD84646E26}"/>
              </a:ext>
            </a:extLst>
          </p:cNvPr>
          <p:cNvPicPr>
            <a:picLocks noChangeAspect="1"/>
          </p:cNvPicPr>
          <p:nvPr/>
        </p:nvPicPr>
        <p:blipFill>
          <a:blip r:embed="rId2"/>
          <a:stretch>
            <a:fillRect/>
          </a:stretch>
        </p:blipFill>
        <p:spPr>
          <a:xfrm>
            <a:off x="47194" y="0"/>
            <a:ext cx="12192000" cy="6858000"/>
          </a:xfrm>
          <a:prstGeom prst="rect">
            <a:avLst/>
          </a:prstGeom>
        </p:spPr>
      </p:pic>
    </p:spTree>
    <p:extLst>
      <p:ext uri="{BB962C8B-B14F-4D97-AF65-F5344CB8AC3E}">
        <p14:creationId xmlns:p14="http://schemas.microsoft.com/office/powerpoint/2010/main" val="16283836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3C9959-C876-484D-8845-2E421D28275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742445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4D869-A3B0-4532-872F-21354284DBE4}"/>
              </a:ext>
            </a:extLst>
          </p:cNvPr>
          <p:cNvSpPr>
            <a:spLocks noGrp="1"/>
          </p:cNvSpPr>
          <p:nvPr>
            <p:ph type="title"/>
          </p:nvPr>
        </p:nvSpPr>
        <p:spPr/>
        <p:txBody>
          <a:bodyPr/>
          <a:lstStyle/>
          <a:p>
            <a:r>
              <a:rPr lang="en-US" dirty="0"/>
              <a:t>	</a:t>
            </a:r>
            <a:r>
              <a:rPr lang="en-US" sz="4000" dirty="0"/>
              <a:t>MinMax-A-B Algorithm #1</a:t>
            </a:r>
          </a:p>
        </p:txBody>
      </p:sp>
    </p:spTree>
    <p:extLst>
      <p:ext uri="{BB962C8B-B14F-4D97-AF65-F5344CB8AC3E}">
        <p14:creationId xmlns:p14="http://schemas.microsoft.com/office/powerpoint/2010/main" val="40962685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00F771-2CBB-4DA4-9B31-1E416781499F}"/>
              </a:ext>
            </a:extLst>
          </p:cNvPr>
          <p:cNvSpPr>
            <a:spLocks noGrp="1"/>
          </p:cNvSpPr>
          <p:nvPr>
            <p:ph idx="1"/>
          </p:nvPr>
        </p:nvSpPr>
        <p:spPr>
          <a:xfrm>
            <a:off x="419100" y="200026"/>
            <a:ext cx="11563350" cy="6438900"/>
          </a:xfrm>
        </p:spPr>
        <p:txBody>
          <a:bodyPr>
            <a:normAutofit/>
          </a:bodyPr>
          <a:lstStyle/>
          <a:p>
            <a:pPr marL="0" indent="0">
              <a:buNone/>
            </a:pPr>
            <a:r>
              <a:rPr lang="en-US" dirty="0"/>
              <a:t>MINIMAX-A-B(CURRENT,0, Max, </a:t>
            </a:r>
            <a:r>
              <a:rPr lang="en-US" dirty="0">
                <a:solidFill>
                  <a:srgbClr val="7030A0"/>
                </a:solidFill>
              </a:rPr>
              <a:t>Maximum value Evaluation Function can compute, Minimum value Evaluation Function can compute</a:t>
            </a:r>
            <a:r>
              <a:rPr lang="en-US" dirty="0"/>
              <a:t>)</a:t>
            </a:r>
          </a:p>
          <a:p>
            <a:pPr marL="0" indent="0">
              <a:buNone/>
            </a:pPr>
            <a:r>
              <a:rPr lang="en-US" dirty="0"/>
              <a:t>	These initial values for </a:t>
            </a:r>
            <a:r>
              <a:rPr lang="en-US" i="1" dirty="0"/>
              <a:t>Use-Thresh </a:t>
            </a:r>
            <a:r>
              <a:rPr lang="en-US" dirty="0"/>
              <a:t>and </a:t>
            </a:r>
            <a:r>
              <a:rPr lang="en-US" i="1" dirty="0"/>
              <a:t>Pass-Thresh </a:t>
            </a:r>
            <a:r>
              <a:rPr lang="en-US" dirty="0"/>
              <a:t>represent the worst values that each side could achieve.</a:t>
            </a:r>
          </a:p>
          <a:p>
            <a:pPr marL="0" indent="0">
              <a:buNone/>
            </a:pPr>
            <a:r>
              <a:rPr lang="en-US" b="1" dirty="0"/>
              <a:t>Algorithm: MINIMAX-A-B (Position, Depth, Player, </a:t>
            </a:r>
            <a:r>
              <a:rPr lang="en-US" b="1" dirty="0">
                <a:solidFill>
                  <a:srgbClr val="7030A0"/>
                </a:solidFill>
              </a:rPr>
              <a:t>Use-Thresh, Pass Thresh</a:t>
            </a:r>
            <a:r>
              <a:rPr lang="en-US" b="1" dirty="0"/>
              <a:t>)</a:t>
            </a:r>
          </a:p>
          <a:p>
            <a:pPr marL="514350" indent="-514350">
              <a:buAutoNum type="arabicPeriod"/>
            </a:pPr>
            <a:r>
              <a:rPr lang="en-US" dirty="0"/>
              <a:t>If DEEF-ENOUGH(</a:t>
            </a:r>
            <a:r>
              <a:rPr lang="en-US" i="1" dirty="0"/>
              <a:t>Position</a:t>
            </a:r>
            <a:r>
              <a:rPr lang="en-US" dirty="0"/>
              <a:t>, </a:t>
            </a:r>
            <a:r>
              <a:rPr lang="en-US" i="1" dirty="0"/>
              <a:t>Depth</a:t>
            </a:r>
            <a:r>
              <a:rPr lang="en-US" dirty="0"/>
              <a:t>) then return the structure </a:t>
            </a:r>
          </a:p>
          <a:p>
            <a:pPr marL="0" indent="0">
              <a:buNone/>
            </a:pPr>
            <a:r>
              <a:rPr lang="en-US" dirty="0"/>
              <a:t>VALUE= Evaluation Function (</a:t>
            </a:r>
            <a:r>
              <a:rPr lang="en-US" i="1" dirty="0"/>
              <a:t>Position</a:t>
            </a:r>
            <a:r>
              <a:rPr lang="en-US" dirty="0"/>
              <a:t>, </a:t>
            </a:r>
            <a:r>
              <a:rPr lang="en-US" i="1" dirty="0"/>
              <a:t>Player</a:t>
            </a:r>
            <a:r>
              <a:rPr lang="en-US" dirty="0"/>
              <a:t>);</a:t>
            </a:r>
          </a:p>
          <a:p>
            <a:pPr marL="0" indent="0">
              <a:buNone/>
            </a:pPr>
            <a:r>
              <a:rPr lang="en-US" dirty="0"/>
              <a:t>PATH=nil</a:t>
            </a:r>
          </a:p>
          <a:p>
            <a:pPr marL="0" indent="0">
              <a:buNone/>
            </a:pPr>
            <a:endParaRPr lang="en-US" sz="800" dirty="0"/>
          </a:p>
          <a:p>
            <a:pPr marL="0" indent="0">
              <a:buNone/>
            </a:pPr>
            <a:r>
              <a:rPr lang="en-US" dirty="0"/>
              <a:t>2. Otherwise, generate one more ply of the tree by calling the function</a:t>
            </a:r>
          </a:p>
          <a:p>
            <a:pPr marL="0" indent="0">
              <a:buNone/>
            </a:pPr>
            <a:r>
              <a:rPr lang="en-US" dirty="0"/>
              <a:t>MOVE-GEN (Position, Player) and setting SUCCESSORS to the list it returns.</a:t>
            </a:r>
          </a:p>
          <a:p>
            <a:pPr marL="0" indent="0">
              <a:buNone/>
            </a:pPr>
            <a:r>
              <a:rPr lang="en-US" dirty="0"/>
              <a:t>3. If SUCCESSORS is empty, there are no moves to be made: return the same structure that would have been returned if DEEP-ENOUGH had returned TRUE.</a:t>
            </a:r>
          </a:p>
          <a:p>
            <a:pPr marL="0" indent="0">
              <a:buNone/>
            </a:pPr>
            <a:endParaRPr lang="en-US" b="1"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557679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00F771-2CBB-4DA4-9B31-1E416781499F}"/>
              </a:ext>
            </a:extLst>
          </p:cNvPr>
          <p:cNvSpPr>
            <a:spLocks noGrp="1"/>
          </p:cNvSpPr>
          <p:nvPr>
            <p:ph idx="1"/>
          </p:nvPr>
        </p:nvSpPr>
        <p:spPr>
          <a:xfrm>
            <a:off x="419100" y="200026"/>
            <a:ext cx="11563350" cy="6438900"/>
          </a:xfrm>
        </p:spPr>
        <p:txBody>
          <a:bodyPr>
            <a:normAutofit fontScale="77500" lnSpcReduction="20000"/>
          </a:bodyPr>
          <a:lstStyle/>
          <a:p>
            <a:pPr marL="0" indent="0">
              <a:buNone/>
            </a:pPr>
            <a:r>
              <a:rPr lang="en-US" dirty="0"/>
              <a:t>4.	If SUCCESSORS is not empty, then go through it, examining each element and keeping track of the best one. This is done as follows,</a:t>
            </a:r>
          </a:p>
          <a:p>
            <a:pPr marL="0" indent="0">
              <a:buNone/>
            </a:pPr>
            <a:r>
              <a:rPr lang="en-US" dirty="0"/>
              <a:t>For each element SUCC of SUCCESSORS:</a:t>
            </a:r>
          </a:p>
          <a:p>
            <a:pPr marL="0" indent="0">
              <a:buNone/>
            </a:pPr>
            <a:r>
              <a:rPr lang="en-US" dirty="0"/>
              <a:t>	(a)	Set RESULT-SUCC to</a:t>
            </a:r>
          </a:p>
          <a:p>
            <a:pPr marL="0" indent="0">
              <a:buNone/>
            </a:pPr>
            <a:r>
              <a:rPr lang="en-US" dirty="0"/>
              <a:t>	MINIMAX-A-B (SUCC, Depth+ 1, OPPOSITE (</a:t>
            </a:r>
            <a:r>
              <a:rPr lang="en-US" i="1" dirty="0"/>
              <a:t>Player</a:t>
            </a:r>
            <a:r>
              <a:rPr lang="en-US" dirty="0"/>
              <a:t>), </a:t>
            </a:r>
            <a:r>
              <a:rPr lang="en-US" i="1" dirty="0">
                <a:solidFill>
                  <a:srgbClr val="7030A0"/>
                </a:solidFill>
              </a:rPr>
              <a:t>-Pass-Thresh,-Use -Thresh</a:t>
            </a:r>
            <a:r>
              <a:rPr lang="en-US" dirty="0"/>
              <a:t>).</a:t>
            </a:r>
          </a:p>
          <a:p>
            <a:pPr marL="0" indent="0">
              <a:buNone/>
            </a:pPr>
            <a:r>
              <a:rPr lang="en-US" dirty="0"/>
              <a:t>	(b)	Set NEW-VALUE to -VALUE (RESULT-SUCC).</a:t>
            </a:r>
          </a:p>
          <a:p>
            <a:pPr marL="0" indent="0">
              <a:buNone/>
            </a:pPr>
            <a:r>
              <a:rPr lang="en-US" dirty="0"/>
              <a:t>	(c)	If NEW-VALUE&gt; </a:t>
            </a:r>
            <a:r>
              <a:rPr lang="en-US" i="1" dirty="0"/>
              <a:t>Pass-Thresh</a:t>
            </a:r>
            <a:r>
              <a:rPr lang="en-US" dirty="0"/>
              <a:t>, then we have found a successor that is better than any we have examined so far. Record this by doing the following,</a:t>
            </a:r>
          </a:p>
          <a:p>
            <a:pPr marL="0" indent="0">
              <a:buNone/>
            </a:pPr>
            <a:r>
              <a:rPr lang="en-US" dirty="0"/>
              <a:t>		</a:t>
            </a:r>
            <a:r>
              <a:rPr lang="en-US" dirty="0" err="1"/>
              <a:t>i</a:t>
            </a:r>
            <a:r>
              <a:rPr lang="en-US" dirty="0"/>
              <a:t>.	Set </a:t>
            </a:r>
            <a:r>
              <a:rPr lang="en-US" i="1" dirty="0"/>
              <a:t>Pass-Thresh</a:t>
            </a:r>
            <a:r>
              <a:rPr lang="en-US" dirty="0"/>
              <a:t> to NEW-VALUE.</a:t>
            </a:r>
          </a:p>
          <a:p>
            <a:pPr marL="0" indent="0">
              <a:buNone/>
            </a:pPr>
            <a:r>
              <a:rPr lang="en-US" dirty="0"/>
              <a:t>		ii.	The best-known path is now from CURRENT to SUCC and then 			on to the appropriate path from SUCC as determined by the recursive call to MINIMAX-A-B. So set BEST-PATH to the result of attaching SUCC to the front of PATH (RESULT-SUCC).</a:t>
            </a:r>
          </a:p>
          <a:p>
            <a:pPr marL="0" indent="0">
              <a:buNone/>
            </a:pPr>
            <a:r>
              <a:rPr lang="en-US" dirty="0"/>
              <a:t>	(d)	</a:t>
            </a:r>
            <a:r>
              <a:rPr lang="en-US" dirty="0">
                <a:solidFill>
                  <a:srgbClr val="7030A0"/>
                </a:solidFill>
              </a:rPr>
              <a:t>If </a:t>
            </a:r>
            <a:r>
              <a:rPr lang="en-US" i="1" dirty="0">
                <a:solidFill>
                  <a:srgbClr val="7030A0"/>
                </a:solidFill>
              </a:rPr>
              <a:t>Pass-Thresh</a:t>
            </a:r>
            <a:r>
              <a:rPr lang="en-US" dirty="0">
                <a:solidFill>
                  <a:srgbClr val="7030A0"/>
                </a:solidFill>
              </a:rPr>
              <a:t> (reflecting the current best value) is not better than </a:t>
            </a:r>
            <a:r>
              <a:rPr lang="en-US" i="1" dirty="0">
                <a:solidFill>
                  <a:srgbClr val="7030A0"/>
                </a:solidFill>
              </a:rPr>
              <a:t>Use-Thresh</a:t>
            </a:r>
            <a:r>
              <a:rPr lang="en-US" dirty="0">
                <a:solidFill>
                  <a:srgbClr val="7030A0"/>
                </a:solidFill>
              </a:rPr>
              <a:t>, then we should stop examining this branch. But both thresholds and values have been inverted. So, if </a:t>
            </a:r>
            <a:r>
              <a:rPr lang="en-US" i="1" dirty="0">
                <a:solidFill>
                  <a:srgbClr val="7030A0"/>
                </a:solidFill>
              </a:rPr>
              <a:t>Pass-Thresh</a:t>
            </a:r>
            <a:r>
              <a:rPr lang="en-US" dirty="0">
                <a:solidFill>
                  <a:srgbClr val="7030A0"/>
                </a:solidFill>
              </a:rPr>
              <a:t>&gt;= </a:t>
            </a:r>
            <a:r>
              <a:rPr lang="en-US" i="1" dirty="0">
                <a:solidFill>
                  <a:srgbClr val="7030A0"/>
                </a:solidFill>
              </a:rPr>
              <a:t>Use­ Thresh</a:t>
            </a:r>
            <a:r>
              <a:rPr lang="en-US" dirty="0">
                <a:solidFill>
                  <a:srgbClr val="7030A0"/>
                </a:solidFill>
              </a:rPr>
              <a:t>, then return immediately with the value</a:t>
            </a:r>
          </a:p>
          <a:p>
            <a:pPr marL="0" indent="0">
              <a:buNone/>
            </a:pPr>
            <a:r>
              <a:rPr lang="en-US" dirty="0">
                <a:solidFill>
                  <a:srgbClr val="7030A0"/>
                </a:solidFill>
              </a:rPr>
              <a:t>		VALUE= </a:t>
            </a:r>
            <a:r>
              <a:rPr lang="en-US" i="1" dirty="0">
                <a:solidFill>
                  <a:srgbClr val="7030A0"/>
                </a:solidFill>
              </a:rPr>
              <a:t>Pass-Thresh</a:t>
            </a:r>
            <a:endParaRPr lang="en-US" dirty="0">
              <a:solidFill>
                <a:srgbClr val="7030A0"/>
              </a:solidFill>
            </a:endParaRPr>
          </a:p>
          <a:p>
            <a:pPr marL="0" indent="0">
              <a:buNone/>
            </a:pPr>
            <a:r>
              <a:rPr lang="en-US" dirty="0">
                <a:solidFill>
                  <a:srgbClr val="7030A0"/>
                </a:solidFill>
              </a:rPr>
              <a:t>		PATH= BEST-PATH</a:t>
            </a:r>
          </a:p>
          <a:p>
            <a:pPr marL="0" indent="0">
              <a:buNone/>
            </a:pPr>
            <a:r>
              <a:rPr lang="en-US" dirty="0"/>
              <a:t>5. 	Return the structure </a:t>
            </a:r>
          </a:p>
          <a:p>
            <a:pPr marL="0" indent="0">
              <a:buNone/>
            </a:pPr>
            <a:r>
              <a:rPr lang="en-US" dirty="0"/>
              <a:t>	VALUE= </a:t>
            </a:r>
            <a:r>
              <a:rPr lang="en-US" i="1" dirty="0"/>
              <a:t>Pass-Thresh </a:t>
            </a:r>
          </a:p>
          <a:p>
            <a:pPr marL="0" indent="0">
              <a:buNone/>
            </a:pPr>
            <a:r>
              <a:rPr lang="en-US" dirty="0"/>
              <a:t>	PATH= BEST-PATH</a:t>
            </a:r>
          </a:p>
          <a:p>
            <a:pPr marL="0" indent="0">
              <a:buNone/>
            </a:pPr>
            <a:endParaRPr lang="en-US" dirty="0"/>
          </a:p>
          <a:p>
            <a:pPr marL="0" indent="0">
              <a:buNone/>
            </a:pPr>
            <a:endParaRPr lang="en-US" b="1" dirty="0"/>
          </a:p>
          <a:p>
            <a:pPr marL="0" indent="0">
              <a:buNone/>
            </a:pPr>
            <a:endParaRPr lang="en-US" dirty="0"/>
          </a:p>
          <a:p>
            <a:pPr marL="0" indent="0">
              <a:buNone/>
            </a:pPr>
            <a:endParaRPr lang="en-US" b="1"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6569653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251F4-30EB-4449-BAA0-D6E95EF0FD13}"/>
              </a:ext>
            </a:extLst>
          </p:cNvPr>
          <p:cNvSpPr>
            <a:spLocks noGrp="1"/>
          </p:cNvSpPr>
          <p:nvPr>
            <p:ph type="title"/>
          </p:nvPr>
        </p:nvSpPr>
        <p:spPr/>
        <p:txBody>
          <a:bodyPr/>
          <a:lstStyle/>
          <a:p>
            <a:r>
              <a:rPr lang="en-US" dirty="0"/>
              <a:t>Example and Trace of MinMax- A-B Algorithm</a:t>
            </a:r>
          </a:p>
        </p:txBody>
      </p:sp>
    </p:spTree>
    <p:extLst>
      <p:ext uri="{BB962C8B-B14F-4D97-AF65-F5344CB8AC3E}">
        <p14:creationId xmlns:p14="http://schemas.microsoft.com/office/powerpoint/2010/main" val="16341979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E49E19-55E4-4A36-B7DD-3825D24F2C8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40027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17F0A-7E76-46C0-9B12-D3FE62ECE5CE}"/>
              </a:ext>
            </a:extLst>
          </p:cNvPr>
          <p:cNvSpPr>
            <a:spLocks noGrp="1"/>
          </p:cNvSpPr>
          <p:nvPr>
            <p:ph type="title"/>
          </p:nvPr>
        </p:nvSpPr>
        <p:spPr/>
        <p:txBody>
          <a:bodyPr/>
          <a:lstStyle/>
          <a:p>
            <a:r>
              <a:rPr lang="en-US" dirty="0"/>
              <a:t>Reverting f Values at terminal node, if it is in Min’s term</a:t>
            </a:r>
          </a:p>
        </p:txBody>
      </p:sp>
      <p:sp>
        <p:nvSpPr>
          <p:cNvPr id="3" name="Content Placeholder 2">
            <a:extLst>
              <a:ext uri="{FF2B5EF4-FFF2-40B4-BE49-F238E27FC236}">
                <a16:creationId xmlns:a16="http://schemas.microsoft.com/office/drawing/2014/main" id="{5BD85E47-DCA8-47C0-8711-A2BBECE01B83}"/>
              </a:ext>
            </a:extLst>
          </p:cNvPr>
          <p:cNvSpPr>
            <a:spLocks noGrp="1"/>
          </p:cNvSpPr>
          <p:nvPr>
            <p:ph idx="1"/>
          </p:nvPr>
        </p:nvSpPr>
        <p:spPr/>
        <p:txBody>
          <a:bodyPr/>
          <a:lstStyle/>
          <a:p>
            <a:r>
              <a:rPr lang="en-US" dirty="0"/>
              <a:t>If the terminal node is in the turn of the Min, You must reverse th  F-value at the node before using the algorithm.</a:t>
            </a:r>
          </a:p>
        </p:txBody>
      </p:sp>
    </p:spTree>
    <p:extLst>
      <p:ext uri="{BB962C8B-B14F-4D97-AF65-F5344CB8AC3E}">
        <p14:creationId xmlns:p14="http://schemas.microsoft.com/office/powerpoint/2010/main" val="29038280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3C9959-C876-484D-8845-2E421D28275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652962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04886-FB84-4298-B124-572422761C5F}"/>
              </a:ext>
            </a:extLst>
          </p:cNvPr>
          <p:cNvSpPr>
            <a:spLocks noGrp="1"/>
          </p:cNvSpPr>
          <p:nvPr>
            <p:ph type="title"/>
          </p:nvPr>
        </p:nvSpPr>
        <p:spPr>
          <a:xfrm>
            <a:off x="838200" y="365125"/>
            <a:ext cx="10515600" cy="752475"/>
          </a:xfrm>
        </p:spPr>
        <p:txBody>
          <a:bodyPr/>
          <a:lstStyle/>
          <a:p>
            <a:r>
              <a:rPr lang="en-US" dirty="0"/>
              <a:t>Terms used in the TREE</a:t>
            </a:r>
          </a:p>
        </p:txBody>
      </p:sp>
      <p:sp>
        <p:nvSpPr>
          <p:cNvPr id="3" name="Content Placeholder 2">
            <a:extLst>
              <a:ext uri="{FF2B5EF4-FFF2-40B4-BE49-F238E27FC236}">
                <a16:creationId xmlns:a16="http://schemas.microsoft.com/office/drawing/2014/main" id="{D63BA616-B058-4334-9170-5326BA4AC676}"/>
              </a:ext>
            </a:extLst>
          </p:cNvPr>
          <p:cNvSpPr>
            <a:spLocks noGrp="1"/>
          </p:cNvSpPr>
          <p:nvPr>
            <p:ph idx="1"/>
          </p:nvPr>
        </p:nvSpPr>
        <p:spPr/>
        <p:txBody>
          <a:bodyPr/>
          <a:lstStyle/>
          <a:p>
            <a:r>
              <a:rPr lang="en-US" dirty="0"/>
              <a:t>CPT -&gt; Change Pass Threshold</a:t>
            </a:r>
          </a:p>
          <a:p>
            <a:r>
              <a:rPr lang="en-US" dirty="0"/>
              <a:t>NCPT -&gt; No Change in Pass Threshold</a:t>
            </a:r>
          </a:p>
          <a:p>
            <a:r>
              <a:rPr lang="en-US" dirty="0"/>
              <a:t>NPr -&gt; No Pruning</a:t>
            </a:r>
          </a:p>
          <a:p>
            <a:r>
              <a:rPr lang="en-US" dirty="0"/>
              <a:t>Pr/P -&gt; Prune</a:t>
            </a:r>
          </a:p>
        </p:txBody>
      </p:sp>
    </p:spTree>
    <p:extLst>
      <p:ext uri="{BB962C8B-B14F-4D97-AF65-F5344CB8AC3E}">
        <p14:creationId xmlns:p14="http://schemas.microsoft.com/office/powerpoint/2010/main" val="34838064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tree&#10;&#10;AI-generated content may be incorrect.">
            <a:extLst>
              <a:ext uri="{FF2B5EF4-FFF2-40B4-BE49-F238E27FC236}">
                <a16:creationId xmlns:a16="http://schemas.microsoft.com/office/drawing/2014/main" id="{8C29D31B-171A-C494-F91D-8105869F4F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 y="-304800"/>
            <a:ext cx="12496799" cy="8710256"/>
          </a:xfrm>
          <a:prstGeom prst="rect">
            <a:avLst/>
          </a:prstGeom>
        </p:spPr>
      </p:pic>
    </p:spTree>
    <p:extLst>
      <p:ext uri="{BB962C8B-B14F-4D97-AF65-F5344CB8AC3E}">
        <p14:creationId xmlns:p14="http://schemas.microsoft.com/office/powerpoint/2010/main" val="40525793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74A3D-DAD2-531F-15AA-751592583DB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65CB9E35-479D-5EA6-CF4A-97371F9C213F}"/>
              </a:ext>
            </a:extLst>
          </p:cNvPr>
          <p:cNvSpPr>
            <a:spLocks noGrp="1"/>
          </p:cNvSpPr>
          <p:nvPr>
            <p:ph idx="1"/>
          </p:nvPr>
        </p:nvSpPr>
        <p:spPr/>
        <p:txBody>
          <a:bodyPr/>
          <a:lstStyle/>
          <a:p>
            <a:pPr marL="0" indent="0">
              <a:buNone/>
            </a:pPr>
            <a:r>
              <a:rPr lang="en-US" dirty="0"/>
              <a:t>Best Path = ACH</a:t>
            </a:r>
          </a:p>
          <a:p>
            <a:pPr marL="0" indent="0">
              <a:buNone/>
            </a:pPr>
            <a:r>
              <a:rPr lang="en-US" dirty="0"/>
              <a:t>Best Score at the root is: 4</a:t>
            </a:r>
          </a:p>
          <a:p>
            <a:endParaRPr lang="en-US" dirty="0"/>
          </a:p>
        </p:txBody>
      </p:sp>
    </p:spTree>
    <p:extLst>
      <p:ext uri="{BB962C8B-B14F-4D97-AF65-F5344CB8AC3E}">
        <p14:creationId xmlns:p14="http://schemas.microsoft.com/office/powerpoint/2010/main" val="3161165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89630</TotalTime>
  <Words>5922</Words>
  <Application>Microsoft Office PowerPoint</Application>
  <PresentationFormat>Widescreen</PresentationFormat>
  <Paragraphs>624</Paragraphs>
  <Slides>68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68</vt:i4>
      </vt:variant>
    </vt:vector>
  </HeadingPairs>
  <TitlesOfParts>
    <vt:vector size="78" baseType="lpstr">
      <vt:lpstr>Aptos</vt:lpstr>
      <vt:lpstr>Arial</vt:lpstr>
      <vt:lpstr>Calibri</vt:lpstr>
      <vt:lpstr>Calibri Light</vt:lpstr>
      <vt:lpstr>Courier New</vt:lpstr>
      <vt:lpstr>Times New Roman</vt:lpstr>
      <vt:lpstr>Times-Bold</vt:lpstr>
      <vt:lpstr>Times-Roman</vt:lpstr>
      <vt:lpstr>Wingdings</vt:lpstr>
      <vt:lpstr>Office Theme</vt:lpstr>
      <vt:lpstr>Two Player Game Playing through Adversarial Search</vt:lpstr>
      <vt:lpstr>    GAME TREE </vt:lpstr>
      <vt:lpstr>PowerPoint Presentation</vt:lpstr>
      <vt:lpstr>   Size of Game Tree</vt:lpstr>
      <vt:lpstr>PowerPoint Presentation</vt:lpstr>
      <vt:lpstr>Optimal Decisions in Games Very Early (First Version) Intelligent Systems</vt:lpstr>
      <vt:lpstr>PowerPoint Presentation</vt:lpstr>
      <vt:lpstr>Finding Solution by MinMax Algorithm</vt:lpstr>
      <vt:lpstr>PowerPoint Presentation</vt:lpstr>
      <vt:lpstr>PowerPoint Presentation</vt:lpstr>
      <vt:lpstr>Game Strategies in Intelligent Techniques. Second Version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Imperfect Real-Time Decisions in Games Using Intelligent Methods Version #4</vt:lpstr>
      <vt:lpstr>Cutting off search at the depth of ‘d’</vt:lpstr>
      <vt:lpstr>IMPERFECT REAL-TIME DECISIONS Game-Continued</vt:lpstr>
      <vt:lpstr>Characteristics of the Evaluation Function</vt:lpstr>
      <vt:lpstr>PowerPoint Presentation</vt:lpstr>
      <vt:lpstr>Evaluation Function</vt:lpstr>
      <vt:lpstr>  First a Hypothetical Examples</vt:lpstr>
      <vt:lpstr>PowerPoint Presentation</vt:lpstr>
      <vt:lpstr>PowerPoint Presentation</vt:lpstr>
      <vt:lpstr>PowerPoint Presentation</vt:lpstr>
      <vt:lpstr>  Real Example of Tic-Tac-Toe</vt:lpstr>
      <vt:lpstr>PowerPoint Presentation</vt:lpstr>
      <vt:lpstr>PowerPoint Presentation</vt:lpstr>
      <vt:lpstr>PowerPoint Presentation</vt:lpstr>
      <vt:lpstr>PowerPoint Presentation</vt:lpstr>
      <vt:lpstr>PowerPoint Presentation</vt:lpstr>
      <vt:lpstr>MinMax Algorithm #1</vt:lpstr>
      <vt:lpstr>PowerPoint Presentation</vt:lpstr>
      <vt:lpstr>PowerPoint Presentation</vt:lpstr>
      <vt:lpstr>PowerPoint Presentation</vt:lpstr>
      <vt:lpstr>Reverting f Values at terminal node, if it is in Min’s term</vt:lpstr>
      <vt:lpstr>Example and Trace of MinMax Algorithm</vt:lpstr>
      <vt:lpstr>PowerPoint Presentation</vt:lpstr>
      <vt:lpstr>PowerPoint Presentation</vt:lpstr>
      <vt:lpstr>Results</vt:lpstr>
      <vt:lpstr>PowerPoint Presentation</vt:lpstr>
      <vt:lpstr>PowerPoint Presentation</vt:lpstr>
      <vt:lpstr>PowerPoint Presentation</vt:lpstr>
      <vt:lpstr>PowerPoint Presentation</vt:lpstr>
      <vt:lpstr> MinMax-A-B Algorithm #1</vt:lpstr>
      <vt:lpstr>PowerPoint Presentation</vt:lpstr>
      <vt:lpstr>PowerPoint Presentation</vt:lpstr>
      <vt:lpstr>Example and Trace of MinMax- A-B Algorithm</vt:lpstr>
      <vt:lpstr>PowerPoint Presentation</vt:lpstr>
      <vt:lpstr>Reverting f Values at terminal node, if it is in Min’s term</vt:lpstr>
      <vt:lpstr>PowerPoint Presentation</vt:lpstr>
      <vt:lpstr>Terms used in the TREE</vt:lpstr>
      <vt:lpstr>PowerPoint Presentation</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Heuristics in Games</dc:title>
  <dc:creator>Frazier, Devon A</dc:creator>
  <cp:lastModifiedBy>Ali, Moonis</cp:lastModifiedBy>
  <cp:revision>86</cp:revision>
  <cp:lastPrinted>2025-10-21T23:47:27Z</cp:lastPrinted>
  <dcterms:created xsi:type="dcterms:W3CDTF">2020-06-26T17:24:09Z</dcterms:created>
  <dcterms:modified xsi:type="dcterms:W3CDTF">2026-03-23T05:34:13Z</dcterms:modified>
</cp:coreProperties>
</file>